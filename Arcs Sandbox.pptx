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4"/>
    <p:sldMasterId id="2147483714" r:id="rId5"/>
  </p:sldMasterIdLst>
  <p:notesMasterIdLst>
    <p:notesMasterId r:id="rId35"/>
  </p:notesMasterIdLst>
  <p:handoutMasterIdLst>
    <p:handoutMasterId r:id="rId36"/>
  </p:handoutMasterIdLst>
  <p:sldIdLst>
    <p:sldId id="1067" r:id="rId6"/>
    <p:sldId id="1122" r:id="rId7"/>
    <p:sldId id="1123" r:id="rId8"/>
    <p:sldId id="1124" r:id="rId9"/>
    <p:sldId id="1125" r:id="rId10"/>
    <p:sldId id="1126" r:id="rId11"/>
    <p:sldId id="1127" r:id="rId12"/>
    <p:sldId id="1128" r:id="rId13"/>
    <p:sldId id="1129" r:id="rId14"/>
    <p:sldId id="1130" r:id="rId15"/>
    <p:sldId id="1131" r:id="rId16"/>
    <p:sldId id="1132" r:id="rId17"/>
    <p:sldId id="1133" r:id="rId18"/>
    <p:sldId id="1134" r:id="rId19"/>
    <p:sldId id="1135" r:id="rId20"/>
    <p:sldId id="1136" r:id="rId21"/>
    <p:sldId id="1137" r:id="rId22"/>
    <p:sldId id="1138" r:id="rId23"/>
    <p:sldId id="1139" r:id="rId24"/>
    <p:sldId id="1140" r:id="rId25"/>
    <p:sldId id="1141" r:id="rId26"/>
    <p:sldId id="1142" r:id="rId27"/>
    <p:sldId id="1143" r:id="rId28"/>
    <p:sldId id="1144" r:id="rId29"/>
    <p:sldId id="1145" r:id="rId30"/>
    <p:sldId id="1146" r:id="rId31"/>
    <p:sldId id="1147" r:id="rId32"/>
    <p:sldId id="1148" r:id="rId33"/>
    <p:sldId id="1149" r:id="rId34"/>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E09B20"/>
    <a:srgbClr val="616719"/>
    <a:srgbClr val="FF3300"/>
    <a:srgbClr val="FF99CC"/>
    <a:srgbClr val="FF505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609" autoAdjust="0"/>
  </p:normalViewPr>
  <p:slideViewPr>
    <p:cSldViewPr snapToGrid="0">
      <p:cViewPr varScale="1">
        <p:scale>
          <a:sx n="110" d="100"/>
          <a:sy n="110" d="100"/>
        </p:scale>
        <p:origin x="630" y="114"/>
      </p:cViewPr>
      <p:guideLst>
        <p:guide orient="horz" pos="2160"/>
        <p:guide pos="3840"/>
      </p:guideLst>
    </p:cSldViewPr>
  </p:slideViewPr>
  <p:notesTextViewPr>
    <p:cViewPr>
      <p:scale>
        <a:sx n="3" d="2"/>
        <a:sy n="3" d="2"/>
      </p:scale>
      <p:origin x="0" y="0"/>
    </p:cViewPr>
  </p:notesTextViewPr>
  <p:notesViewPr>
    <p:cSldViewPr snapToGrid="0">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09E5A-8E43-4331-8FD0-F35C1A070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a:extLst>
              <a:ext uri="{FF2B5EF4-FFF2-40B4-BE49-F238E27FC236}">
                <a16:creationId xmlns:a16="http://schemas.microsoft.com/office/drawing/2014/main" id="{9D19FE11-D377-4DAC-BA51-9D76412A3B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3D08F1-8600-4B11-BCA2-C54BF7266D5E}" type="datetimeFigureOut">
              <a:rPr lang="en-HK" smtClean="0"/>
              <a:t>13/10/2026</a:t>
            </a:fld>
            <a:endParaRPr lang="en-HK"/>
          </a:p>
        </p:txBody>
      </p:sp>
      <p:sp>
        <p:nvSpPr>
          <p:cNvPr id="4" name="Footer Placeholder 3">
            <a:extLst>
              <a:ext uri="{FF2B5EF4-FFF2-40B4-BE49-F238E27FC236}">
                <a16:creationId xmlns:a16="http://schemas.microsoft.com/office/drawing/2014/main" id="{55AEE19D-DFDE-4148-AEA9-6D870E2458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5" name="Slide Number Placeholder 4">
            <a:extLst>
              <a:ext uri="{FF2B5EF4-FFF2-40B4-BE49-F238E27FC236}">
                <a16:creationId xmlns:a16="http://schemas.microsoft.com/office/drawing/2014/main" id="{CE5F2E68-DB22-4984-97A8-778A00907D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E216CB-75BB-4216-8DCB-D478E9EF309E}" type="slidenum">
              <a:rPr lang="en-HK" smtClean="0"/>
              <a:t>‹#›</a:t>
            </a:fld>
            <a:endParaRPr lang="en-HK"/>
          </a:p>
        </p:txBody>
      </p:sp>
    </p:spTree>
    <p:extLst>
      <p:ext uri="{BB962C8B-B14F-4D97-AF65-F5344CB8AC3E}">
        <p14:creationId xmlns:p14="http://schemas.microsoft.com/office/powerpoint/2010/main" val="18652847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D3AABC-090A-4688-A8C9-6A53631DC8C2}" type="datetimeFigureOut">
              <a:rPr lang="en-HK" smtClean="0"/>
              <a:t>13/10/2026</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A2312-5056-44FA-A9D1-2D85D8EEE9A3}" type="slidenum">
              <a:rPr lang="en-HK" smtClean="0"/>
              <a:t>‹#›</a:t>
            </a:fld>
            <a:endParaRPr lang="en-HK"/>
          </a:p>
        </p:txBody>
      </p:sp>
    </p:spTree>
    <p:extLst>
      <p:ext uri="{BB962C8B-B14F-4D97-AF65-F5344CB8AC3E}">
        <p14:creationId xmlns:p14="http://schemas.microsoft.com/office/powerpoint/2010/main" val="35724188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AB8A2312-5056-44FA-A9D1-2D85D8EEE9A3}" type="slidenum">
              <a:rPr lang="en-HK" smtClean="0"/>
              <a:t>1</a:t>
            </a:fld>
            <a:endParaRPr lang="en-HK"/>
          </a:p>
        </p:txBody>
      </p:sp>
    </p:spTree>
    <p:extLst>
      <p:ext uri="{BB962C8B-B14F-4D97-AF65-F5344CB8AC3E}">
        <p14:creationId xmlns:p14="http://schemas.microsoft.com/office/powerpoint/2010/main" val="99388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7E285D81-AD03-4953-8073-3583D3B1A517}" type="datetime1">
              <a:rPr lang="zh-HK" altLang="en-US" smtClean="0"/>
              <a:t>13/10/2026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82166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DABEE000-1FB3-40BC-B90B-F46876527E49}" type="datetime1">
              <a:rPr lang="zh-HK" altLang="en-US" smtClean="0"/>
              <a:t>13/10/2026</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5472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603CAA7B-7BFF-46FD-A113-C54174775165}" type="datetime1">
              <a:rPr lang="zh-HK" altLang="en-US" smtClean="0"/>
              <a:t>13/10/2026</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21120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CC8611D1-529C-406D-B333-630E83E6F29A}" type="datetime1">
              <a:rPr lang="zh-HK" altLang="en-US" smtClean="0"/>
              <a:t>13/10/2026</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0074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0ACE1BA3-1341-4435-9CC9-92569CF6E6CF}" type="datetime1">
              <a:rPr lang="zh-HK" altLang="en-US" smtClean="0"/>
              <a:t>13/10/2026</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9994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77893DF-3AE9-4A45-8D9C-4FFC74FDDD38}" type="datetime1">
              <a:rPr lang="zh-HK" altLang="en-US" smtClean="0"/>
              <a:t>13/10/2026</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33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E63F2066-E241-44DC-9D50-165D9F77CC24}" type="datetime1">
              <a:rPr lang="zh-HK" altLang="en-US" smtClean="0"/>
              <a:t>13/10/2026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87832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1A86D4A8-1BC1-44C7-95A3-956A9BADDCF9}" type="datetime1">
              <a:rPr lang="zh-HK" altLang="en-US" smtClean="0"/>
              <a:t>13/10/2026</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2344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B0AECCFC-4F59-4A54-8D3F-19DA3C9090F8}" type="datetime1">
              <a:rPr lang="zh-HK" altLang="en-US" smtClean="0"/>
              <a:t>13/10/2026</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14362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C182D810-00A5-4D67-B42B-9FF4439024C9}" type="datetime1">
              <a:rPr lang="zh-HK" altLang="en-US" smtClean="0"/>
              <a:t>13/10/2026</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6913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A50C6-C02F-48CF-BBCE-7A78075E95E4}" type="datetime1">
              <a:rPr lang="zh-HK" altLang="en-US" smtClean="0"/>
              <a:t>13/10/2026</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35595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C0E53BDA-D1DE-4850-A0AF-363FE3B468B7}" type="datetime1">
              <a:rPr lang="zh-HK" altLang="en-US" smtClean="0"/>
              <a:t>13/10/2026</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70063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ltLang="zh-HK"/>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HK"/>
              <a:t>Click to edit Master subtitle style</a:t>
            </a:r>
            <a:endParaRPr lang="en-US" dirty="0"/>
          </a:p>
        </p:txBody>
      </p:sp>
      <p:sp>
        <p:nvSpPr>
          <p:cNvPr id="10" name="Date Placeholder 9">
            <a:extLst>
              <a:ext uri="{FF2B5EF4-FFF2-40B4-BE49-F238E27FC236}">
                <a16:creationId xmlns:a16="http://schemas.microsoft.com/office/drawing/2014/main" id="{43513088-236B-4FF1-82AE-B28E53F86D9C}"/>
              </a:ext>
            </a:extLst>
          </p:cNvPr>
          <p:cNvSpPr>
            <a:spLocks noGrp="1"/>
          </p:cNvSpPr>
          <p:nvPr>
            <p:ph type="dt" sz="half" idx="10"/>
          </p:nvPr>
        </p:nvSpPr>
        <p:spPr/>
        <p:txBody>
          <a:bodyPr/>
          <a:lstStyle/>
          <a:p>
            <a:fld id="{1F37424F-82A8-4FD3-A8AC-09449A380628}" type="datetime1">
              <a:rPr lang="zh-HK" altLang="en-US" smtClean="0"/>
              <a:t>13/10/2026</a:t>
            </a:fld>
            <a:endParaRPr lang="zh-HK" altLang="en-US"/>
          </a:p>
        </p:txBody>
      </p:sp>
      <p:sp>
        <p:nvSpPr>
          <p:cNvPr id="11" name="Footer Placeholder 10">
            <a:extLst>
              <a:ext uri="{FF2B5EF4-FFF2-40B4-BE49-F238E27FC236}">
                <a16:creationId xmlns:a16="http://schemas.microsoft.com/office/drawing/2014/main" id="{1BCB52D3-4881-4FDC-8A1B-913A08BA9A2D}"/>
              </a:ext>
            </a:extLst>
          </p:cNvPr>
          <p:cNvSpPr>
            <a:spLocks noGrp="1"/>
          </p:cNvSpPr>
          <p:nvPr>
            <p:ph type="ftr" sz="quarter" idx="11"/>
          </p:nvPr>
        </p:nvSpPr>
        <p:spPr/>
        <p:txBody>
          <a:bodyPr/>
          <a:lstStyle/>
          <a:p>
            <a:endParaRPr lang="zh-HK" altLang="en-US"/>
          </a:p>
        </p:txBody>
      </p:sp>
      <p:sp>
        <p:nvSpPr>
          <p:cNvPr id="12" name="Slide Number Placeholder 11">
            <a:extLst>
              <a:ext uri="{FF2B5EF4-FFF2-40B4-BE49-F238E27FC236}">
                <a16:creationId xmlns:a16="http://schemas.microsoft.com/office/drawing/2014/main" id="{586CF1C1-1438-4955-9CEA-F0F8F3D1B65B}"/>
              </a:ext>
            </a:extLst>
          </p:cNvPr>
          <p:cNvSpPr>
            <a:spLocks noGrp="1"/>
          </p:cNvSpPr>
          <p:nvPr>
            <p:ph type="sldNum" sz="quarter" idx="12"/>
          </p:nvPr>
        </p:nvSpPr>
        <p:spPr/>
        <p:txBody>
          <a:bodyPr/>
          <a:lstStyle>
            <a:lvl1pPr>
              <a:defRPr sz="1200"/>
            </a:lvl1pPr>
          </a:lstStyle>
          <a:p>
            <a:fld id="{CF9A1619-F87A-4FCD-8947-EF4132FEEC38}" type="slidenum">
              <a:rPr lang="zh-HK" altLang="en-US" smtClean="0"/>
              <a:pPr/>
              <a:t>‹#›</a:t>
            </a:fld>
            <a:endParaRPr lang="zh-HK" altLang="en-US" dirty="0"/>
          </a:p>
        </p:txBody>
      </p:sp>
    </p:spTree>
    <p:extLst>
      <p:ext uri="{BB962C8B-B14F-4D97-AF65-F5344CB8AC3E}">
        <p14:creationId xmlns:p14="http://schemas.microsoft.com/office/powerpoint/2010/main" val="2078125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Content Placeholder 2"/>
          <p:cNvSpPr>
            <a:spLocks noGrp="1"/>
          </p:cNvSpPr>
          <p:nvPr>
            <p:ph idx="1"/>
          </p:nvPr>
        </p:nvSpPr>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09D65AFC-29E2-4E6E-9070-78396BB07808}"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1855202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76A732B6-5B4D-43D3-A224-699785E5D4BF}"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013631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Date Placeholder 4"/>
          <p:cNvSpPr>
            <a:spLocks noGrp="1"/>
          </p:cNvSpPr>
          <p:nvPr>
            <p:ph type="dt" sz="half" idx="10"/>
          </p:nvPr>
        </p:nvSpPr>
        <p:spPr/>
        <p:txBody>
          <a:bodyPr/>
          <a:lstStyle/>
          <a:p>
            <a:fld id="{F97F3EE6-37C5-445A-922C-29503859A90B}" type="datetime1">
              <a:rPr lang="zh-HK" altLang="en-US" smtClean="0"/>
              <a:t>13/10/2026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788269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HK"/>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7" name="Date Placeholder 6"/>
          <p:cNvSpPr>
            <a:spLocks noGrp="1"/>
          </p:cNvSpPr>
          <p:nvPr>
            <p:ph type="dt" sz="half" idx="10"/>
          </p:nvPr>
        </p:nvSpPr>
        <p:spPr/>
        <p:txBody>
          <a:bodyPr/>
          <a:lstStyle/>
          <a:p>
            <a:fld id="{63551BC6-4013-463A-9C32-82F517851A74}" type="datetime1">
              <a:rPr lang="zh-HK" altLang="en-US" smtClean="0"/>
              <a:t>13/10/2026</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19390117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ltLang="zh-HK"/>
              <a:t>Click to edit Master title style</a:t>
            </a:r>
            <a:endParaRPr lang="en-US" dirty="0"/>
          </a:p>
        </p:txBody>
      </p:sp>
      <p:sp>
        <p:nvSpPr>
          <p:cNvPr id="3" name="Date Placeholder 2"/>
          <p:cNvSpPr>
            <a:spLocks noGrp="1"/>
          </p:cNvSpPr>
          <p:nvPr>
            <p:ph type="dt" sz="half" idx="10"/>
          </p:nvPr>
        </p:nvSpPr>
        <p:spPr/>
        <p:txBody>
          <a:bodyPr/>
          <a:lstStyle/>
          <a:p>
            <a:fld id="{1442F049-D082-49D9-8BE0-B21927AE2348}" type="datetime1">
              <a:rPr lang="zh-HK" altLang="en-US" smtClean="0"/>
              <a:t>13/10/2026</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846367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F71658-B6B7-4C4F-927F-140363177B6C}" type="datetime1">
              <a:rPr lang="zh-HK" altLang="en-US" smtClean="0"/>
              <a:t>13/10/2026</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662756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ltLang="zh-HK"/>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ltLang="zh-HK"/>
              <a:t>Edit Master text styles</a:t>
            </a:r>
          </a:p>
        </p:txBody>
      </p:sp>
      <p:sp>
        <p:nvSpPr>
          <p:cNvPr id="5" name="Date Placeholder 4"/>
          <p:cNvSpPr>
            <a:spLocks noGrp="1"/>
          </p:cNvSpPr>
          <p:nvPr>
            <p:ph type="dt" sz="half" idx="10"/>
          </p:nvPr>
        </p:nvSpPr>
        <p:spPr/>
        <p:txBody>
          <a:bodyPr/>
          <a:lstStyle/>
          <a:p>
            <a:fld id="{22BC550F-872F-4C77-B3CF-397E714FB0CE}" type="datetime1">
              <a:rPr lang="zh-HK" altLang="en-US" smtClean="0"/>
              <a:t>13/10/2026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8272650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ltLang="zh-HK"/>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HK"/>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HK"/>
              <a:t>Edit Master text styles</a:t>
            </a:r>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5" name="Date Placeholder 4"/>
          <p:cNvSpPr>
            <a:spLocks noGrp="1"/>
          </p:cNvSpPr>
          <p:nvPr>
            <p:ph type="dt" sz="half" idx="10"/>
          </p:nvPr>
        </p:nvSpPr>
        <p:spPr/>
        <p:txBody>
          <a:bodyPr/>
          <a:lstStyle/>
          <a:p>
            <a:fld id="{0EB0C4A0-5C3E-408F-85EA-2852334DD6D1}" type="datetime1">
              <a:rPr lang="zh-HK" altLang="en-US" smtClean="0"/>
              <a:t>13/10/2026</a:t>
            </a:fld>
            <a:endParaRPr lang="zh-HK" altLang="en-US"/>
          </a:p>
        </p:txBody>
      </p:sp>
    </p:spTree>
    <p:extLst>
      <p:ext uri="{BB962C8B-B14F-4D97-AF65-F5344CB8AC3E}">
        <p14:creationId xmlns:p14="http://schemas.microsoft.com/office/powerpoint/2010/main" val="265628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04DF8573-CF93-44D5-95BA-CBF75500A9AD}"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87105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B45B9AB2-A066-460D-AFA6-4C5E5CF7F26F}"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14711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ltLang="zh-HK"/>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B98AF0D8-8662-4DE9-B624-02C23BFA87A4}"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23565031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1CC503C6-8E75-4222-A876-F84552542912}"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975044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ltLang="zh-HK"/>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HK"/>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HK"/>
              <a:t>Edit Master text styles</a:t>
            </a:r>
          </a:p>
        </p:txBody>
      </p:sp>
      <p:sp>
        <p:nvSpPr>
          <p:cNvPr id="4" name="Date Placeholder 3"/>
          <p:cNvSpPr>
            <a:spLocks noGrp="1"/>
          </p:cNvSpPr>
          <p:nvPr>
            <p:ph type="dt" sz="half" idx="10"/>
          </p:nvPr>
        </p:nvSpPr>
        <p:spPr/>
        <p:txBody>
          <a:bodyPr/>
          <a:lstStyle/>
          <a:p>
            <a:fld id="{7C462C1D-1ED0-45C6-B095-BB5091C60EC8}"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076011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552842EA-3C04-490C-8EEC-C65B716AA677}"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30356240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ltLang="zh-HK"/>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10"/>
          </p:nvPr>
        </p:nvSpPr>
        <p:spPr/>
        <p:txBody>
          <a:bodyPr/>
          <a:lstStyle/>
          <a:p>
            <a:fld id="{451E5EBD-63ED-4B25-BCB9-B4240C7F533F}" type="datetime1">
              <a:rPr lang="zh-HK" altLang="en-US" smtClean="0"/>
              <a:t>13/10/2026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48705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B54262-2539-4299-A2AB-DB6130FF5417}" type="datetime1">
              <a:rPr lang="zh-HK" altLang="en-US" smtClean="0"/>
              <a:t>13/10/2026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70889479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06" r:id="rId6"/>
    <p:sldLayoutId id="2147483701" r:id="rId7"/>
    <p:sldLayoutId id="2147483702" r:id="rId8"/>
    <p:sldLayoutId id="2147483703" r:id="rId9"/>
    <p:sldLayoutId id="2147483704" r:id="rId10"/>
    <p:sldLayoutId id="2147483705" r:id="rId11"/>
    <p:sldLayoutId id="2147483707" r:id="rId12"/>
  </p:sldLayoutIdLst>
  <p:hf hdr="0" ftr="0" dt="0"/>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ltLang="zh-HK"/>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ltLang="zh-HK"/>
              <a:t>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37424F-82A8-4FD3-A8AC-09449A380628}" type="datetime1">
              <a:rPr lang="zh-HK" altLang="en-US" smtClean="0"/>
              <a:t>13/10/2026</a:t>
            </a:fld>
            <a:endParaRPr lang="zh-HK"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F9A1619-F87A-4FCD-8947-EF4132FEEC38}" type="slidenum">
              <a:rPr lang="zh-HK" altLang="en-US" smtClean="0"/>
              <a:t>‹#›</a:t>
            </a:fld>
            <a:endParaRPr lang="zh-HK" altLang="en-US"/>
          </a:p>
        </p:txBody>
      </p:sp>
    </p:spTree>
    <p:extLst>
      <p:ext uri="{BB962C8B-B14F-4D97-AF65-F5344CB8AC3E}">
        <p14:creationId xmlns:p14="http://schemas.microsoft.com/office/powerpoint/2010/main" val="249270093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slideLayout" Target="../slideLayouts/slideLayout14.xml"/><Relationship Id="rId7" Type="http://schemas.openxmlformats.org/officeDocument/2006/relationships/image" Target="../media/image50.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1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CC6CF5-477F-48E6-98D0-0228CBCD6C0E}"/>
              </a:ext>
            </a:extLst>
          </p:cNvPr>
          <p:cNvSpPr>
            <a:spLocks noGrp="1"/>
          </p:cNvSpPr>
          <p:nvPr>
            <p:ph type="subTitle" idx="1"/>
          </p:nvPr>
        </p:nvSpPr>
        <p:spPr>
          <a:xfrm>
            <a:off x="784919" y="5916349"/>
            <a:ext cx="10925101" cy="842250"/>
          </a:xfrm>
        </p:spPr>
        <p:txBody>
          <a:bodyPr vert="horz" lIns="91440" tIns="45720" rIns="91440" bIns="45720" rtlCol="0" anchor="t">
            <a:normAutofit/>
          </a:bodyPr>
          <a:lstStyle/>
          <a:p>
            <a:r>
              <a:rPr lang="en-US" altLang="zh-HK" sz="1400" dirty="0">
                <a:solidFill>
                  <a:schemeClr val="tx1">
                    <a:lumMod val="85000"/>
                    <a:lumOff val="15000"/>
                  </a:schemeClr>
                </a:solidFill>
                <a:latin typeface="Arial"/>
                <a:ea typeface="新細明體"/>
                <a:cs typeface="Arial"/>
              </a:rPr>
              <a:t>Private and Confidential 27 April 2022</a:t>
            </a:r>
          </a:p>
        </p:txBody>
      </p:sp>
      <p:pic>
        <p:nvPicPr>
          <p:cNvPr id="5" name="Picture 4"/>
          <p:cNvPicPr>
            <a:picLocks noChangeAspect="1"/>
          </p:cNvPicPr>
          <p:nvPr/>
        </p:nvPicPr>
        <p:blipFill>
          <a:blip r:embed="rId3" cstate="print">
            <a:biLevel thresh="75000"/>
            <a:extLst>
              <a:ext uri="{28A0092B-C50C-407E-A947-70E740481C1C}">
                <a14:useLocalDpi xmlns:a14="http://schemas.microsoft.com/office/drawing/2010/main" val="0"/>
              </a:ext>
            </a:extLst>
          </a:blip>
          <a:stretch>
            <a:fillRect/>
          </a:stretch>
        </p:blipFill>
        <p:spPr>
          <a:xfrm>
            <a:off x="2521712" y="1381662"/>
            <a:ext cx="6514877" cy="2514946"/>
          </a:xfrm>
          <a:prstGeom prst="rect">
            <a:avLst/>
          </a:prstGeom>
        </p:spPr>
      </p:pic>
      <p:sp>
        <p:nvSpPr>
          <p:cNvPr id="6" name="文字方塊 5">
            <a:extLst>
              <a:ext uri="{FF2B5EF4-FFF2-40B4-BE49-F238E27FC236}">
                <a16:creationId xmlns:a16="http://schemas.microsoft.com/office/drawing/2014/main" id="{9DABC068-CA92-4BB6-82BA-DBA2E0AFF005}"/>
              </a:ext>
            </a:extLst>
          </p:cNvPr>
          <p:cNvSpPr txBox="1"/>
          <p:nvPr/>
        </p:nvSpPr>
        <p:spPr>
          <a:xfrm>
            <a:off x="632900" y="6385099"/>
            <a:ext cx="75415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HK" sz="1400" b="1" i="0" u="none" strike="noStrike" kern="1200" cap="all" spc="0" normalizeH="0" baseline="0" noProof="0" dirty="0">
                <a:ln>
                  <a:noFill/>
                </a:ln>
                <a:solidFill>
                  <a:srgbClr val="7F7F7F"/>
                </a:solidFill>
                <a:effectLst/>
                <a:uLnTx/>
                <a:uFillTx/>
                <a:latin typeface="Arial" panose="020B0604020202020204" pitchFamily="34" charset="0"/>
                <a:ea typeface="微軟正黑體" panose="020B0604030504040204" pitchFamily="34" charset="-120"/>
                <a:cs typeface="+mn-cs"/>
              </a:rPr>
              <a:t>COPYRIGHT 2020 © ROBORN. ALL RIGHTS RESERVED.</a:t>
            </a:r>
            <a:r>
              <a:rPr kumimoji="0" lang="en-US" altLang="zh-HK" sz="1400" b="0" i="0" u="none" strike="noStrike" kern="1200" cap="none" spc="0" normalizeH="0" baseline="0" noProof="0" dirty="0">
                <a:ln>
                  <a:noFill/>
                </a:ln>
                <a:solidFill>
                  <a:srgbClr val="7F7F7F"/>
                </a:solidFill>
                <a:effectLst/>
                <a:uLnTx/>
                <a:uFillTx/>
                <a:latin typeface="Arial" panose="020B0604020202020204" pitchFamily="34" charset="0"/>
                <a:ea typeface="微軟正黑體" panose="020B0604030504040204" pitchFamily="34" charset="-120"/>
                <a:cs typeface="+mn-cs"/>
              </a:rPr>
              <a:t> </a:t>
            </a:r>
            <a:endParaRPr kumimoji="0" lang="zh-HK" altLang="en-US" sz="14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endParaRPr>
          </a:p>
        </p:txBody>
      </p:sp>
      <p:sp>
        <p:nvSpPr>
          <p:cNvPr id="4" name="文字方塊 3">
            <a:extLst>
              <a:ext uri="{FF2B5EF4-FFF2-40B4-BE49-F238E27FC236}">
                <a16:creationId xmlns:a16="http://schemas.microsoft.com/office/drawing/2014/main" id="{2C01FC13-A320-4483-97BB-A65A402CCFD4}"/>
              </a:ext>
            </a:extLst>
          </p:cNvPr>
          <p:cNvSpPr txBox="1"/>
          <p:nvPr/>
        </p:nvSpPr>
        <p:spPr>
          <a:xfrm>
            <a:off x="632900" y="5963974"/>
            <a:ext cx="218701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HK" sz="18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rPr>
              <a:t>www.roborn.com</a:t>
            </a:r>
            <a:endParaRPr kumimoji="0" lang="zh-HK" altLang="en-US" sz="1800" b="0" i="0" u="none" strike="noStrike" kern="1200" cap="none" spc="0" normalizeH="0" baseline="0" noProof="0" dirty="0">
              <a:ln>
                <a:noFill/>
              </a:ln>
              <a:solidFill>
                <a:prstClr val="black"/>
              </a:solidFill>
              <a:effectLst/>
              <a:uLnTx/>
              <a:uFillTx/>
              <a:latin typeface="Trebuchet MS" panose="020B0603020202020204"/>
              <a:ea typeface="微軟正黑體" panose="020B0604030504040204" pitchFamily="34" charset="-120"/>
              <a:cs typeface="+mn-cs"/>
            </a:endParaRPr>
          </a:p>
        </p:txBody>
      </p:sp>
      <p:pic>
        <p:nvPicPr>
          <p:cNvPr id="9" name="圖片 8">
            <a:extLst>
              <a:ext uri="{FF2B5EF4-FFF2-40B4-BE49-F238E27FC236}">
                <a16:creationId xmlns:a16="http://schemas.microsoft.com/office/drawing/2014/main" id="{EA933975-DF61-48B6-9483-6B4E559E06F6}"/>
              </a:ext>
            </a:extLst>
          </p:cNvPr>
          <p:cNvPicPr>
            <a:picLocks noChangeAspect="1"/>
          </p:cNvPicPr>
          <p:nvPr/>
        </p:nvPicPr>
        <p:blipFill>
          <a:blip r:embed="rId4"/>
          <a:stretch>
            <a:fillRect/>
          </a:stretch>
        </p:blipFill>
        <p:spPr>
          <a:xfrm>
            <a:off x="706485" y="4903522"/>
            <a:ext cx="1137229" cy="1137229"/>
          </a:xfrm>
          <a:prstGeom prst="rect">
            <a:avLst/>
          </a:prstGeom>
        </p:spPr>
      </p:pic>
      <p:sp>
        <p:nvSpPr>
          <p:cNvPr id="7" name="Slide Number Placeholder 6">
            <a:extLst>
              <a:ext uri="{FF2B5EF4-FFF2-40B4-BE49-F238E27FC236}">
                <a16:creationId xmlns:a16="http://schemas.microsoft.com/office/drawing/2014/main" id="{930A415F-967E-4998-850A-D9A675E51A5F}"/>
              </a:ext>
            </a:extLst>
          </p:cNvPr>
          <p:cNvSpPr>
            <a:spLocks noGrp="1"/>
          </p:cNvSpPr>
          <p:nvPr>
            <p:ph type="sldNum" sz="quarter" idx="12"/>
          </p:nvPr>
        </p:nvSpPr>
        <p:spPr>
          <a:xfrm>
            <a:off x="8590663" y="6041362"/>
            <a:ext cx="683339" cy="365125"/>
          </a:xfrm>
        </p:spPr>
        <p:txBody>
          <a:bodyPr/>
          <a:lstStyle/>
          <a:p>
            <a:fld id="{CF9A1619-F87A-4FCD-8947-EF4132FEEC38}" type="slidenum">
              <a:rPr lang="zh-HK" altLang="en-US" smtClean="0"/>
              <a:t>1</a:t>
            </a:fld>
            <a:endParaRPr lang="zh-HK" altLang="en-US"/>
          </a:p>
        </p:txBody>
      </p:sp>
    </p:spTree>
    <p:extLst>
      <p:ext uri="{BB962C8B-B14F-4D97-AF65-F5344CB8AC3E}">
        <p14:creationId xmlns:p14="http://schemas.microsoft.com/office/powerpoint/2010/main" val="349526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EBF458-910A-B749-6547-EB4A142E888B}"/>
              </a:ext>
            </a:extLst>
          </p:cNvPr>
          <p:cNvSpPr>
            <a:spLocks noGrp="1"/>
          </p:cNvSpPr>
          <p:nvPr>
            <p:ph type="title"/>
          </p:nvPr>
        </p:nvSpPr>
        <p:spPr/>
        <p:txBody>
          <a:bodyPr/>
          <a:lstStyle/>
          <a:p>
            <a:r>
              <a:rPr lang="en-HK" altLang="zh-HK" dirty="0"/>
              <a:t>Overview</a:t>
            </a:r>
            <a:endParaRPr lang="zh-HK" altLang="en-US" dirty="0"/>
          </a:p>
        </p:txBody>
      </p:sp>
      <p:sp>
        <p:nvSpPr>
          <p:cNvPr id="4" name="投影片編號版面配置區 3">
            <a:extLst>
              <a:ext uri="{FF2B5EF4-FFF2-40B4-BE49-F238E27FC236}">
                <a16:creationId xmlns:a16="http://schemas.microsoft.com/office/drawing/2014/main" id="{8C8FB493-81B8-2D14-688D-431D7818FAEE}"/>
              </a:ext>
            </a:extLst>
          </p:cNvPr>
          <p:cNvSpPr>
            <a:spLocks noGrp="1"/>
          </p:cNvSpPr>
          <p:nvPr>
            <p:ph type="sldNum" sz="quarter" idx="12"/>
          </p:nvPr>
        </p:nvSpPr>
        <p:spPr>
          <a:xfrm>
            <a:off x="8628763" y="5667375"/>
            <a:ext cx="683339" cy="365125"/>
          </a:xfrm>
        </p:spPr>
        <p:txBody>
          <a:bodyPr/>
          <a:lstStyle/>
          <a:p>
            <a:fld id="{CF9A1619-F87A-4FCD-8947-EF4132FEEC38}" type="slidenum">
              <a:rPr lang="zh-HK" altLang="en-US" smtClean="0"/>
              <a:t>2</a:t>
            </a:fld>
            <a:endParaRPr lang="zh-HK" altLang="en-US"/>
          </a:p>
        </p:txBody>
      </p:sp>
      <p:pic>
        <p:nvPicPr>
          <p:cNvPr id="9" name="內容版面配置區 8">
            <a:extLst>
              <a:ext uri="{FF2B5EF4-FFF2-40B4-BE49-F238E27FC236}">
                <a16:creationId xmlns:a16="http://schemas.microsoft.com/office/drawing/2014/main" id="{9B003862-CDEC-9EB2-2261-AB8934DFD3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1339" y="1556413"/>
            <a:ext cx="9443555" cy="4691987"/>
          </a:xfrm>
          <a:prstGeom prst="rect">
            <a:avLst/>
          </a:prstGeom>
        </p:spPr>
      </p:pic>
      <p:sp>
        <p:nvSpPr>
          <p:cNvPr id="10" name="矩形 9">
            <a:extLst>
              <a:ext uri="{FF2B5EF4-FFF2-40B4-BE49-F238E27FC236}">
                <a16:creationId xmlns:a16="http://schemas.microsoft.com/office/drawing/2014/main" id="{B71926BA-C249-D9F6-EAB7-8F10FDFAFAEF}"/>
              </a:ext>
            </a:extLst>
          </p:cNvPr>
          <p:cNvSpPr/>
          <p:nvPr/>
        </p:nvSpPr>
        <p:spPr>
          <a:xfrm>
            <a:off x="1271339" y="1744805"/>
            <a:ext cx="1521880" cy="2737061"/>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2" name="矩形 11">
            <a:extLst>
              <a:ext uri="{FF2B5EF4-FFF2-40B4-BE49-F238E27FC236}">
                <a16:creationId xmlns:a16="http://schemas.microsoft.com/office/drawing/2014/main" id="{6074EDB3-19AF-6898-A82E-AEC84C3DF736}"/>
              </a:ext>
            </a:extLst>
          </p:cNvPr>
          <p:cNvSpPr/>
          <p:nvPr/>
        </p:nvSpPr>
        <p:spPr>
          <a:xfrm>
            <a:off x="2870200" y="1745111"/>
            <a:ext cx="5942819" cy="2737061"/>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4" name="矩形 13">
            <a:extLst>
              <a:ext uri="{FF2B5EF4-FFF2-40B4-BE49-F238E27FC236}">
                <a16:creationId xmlns:a16="http://schemas.microsoft.com/office/drawing/2014/main" id="{F6699BF7-7DE8-CA19-F3A0-DEB15DA6A42D}"/>
              </a:ext>
            </a:extLst>
          </p:cNvPr>
          <p:cNvSpPr/>
          <p:nvPr/>
        </p:nvSpPr>
        <p:spPr>
          <a:xfrm>
            <a:off x="8890000" y="1745111"/>
            <a:ext cx="1747913" cy="2737061"/>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矩形 15">
            <a:extLst>
              <a:ext uri="{FF2B5EF4-FFF2-40B4-BE49-F238E27FC236}">
                <a16:creationId xmlns:a16="http://schemas.microsoft.com/office/drawing/2014/main" id="{5B57B53A-3609-8CD8-D803-F9E1F11D5A61}"/>
              </a:ext>
            </a:extLst>
          </p:cNvPr>
          <p:cNvSpPr/>
          <p:nvPr/>
        </p:nvSpPr>
        <p:spPr>
          <a:xfrm>
            <a:off x="2793219" y="4556806"/>
            <a:ext cx="7921675" cy="852043"/>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8" name="矩形 17">
            <a:extLst>
              <a:ext uri="{FF2B5EF4-FFF2-40B4-BE49-F238E27FC236}">
                <a16:creationId xmlns:a16="http://schemas.microsoft.com/office/drawing/2014/main" id="{3A75A1A6-37B4-442A-0649-E871BC663959}"/>
              </a:ext>
            </a:extLst>
          </p:cNvPr>
          <p:cNvSpPr/>
          <p:nvPr/>
        </p:nvSpPr>
        <p:spPr>
          <a:xfrm>
            <a:off x="2793219" y="5448391"/>
            <a:ext cx="7921675" cy="852043"/>
          </a:xfrm>
          <a:prstGeom prst="rect">
            <a:avLst/>
          </a:prstGeom>
          <a:noFill/>
          <a:ln w="57150">
            <a:solidFill>
              <a:srgbClr val="FF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0" name="矩形 19">
            <a:extLst>
              <a:ext uri="{FF2B5EF4-FFF2-40B4-BE49-F238E27FC236}">
                <a16:creationId xmlns:a16="http://schemas.microsoft.com/office/drawing/2014/main" id="{0F55B4E1-C079-B7D8-F619-B634898F75B3}"/>
              </a:ext>
            </a:extLst>
          </p:cNvPr>
          <p:cNvSpPr/>
          <p:nvPr/>
        </p:nvSpPr>
        <p:spPr>
          <a:xfrm>
            <a:off x="1271339" y="4565124"/>
            <a:ext cx="1471471" cy="1735310"/>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1" name="文字方塊 20">
            <a:extLst>
              <a:ext uri="{FF2B5EF4-FFF2-40B4-BE49-F238E27FC236}">
                <a16:creationId xmlns:a16="http://schemas.microsoft.com/office/drawing/2014/main" id="{2D0BCE88-FFA9-145D-630D-9B0019D688C3}"/>
              </a:ext>
            </a:extLst>
          </p:cNvPr>
          <p:cNvSpPr txBox="1"/>
          <p:nvPr/>
        </p:nvSpPr>
        <p:spPr>
          <a:xfrm>
            <a:off x="67733" y="2704012"/>
            <a:ext cx="1219201" cy="646331"/>
          </a:xfrm>
          <a:prstGeom prst="rect">
            <a:avLst/>
          </a:prstGeom>
          <a:noFill/>
        </p:spPr>
        <p:txBody>
          <a:bodyPr wrap="square" rtlCol="0">
            <a:spAutoFit/>
          </a:bodyPr>
          <a:lstStyle/>
          <a:p>
            <a:r>
              <a:rPr lang="en-HK" b="1" dirty="0">
                <a:solidFill>
                  <a:schemeClr val="accent1">
                    <a:lumMod val="75000"/>
                  </a:schemeClr>
                </a:solidFill>
              </a:rPr>
              <a:t>List of Elements</a:t>
            </a:r>
          </a:p>
        </p:txBody>
      </p:sp>
      <p:sp>
        <p:nvSpPr>
          <p:cNvPr id="23" name="文字方塊 22">
            <a:extLst>
              <a:ext uri="{FF2B5EF4-FFF2-40B4-BE49-F238E27FC236}">
                <a16:creationId xmlns:a16="http://schemas.microsoft.com/office/drawing/2014/main" id="{4CEC8DCA-83FB-B5F9-6D9C-6D92276A7A77}"/>
              </a:ext>
            </a:extLst>
          </p:cNvPr>
          <p:cNvSpPr txBox="1"/>
          <p:nvPr/>
        </p:nvSpPr>
        <p:spPr>
          <a:xfrm>
            <a:off x="115620" y="4961398"/>
            <a:ext cx="1219201" cy="646331"/>
          </a:xfrm>
          <a:prstGeom prst="rect">
            <a:avLst/>
          </a:prstGeom>
          <a:noFill/>
        </p:spPr>
        <p:txBody>
          <a:bodyPr wrap="square" rtlCol="0">
            <a:spAutoFit/>
          </a:bodyPr>
          <a:lstStyle/>
          <a:p>
            <a:r>
              <a:rPr lang="en-HK" b="1" dirty="0">
                <a:solidFill>
                  <a:schemeClr val="accent2">
                    <a:lumMod val="75000"/>
                  </a:schemeClr>
                </a:solidFill>
              </a:rPr>
              <a:t>Control Panel</a:t>
            </a:r>
          </a:p>
        </p:txBody>
      </p:sp>
      <p:sp>
        <p:nvSpPr>
          <p:cNvPr id="25" name="文字方塊 24">
            <a:extLst>
              <a:ext uri="{FF2B5EF4-FFF2-40B4-BE49-F238E27FC236}">
                <a16:creationId xmlns:a16="http://schemas.microsoft.com/office/drawing/2014/main" id="{A0FEDF62-F144-B9E6-1EFD-D70AB3BB916C}"/>
              </a:ext>
            </a:extLst>
          </p:cNvPr>
          <p:cNvSpPr txBox="1"/>
          <p:nvPr/>
        </p:nvSpPr>
        <p:spPr>
          <a:xfrm>
            <a:off x="10972799" y="5551246"/>
            <a:ext cx="1219201" cy="646331"/>
          </a:xfrm>
          <a:prstGeom prst="rect">
            <a:avLst/>
          </a:prstGeom>
          <a:noFill/>
        </p:spPr>
        <p:txBody>
          <a:bodyPr wrap="square" rtlCol="0">
            <a:spAutoFit/>
          </a:bodyPr>
          <a:lstStyle/>
          <a:p>
            <a:r>
              <a:rPr lang="en-HK" b="1" dirty="0">
                <a:solidFill>
                  <a:srgbClr val="FF0066"/>
                </a:solidFill>
              </a:rPr>
              <a:t>Speed Graph</a:t>
            </a:r>
          </a:p>
        </p:txBody>
      </p:sp>
      <p:sp>
        <p:nvSpPr>
          <p:cNvPr id="27" name="文字方塊 26">
            <a:extLst>
              <a:ext uri="{FF2B5EF4-FFF2-40B4-BE49-F238E27FC236}">
                <a16:creationId xmlns:a16="http://schemas.microsoft.com/office/drawing/2014/main" id="{00FDB1DE-837B-85D8-074E-F6E144AFC72E}"/>
              </a:ext>
            </a:extLst>
          </p:cNvPr>
          <p:cNvSpPr txBox="1"/>
          <p:nvPr/>
        </p:nvSpPr>
        <p:spPr>
          <a:xfrm>
            <a:off x="10857179" y="4613495"/>
            <a:ext cx="1219201" cy="369332"/>
          </a:xfrm>
          <a:prstGeom prst="rect">
            <a:avLst/>
          </a:prstGeom>
          <a:noFill/>
        </p:spPr>
        <p:txBody>
          <a:bodyPr wrap="square" rtlCol="0">
            <a:spAutoFit/>
          </a:bodyPr>
          <a:lstStyle/>
          <a:p>
            <a:r>
              <a:rPr lang="en-HK" b="1" dirty="0">
                <a:solidFill>
                  <a:srgbClr val="FFFF00"/>
                </a:solidFill>
              </a:rPr>
              <a:t>Timeline</a:t>
            </a:r>
          </a:p>
        </p:txBody>
      </p:sp>
      <p:sp>
        <p:nvSpPr>
          <p:cNvPr id="29" name="文字方塊 28">
            <a:extLst>
              <a:ext uri="{FF2B5EF4-FFF2-40B4-BE49-F238E27FC236}">
                <a16:creationId xmlns:a16="http://schemas.microsoft.com/office/drawing/2014/main" id="{49C54159-EFF4-2624-B7FC-0D4C89F8E912}"/>
              </a:ext>
            </a:extLst>
          </p:cNvPr>
          <p:cNvSpPr txBox="1"/>
          <p:nvPr/>
        </p:nvSpPr>
        <p:spPr>
          <a:xfrm>
            <a:off x="5232008" y="858048"/>
            <a:ext cx="1273295" cy="369332"/>
          </a:xfrm>
          <a:prstGeom prst="rect">
            <a:avLst/>
          </a:prstGeom>
          <a:noFill/>
        </p:spPr>
        <p:txBody>
          <a:bodyPr wrap="square" rtlCol="0">
            <a:spAutoFit/>
          </a:bodyPr>
          <a:lstStyle/>
          <a:p>
            <a:r>
              <a:rPr lang="en-HK" b="1" dirty="0">
                <a:solidFill>
                  <a:schemeClr val="accent5">
                    <a:lumMod val="75000"/>
                  </a:schemeClr>
                </a:solidFill>
              </a:rPr>
              <a:t>Main View</a:t>
            </a:r>
          </a:p>
        </p:txBody>
      </p:sp>
      <p:sp>
        <p:nvSpPr>
          <p:cNvPr id="31" name="文字方塊 30">
            <a:extLst>
              <a:ext uri="{FF2B5EF4-FFF2-40B4-BE49-F238E27FC236}">
                <a16:creationId xmlns:a16="http://schemas.microsoft.com/office/drawing/2014/main" id="{3648BEFE-74F7-33E7-A146-9A71A97E4C89}"/>
              </a:ext>
            </a:extLst>
          </p:cNvPr>
          <p:cNvSpPr txBox="1"/>
          <p:nvPr/>
        </p:nvSpPr>
        <p:spPr>
          <a:xfrm>
            <a:off x="10726572" y="2616926"/>
            <a:ext cx="1349808" cy="646331"/>
          </a:xfrm>
          <a:prstGeom prst="rect">
            <a:avLst/>
          </a:prstGeom>
          <a:noFill/>
        </p:spPr>
        <p:txBody>
          <a:bodyPr wrap="square" rtlCol="0">
            <a:spAutoFit/>
          </a:bodyPr>
          <a:lstStyle/>
          <a:p>
            <a:r>
              <a:rPr lang="en-HK" b="1" dirty="0">
                <a:solidFill>
                  <a:srgbClr val="FF5050"/>
                </a:solidFill>
              </a:rPr>
              <a:t>Object Properties</a:t>
            </a:r>
          </a:p>
        </p:txBody>
      </p:sp>
    </p:spTree>
    <p:extLst>
      <p:ext uri="{BB962C8B-B14F-4D97-AF65-F5344CB8AC3E}">
        <p14:creationId xmlns:p14="http://schemas.microsoft.com/office/powerpoint/2010/main" val="2099893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89015-FC8A-4A46-4C8B-B8F1C76CCE37}"/>
              </a:ext>
            </a:extLst>
          </p:cNvPr>
          <p:cNvSpPr>
            <a:spLocks noGrp="1"/>
          </p:cNvSpPr>
          <p:nvPr>
            <p:ph type="title"/>
          </p:nvPr>
        </p:nvSpPr>
        <p:spPr/>
        <p:txBody>
          <a:bodyPr/>
          <a:lstStyle/>
          <a:p>
            <a:r>
              <a:rPr lang="en-HK" dirty="0"/>
              <a:t>Basic Controls</a:t>
            </a:r>
          </a:p>
        </p:txBody>
      </p:sp>
      <p:sp>
        <p:nvSpPr>
          <p:cNvPr id="4" name="投影片編號版面配置區 3">
            <a:extLst>
              <a:ext uri="{FF2B5EF4-FFF2-40B4-BE49-F238E27FC236}">
                <a16:creationId xmlns:a16="http://schemas.microsoft.com/office/drawing/2014/main" id="{8EAEBEE0-6BDB-DFEC-EFAF-731467AF6A4D}"/>
              </a:ext>
            </a:extLst>
          </p:cNvPr>
          <p:cNvSpPr>
            <a:spLocks noGrp="1"/>
          </p:cNvSpPr>
          <p:nvPr>
            <p:ph type="sldNum" sz="quarter" idx="12"/>
          </p:nvPr>
        </p:nvSpPr>
        <p:spPr/>
        <p:txBody>
          <a:bodyPr/>
          <a:lstStyle/>
          <a:p>
            <a:fld id="{CF9A1619-F87A-4FCD-8947-EF4132FEEC38}" type="slidenum">
              <a:rPr lang="zh-HK" altLang="en-US" smtClean="0"/>
              <a:t>3</a:t>
            </a:fld>
            <a:endParaRPr lang="zh-HK" altLang="en-US"/>
          </a:p>
        </p:txBody>
      </p:sp>
      <p:sp>
        <p:nvSpPr>
          <p:cNvPr id="5" name="文字方塊 4">
            <a:extLst>
              <a:ext uri="{FF2B5EF4-FFF2-40B4-BE49-F238E27FC236}">
                <a16:creationId xmlns:a16="http://schemas.microsoft.com/office/drawing/2014/main" id="{DCE54EE9-427B-BAA4-FF35-10055CBDEDCD}"/>
              </a:ext>
            </a:extLst>
          </p:cNvPr>
          <p:cNvSpPr txBox="1"/>
          <p:nvPr/>
        </p:nvSpPr>
        <p:spPr>
          <a:xfrm>
            <a:off x="235131" y="1582340"/>
            <a:ext cx="4963886" cy="4524315"/>
          </a:xfrm>
          <a:prstGeom prst="rect">
            <a:avLst/>
          </a:prstGeom>
          <a:noFill/>
        </p:spPr>
        <p:txBody>
          <a:bodyPr wrap="square" rtlCol="0">
            <a:spAutoFit/>
          </a:bodyPr>
          <a:lstStyle/>
          <a:p>
            <a:pPr marL="285750" indent="-285750">
              <a:buFontTx/>
              <a:buChar char="-"/>
            </a:pPr>
            <a:r>
              <a:rPr lang="en-HK" dirty="0"/>
              <a:t>Drag in 3D space (left click) to rotate view, right click drag to move around</a:t>
            </a:r>
          </a:p>
          <a:p>
            <a:pPr marL="285750" indent="-285750">
              <a:buFontTx/>
              <a:buChar char="-"/>
            </a:pPr>
            <a:endParaRPr lang="en-HK" dirty="0"/>
          </a:p>
          <a:p>
            <a:r>
              <a:rPr lang="en-HK" dirty="0"/>
              <a:t>- Simply select the simulation robot’s EE controller (</a:t>
            </a:r>
            <a:r>
              <a:rPr lang="en-HK" dirty="0" err="1"/>
              <a:t>simbot</a:t>
            </a:r>
            <a:r>
              <a:rPr lang="en-HK" dirty="0"/>
              <a:t> cursor) to render transform axes gizmo</a:t>
            </a:r>
          </a:p>
          <a:p>
            <a:endParaRPr lang="en-HK" dirty="0"/>
          </a:p>
          <a:p>
            <a:pPr marL="285750" indent="-285750">
              <a:buFontTx/>
              <a:buChar char="-"/>
            </a:pPr>
            <a:r>
              <a:rPr lang="en-HK" dirty="0"/>
              <a:t>Drag the axes to move and rotate robot pose</a:t>
            </a:r>
          </a:p>
          <a:p>
            <a:pPr marL="285750" indent="-285750">
              <a:buFontTx/>
              <a:buChar char="-"/>
            </a:pPr>
            <a:endParaRPr lang="en-HK" dirty="0"/>
          </a:p>
          <a:p>
            <a:pPr marL="285750" indent="-285750">
              <a:buFontTx/>
              <a:buChar char="-"/>
            </a:pPr>
            <a:r>
              <a:rPr lang="en-HK" dirty="0"/>
              <a:t>IK is calculated in real time, if IK fails, robot freezes until it can solve the IK again</a:t>
            </a:r>
          </a:p>
          <a:p>
            <a:pPr marL="285750" indent="-285750">
              <a:buFontTx/>
              <a:buChar char="-"/>
            </a:pPr>
            <a:endParaRPr lang="en-HK" dirty="0"/>
          </a:p>
          <a:p>
            <a:pPr marL="285750" indent="-285750">
              <a:buFontTx/>
              <a:buChar char="-"/>
            </a:pPr>
            <a:r>
              <a:rPr lang="en-HK" dirty="0"/>
              <a:t>Axes mode can be switched to fit world axes for positional changes and local axes for changes relative to EE pose</a:t>
            </a:r>
          </a:p>
        </p:txBody>
      </p:sp>
      <p:pic>
        <p:nvPicPr>
          <p:cNvPr id="6" name="Basic Move">
            <a:hlinkClick r:id="" action="ppaction://media"/>
            <a:extLst>
              <a:ext uri="{FF2B5EF4-FFF2-40B4-BE49-F238E27FC236}">
                <a16:creationId xmlns:a16="http://schemas.microsoft.com/office/drawing/2014/main" id="{E4524737-C15F-E36A-85C1-E7A075E417B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11871" y="1712968"/>
            <a:ext cx="6357584" cy="3576141"/>
          </a:xfrm>
          <a:prstGeom prst="rect">
            <a:avLst/>
          </a:prstGeom>
        </p:spPr>
      </p:pic>
      <p:sp>
        <p:nvSpPr>
          <p:cNvPr id="8" name="文字方塊 7">
            <a:extLst>
              <a:ext uri="{FF2B5EF4-FFF2-40B4-BE49-F238E27FC236}">
                <a16:creationId xmlns:a16="http://schemas.microsoft.com/office/drawing/2014/main" id="{04977ACE-5141-0A43-68FB-5B205A5DA5C2}"/>
              </a:ext>
            </a:extLst>
          </p:cNvPr>
          <p:cNvSpPr txBox="1"/>
          <p:nvPr/>
        </p:nvSpPr>
        <p:spPr>
          <a:xfrm>
            <a:off x="677334" y="1273946"/>
            <a:ext cx="3854068" cy="369332"/>
          </a:xfrm>
          <a:prstGeom prst="rect">
            <a:avLst/>
          </a:prstGeom>
          <a:noFill/>
        </p:spPr>
        <p:txBody>
          <a:bodyPr wrap="none" rtlCol="0">
            <a:spAutoFit/>
          </a:bodyPr>
          <a:lstStyle/>
          <a:p>
            <a:r>
              <a:rPr lang="en-HK" dirty="0">
                <a:highlight>
                  <a:srgbClr val="FFFF00"/>
                </a:highlight>
              </a:rPr>
              <a:t>Taken from any simulator out there</a:t>
            </a:r>
          </a:p>
        </p:txBody>
      </p:sp>
      <p:sp>
        <p:nvSpPr>
          <p:cNvPr id="10" name="文字方塊 9">
            <a:extLst>
              <a:ext uri="{FF2B5EF4-FFF2-40B4-BE49-F238E27FC236}">
                <a16:creationId xmlns:a16="http://schemas.microsoft.com/office/drawing/2014/main" id="{74A3E993-EF04-5C79-0BDC-DACED35B1A5D}"/>
              </a:ext>
            </a:extLst>
          </p:cNvPr>
          <p:cNvSpPr txBox="1"/>
          <p:nvPr/>
        </p:nvSpPr>
        <p:spPr>
          <a:xfrm>
            <a:off x="4555841" y="1270000"/>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86997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01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84735F-043B-44A2-3EAE-935F34FF057B}"/>
              </a:ext>
            </a:extLst>
          </p:cNvPr>
          <p:cNvSpPr>
            <a:spLocks noGrp="1"/>
          </p:cNvSpPr>
          <p:nvPr>
            <p:ph type="title"/>
          </p:nvPr>
        </p:nvSpPr>
        <p:spPr/>
        <p:txBody>
          <a:bodyPr/>
          <a:lstStyle/>
          <a:p>
            <a:r>
              <a:rPr lang="en-HK" dirty="0"/>
              <a:t>List of Elements</a:t>
            </a:r>
          </a:p>
        </p:txBody>
      </p:sp>
      <p:pic>
        <p:nvPicPr>
          <p:cNvPr id="6" name="內容版面配置區 5">
            <a:extLst>
              <a:ext uri="{FF2B5EF4-FFF2-40B4-BE49-F238E27FC236}">
                <a16:creationId xmlns:a16="http://schemas.microsoft.com/office/drawing/2014/main" id="{E78BA67C-2D09-5265-7DA3-9975D933FBDF}"/>
              </a:ext>
            </a:extLst>
          </p:cNvPr>
          <p:cNvPicPr>
            <a:picLocks noGrp="1" noChangeAspect="1"/>
          </p:cNvPicPr>
          <p:nvPr>
            <p:ph idx="1"/>
          </p:nvPr>
        </p:nvPicPr>
        <p:blipFill>
          <a:blip r:embed="rId2"/>
          <a:stretch>
            <a:fillRect/>
          </a:stretch>
        </p:blipFill>
        <p:spPr>
          <a:xfrm>
            <a:off x="8032620" y="346229"/>
            <a:ext cx="3156544" cy="6431461"/>
          </a:xfrm>
          <a:prstGeom prst="rect">
            <a:avLst/>
          </a:prstGeom>
        </p:spPr>
      </p:pic>
      <p:sp>
        <p:nvSpPr>
          <p:cNvPr id="4" name="投影片編號版面配置區 3">
            <a:extLst>
              <a:ext uri="{FF2B5EF4-FFF2-40B4-BE49-F238E27FC236}">
                <a16:creationId xmlns:a16="http://schemas.microsoft.com/office/drawing/2014/main" id="{BD6EC5B0-7741-4723-5F3C-70408D1223A9}"/>
              </a:ext>
            </a:extLst>
          </p:cNvPr>
          <p:cNvSpPr>
            <a:spLocks noGrp="1"/>
          </p:cNvSpPr>
          <p:nvPr>
            <p:ph type="sldNum" sz="quarter" idx="12"/>
          </p:nvPr>
        </p:nvSpPr>
        <p:spPr/>
        <p:txBody>
          <a:bodyPr/>
          <a:lstStyle/>
          <a:p>
            <a:fld id="{CF9A1619-F87A-4FCD-8947-EF4132FEEC38}" type="slidenum">
              <a:rPr lang="zh-HK" altLang="en-US" smtClean="0"/>
              <a:t>4</a:t>
            </a:fld>
            <a:endParaRPr lang="zh-HK" altLang="en-US"/>
          </a:p>
        </p:txBody>
      </p:sp>
      <p:sp>
        <p:nvSpPr>
          <p:cNvPr id="7" name="文字方塊 6">
            <a:extLst>
              <a:ext uri="{FF2B5EF4-FFF2-40B4-BE49-F238E27FC236}">
                <a16:creationId xmlns:a16="http://schemas.microsoft.com/office/drawing/2014/main" id="{402A28FC-E190-0801-75A2-25AE52819518}"/>
              </a:ext>
            </a:extLst>
          </p:cNvPr>
          <p:cNvSpPr txBox="1"/>
          <p:nvPr/>
        </p:nvSpPr>
        <p:spPr>
          <a:xfrm>
            <a:off x="233686" y="2342278"/>
            <a:ext cx="6298519" cy="3139321"/>
          </a:xfrm>
          <a:prstGeom prst="rect">
            <a:avLst/>
          </a:prstGeom>
          <a:noFill/>
        </p:spPr>
        <p:txBody>
          <a:bodyPr wrap="none" rtlCol="0">
            <a:spAutoFit/>
          </a:bodyPr>
          <a:lstStyle/>
          <a:p>
            <a:r>
              <a:rPr lang="en-HK" dirty="0"/>
              <a:t>Shows list of all the elements present in the scene, </a:t>
            </a:r>
            <a:br>
              <a:rPr lang="en-HK" dirty="0"/>
            </a:br>
            <a:r>
              <a:rPr lang="en-HK" dirty="0"/>
              <a:t>including:</a:t>
            </a:r>
          </a:p>
          <a:p>
            <a:endParaRPr lang="en-HK" dirty="0"/>
          </a:p>
          <a:p>
            <a:pPr marL="285750" indent="-285750">
              <a:buFontTx/>
              <a:buChar char="-"/>
            </a:pPr>
            <a:r>
              <a:rPr lang="en-HK" dirty="0"/>
              <a:t>Waypoints</a:t>
            </a:r>
          </a:p>
          <a:p>
            <a:pPr marL="285750" indent="-285750">
              <a:buFontTx/>
              <a:buChar char="-"/>
            </a:pPr>
            <a:r>
              <a:rPr lang="en-HK" dirty="0"/>
              <a:t>Bookmarked positions</a:t>
            </a:r>
          </a:p>
          <a:p>
            <a:pPr marL="285750" indent="-285750">
              <a:buFontTx/>
              <a:buChar char="-"/>
            </a:pPr>
            <a:r>
              <a:rPr lang="en-HK" dirty="0"/>
              <a:t>3D objects</a:t>
            </a:r>
          </a:p>
          <a:p>
            <a:endParaRPr lang="en-HK" dirty="0"/>
          </a:p>
          <a:p>
            <a:endParaRPr lang="en-HK" dirty="0"/>
          </a:p>
          <a:p>
            <a:endParaRPr lang="en-HK" dirty="0"/>
          </a:p>
          <a:p>
            <a:r>
              <a:rPr lang="en-HK" dirty="0"/>
              <a:t>Users can add these elements in the appropriate tab </a:t>
            </a:r>
          </a:p>
          <a:p>
            <a:r>
              <a:rPr lang="en-HK" dirty="0"/>
              <a:t>with the “+” button and toggle visibility with “eye” button</a:t>
            </a:r>
          </a:p>
        </p:txBody>
      </p:sp>
      <p:sp>
        <p:nvSpPr>
          <p:cNvPr id="11" name="矩形 10">
            <a:extLst>
              <a:ext uri="{FF2B5EF4-FFF2-40B4-BE49-F238E27FC236}">
                <a16:creationId xmlns:a16="http://schemas.microsoft.com/office/drawing/2014/main" id="{3BF75CA5-686B-6D14-8D2A-5BA351B1BCBB}"/>
              </a:ext>
            </a:extLst>
          </p:cNvPr>
          <p:cNvSpPr/>
          <p:nvPr/>
        </p:nvSpPr>
        <p:spPr>
          <a:xfrm>
            <a:off x="8032620" y="346229"/>
            <a:ext cx="3156544"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3" name="矩形 12">
            <a:extLst>
              <a:ext uri="{FF2B5EF4-FFF2-40B4-BE49-F238E27FC236}">
                <a16:creationId xmlns:a16="http://schemas.microsoft.com/office/drawing/2014/main" id="{7200B938-CB67-B5F6-1873-210DF1F66E71}"/>
              </a:ext>
            </a:extLst>
          </p:cNvPr>
          <p:cNvSpPr/>
          <p:nvPr/>
        </p:nvSpPr>
        <p:spPr>
          <a:xfrm>
            <a:off x="8590663" y="663516"/>
            <a:ext cx="313640"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5" name="矩形 14">
            <a:extLst>
              <a:ext uri="{FF2B5EF4-FFF2-40B4-BE49-F238E27FC236}">
                <a16:creationId xmlns:a16="http://schemas.microsoft.com/office/drawing/2014/main" id="{F0FEB966-4EB6-3D2B-77E7-0AA39D538297}"/>
              </a:ext>
            </a:extLst>
          </p:cNvPr>
          <p:cNvSpPr/>
          <p:nvPr/>
        </p:nvSpPr>
        <p:spPr>
          <a:xfrm>
            <a:off x="8032619" y="1597151"/>
            <a:ext cx="3156543" cy="33324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7" name="矩形 16">
            <a:extLst>
              <a:ext uri="{FF2B5EF4-FFF2-40B4-BE49-F238E27FC236}">
                <a16:creationId xmlns:a16="http://schemas.microsoft.com/office/drawing/2014/main" id="{3894526E-C2C7-2F00-63B7-239D9E88F918}"/>
              </a:ext>
            </a:extLst>
          </p:cNvPr>
          <p:cNvSpPr/>
          <p:nvPr/>
        </p:nvSpPr>
        <p:spPr>
          <a:xfrm>
            <a:off x="10813002" y="663516"/>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9" name="矩形 18">
            <a:extLst>
              <a:ext uri="{FF2B5EF4-FFF2-40B4-BE49-F238E27FC236}">
                <a16:creationId xmlns:a16="http://schemas.microsoft.com/office/drawing/2014/main" id="{6B67C311-2C1D-F4CC-96B9-606481E2301F}"/>
              </a:ext>
            </a:extLst>
          </p:cNvPr>
          <p:cNvSpPr/>
          <p:nvPr/>
        </p:nvSpPr>
        <p:spPr>
          <a:xfrm>
            <a:off x="10510906" y="663515"/>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20" name="文字方塊 19">
            <a:extLst>
              <a:ext uri="{FF2B5EF4-FFF2-40B4-BE49-F238E27FC236}">
                <a16:creationId xmlns:a16="http://schemas.microsoft.com/office/drawing/2014/main" id="{BC645927-A4DB-8955-0E86-780EDED663AB}"/>
              </a:ext>
            </a:extLst>
          </p:cNvPr>
          <p:cNvSpPr txBox="1"/>
          <p:nvPr/>
        </p:nvSpPr>
        <p:spPr>
          <a:xfrm>
            <a:off x="6117458" y="795200"/>
            <a:ext cx="633635" cy="369332"/>
          </a:xfrm>
          <a:prstGeom prst="rect">
            <a:avLst/>
          </a:prstGeom>
          <a:noFill/>
        </p:spPr>
        <p:txBody>
          <a:bodyPr wrap="none" rtlCol="0">
            <a:spAutoFit/>
          </a:bodyPr>
          <a:lstStyle/>
          <a:p>
            <a:r>
              <a:rPr lang="en-HK" dirty="0"/>
              <a:t>Tabs</a:t>
            </a:r>
          </a:p>
        </p:txBody>
      </p:sp>
      <p:cxnSp>
        <p:nvCxnSpPr>
          <p:cNvPr id="22" name="直線單箭頭接點 21">
            <a:extLst>
              <a:ext uri="{FF2B5EF4-FFF2-40B4-BE49-F238E27FC236}">
                <a16:creationId xmlns:a16="http://schemas.microsoft.com/office/drawing/2014/main" id="{73146741-B2A3-8398-B954-2D7B1E174319}"/>
              </a:ext>
            </a:extLst>
          </p:cNvPr>
          <p:cNvCxnSpPr>
            <a:stCxn id="20" idx="3"/>
            <a:endCxn id="11" idx="1"/>
          </p:cNvCxnSpPr>
          <p:nvPr/>
        </p:nvCxnSpPr>
        <p:spPr>
          <a:xfrm flipV="1">
            <a:off x="6751093" y="477915"/>
            <a:ext cx="1281527" cy="501951"/>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3" name="文字方塊 22">
            <a:extLst>
              <a:ext uri="{FF2B5EF4-FFF2-40B4-BE49-F238E27FC236}">
                <a16:creationId xmlns:a16="http://schemas.microsoft.com/office/drawing/2014/main" id="{5EF1818E-E5D7-CDF7-C260-A27F20BC5CB5}"/>
              </a:ext>
            </a:extLst>
          </p:cNvPr>
          <p:cNvSpPr txBox="1"/>
          <p:nvPr/>
        </p:nvSpPr>
        <p:spPr>
          <a:xfrm>
            <a:off x="5168373" y="1314027"/>
            <a:ext cx="1909497" cy="369332"/>
          </a:xfrm>
          <a:prstGeom prst="rect">
            <a:avLst/>
          </a:prstGeom>
          <a:noFill/>
        </p:spPr>
        <p:txBody>
          <a:bodyPr wrap="none" rtlCol="0">
            <a:spAutoFit/>
          </a:bodyPr>
          <a:lstStyle/>
          <a:p>
            <a:r>
              <a:rPr lang="en-HK" dirty="0"/>
              <a:t>Number of Items</a:t>
            </a:r>
          </a:p>
        </p:txBody>
      </p:sp>
      <p:cxnSp>
        <p:nvCxnSpPr>
          <p:cNvPr id="24" name="直線單箭頭接點 23">
            <a:extLst>
              <a:ext uri="{FF2B5EF4-FFF2-40B4-BE49-F238E27FC236}">
                <a16:creationId xmlns:a16="http://schemas.microsoft.com/office/drawing/2014/main" id="{99C9361A-4E0A-66D7-BC07-CE8E8A7E4FEA}"/>
              </a:ext>
            </a:extLst>
          </p:cNvPr>
          <p:cNvCxnSpPr>
            <a:cxnSpLocks/>
            <a:stCxn id="23" idx="3"/>
          </p:cNvCxnSpPr>
          <p:nvPr/>
        </p:nvCxnSpPr>
        <p:spPr>
          <a:xfrm flipV="1">
            <a:off x="7077870" y="872971"/>
            <a:ext cx="1481805" cy="62572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7" name="矩形 26">
            <a:extLst>
              <a:ext uri="{FF2B5EF4-FFF2-40B4-BE49-F238E27FC236}">
                <a16:creationId xmlns:a16="http://schemas.microsoft.com/office/drawing/2014/main" id="{E5B98638-F826-17E8-6E78-794A96CB38A9}"/>
              </a:ext>
            </a:extLst>
          </p:cNvPr>
          <p:cNvSpPr/>
          <p:nvPr/>
        </p:nvSpPr>
        <p:spPr>
          <a:xfrm>
            <a:off x="10813002" y="2270024"/>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29" name="文字方塊 28">
            <a:extLst>
              <a:ext uri="{FF2B5EF4-FFF2-40B4-BE49-F238E27FC236}">
                <a16:creationId xmlns:a16="http://schemas.microsoft.com/office/drawing/2014/main" id="{F0CD91C7-631D-E259-6CB2-ACD9E72797ED}"/>
              </a:ext>
            </a:extLst>
          </p:cNvPr>
          <p:cNvSpPr txBox="1"/>
          <p:nvPr/>
        </p:nvSpPr>
        <p:spPr>
          <a:xfrm>
            <a:off x="5726410" y="3319639"/>
            <a:ext cx="2306209" cy="369332"/>
          </a:xfrm>
          <a:prstGeom prst="rect">
            <a:avLst/>
          </a:prstGeom>
          <a:noFill/>
        </p:spPr>
        <p:txBody>
          <a:bodyPr wrap="none" rtlCol="0">
            <a:spAutoFit/>
          </a:bodyPr>
          <a:lstStyle/>
          <a:p>
            <a:r>
              <a:rPr lang="en-HK" dirty="0"/>
              <a:t>Toggle Visibility (All)</a:t>
            </a:r>
          </a:p>
        </p:txBody>
      </p:sp>
      <p:cxnSp>
        <p:nvCxnSpPr>
          <p:cNvPr id="30" name="直線單箭頭接點 29">
            <a:extLst>
              <a:ext uri="{FF2B5EF4-FFF2-40B4-BE49-F238E27FC236}">
                <a16:creationId xmlns:a16="http://schemas.microsoft.com/office/drawing/2014/main" id="{8D59DC1D-BFEA-8788-7BAD-70C3D3CA8B2E}"/>
              </a:ext>
            </a:extLst>
          </p:cNvPr>
          <p:cNvCxnSpPr>
            <a:cxnSpLocks/>
          </p:cNvCxnSpPr>
          <p:nvPr/>
        </p:nvCxnSpPr>
        <p:spPr>
          <a:xfrm flipV="1">
            <a:off x="7893575" y="987551"/>
            <a:ext cx="2598704" cy="257440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33" name="文字方塊 32">
            <a:extLst>
              <a:ext uri="{FF2B5EF4-FFF2-40B4-BE49-F238E27FC236}">
                <a16:creationId xmlns:a16="http://schemas.microsoft.com/office/drawing/2014/main" id="{75B63A64-F332-C490-A743-06FE0D59E22E}"/>
              </a:ext>
            </a:extLst>
          </p:cNvPr>
          <p:cNvSpPr txBox="1"/>
          <p:nvPr/>
        </p:nvSpPr>
        <p:spPr>
          <a:xfrm>
            <a:off x="5400271" y="3677576"/>
            <a:ext cx="2647648" cy="369332"/>
          </a:xfrm>
          <a:prstGeom prst="rect">
            <a:avLst/>
          </a:prstGeom>
          <a:noFill/>
        </p:spPr>
        <p:txBody>
          <a:bodyPr wrap="none" rtlCol="0">
            <a:spAutoFit/>
          </a:bodyPr>
          <a:lstStyle/>
          <a:p>
            <a:r>
              <a:rPr lang="en-HK" dirty="0"/>
              <a:t>Toggle Visibility (Single)</a:t>
            </a:r>
          </a:p>
        </p:txBody>
      </p:sp>
      <p:cxnSp>
        <p:nvCxnSpPr>
          <p:cNvPr id="34" name="直線單箭頭接點 33">
            <a:extLst>
              <a:ext uri="{FF2B5EF4-FFF2-40B4-BE49-F238E27FC236}">
                <a16:creationId xmlns:a16="http://schemas.microsoft.com/office/drawing/2014/main" id="{89FA5CDA-BD4E-9033-3779-A824817B6AAD}"/>
              </a:ext>
            </a:extLst>
          </p:cNvPr>
          <p:cNvCxnSpPr>
            <a:cxnSpLocks/>
          </p:cNvCxnSpPr>
          <p:nvPr/>
        </p:nvCxnSpPr>
        <p:spPr>
          <a:xfrm flipV="1">
            <a:off x="7927566" y="2401709"/>
            <a:ext cx="2799739" cy="1460533"/>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39" name="文字方塊 38">
            <a:extLst>
              <a:ext uri="{FF2B5EF4-FFF2-40B4-BE49-F238E27FC236}">
                <a16:creationId xmlns:a16="http://schemas.microsoft.com/office/drawing/2014/main" id="{32CAF9C2-C092-C69D-D53D-07E7FD3B425D}"/>
              </a:ext>
            </a:extLst>
          </p:cNvPr>
          <p:cNvSpPr txBox="1"/>
          <p:nvPr/>
        </p:nvSpPr>
        <p:spPr>
          <a:xfrm>
            <a:off x="6293679" y="1931334"/>
            <a:ext cx="659155" cy="369332"/>
          </a:xfrm>
          <a:prstGeom prst="rect">
            <a:avLst/>
          </a:prstGeom>
          <a:noFill/>
        </p:spPr>
        <p:txBody>
          <a:bodyPr wrap="none" rtlCol="0">
            <a:spAutoFit/>
          </a:bodyPr>
          <a:lstStyle/>
          <a:p>
            <a:r>
              <a:rPr lang="en-HK" dirty="0"/>
              <a:t>Item</a:t>
            </a:r>
          </a:p>
        </p:txBody>
      </p:sp>
      <p:cxnSp>
        <p:nvCxnSpPr>
          <p:cNvPr id="40" name="直線單箭頭接點 39">
            <a:extLst>
              <a:ext uri="{FF2B5EF4-FFF2-40B4-BE49-F238E27FC236}">
                <a16:creationId xmlns:a16="http://schemas.microsoft.com/office/drawing/2014/main" id="{1E9FBD5A-242E-8376-AD1C-B25172CDA63A}"/>
              </a:ext>
            </a:extLst>
          </p:cNvPr>
          <p:cNvCxnSpPr>
            <a:cxnSpLocks/>
          </p:cNvCxnSpPr>
          <p:nvPr/>
        </p:nvCxnSpPr>
        <p:spPr>
          <a:xfrm flipV="1">
            <a:off x="6952834" y="1726981"/>
            <a:ext cx="1095085" cy="40683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034073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A25-CDC1-B3B7-41F4-3F3163AC588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DEA9932-C46D-8E00-F537-7B48C1B2AEF0}"/>
              </a:ext>
            </a:extLst>
          </p:cNvPr>
          <p:cNvSpPr>
            <a:spLocks noGrp="1"/>
          </p:cNvSpPr>
          <p:nvPr>
            <p:ph type="title"/>
          </p:nvPr>
        </p:nvSpPr>
        <p:spPr/>
        <p:txBody>
          <a:bodyPr/>
          <a:lstStyle/>
          <a:p>
            <a:r>
              <a:rPr lang="en-HK" dirty="0"/>
              <a:t>List of Elements: Objects List</a:t>
            </a:r>
          </a:p>
        </p:txBody>
      </p:sp>
      <p:pic>
        <p:nvPicPr>
          <p:cNvPr id="6" name="內容版面配置區 5">
            <a:extLst>
              <a:ext uri="{FF2B5EF4-FFF2-40B4-BE49-F238E27FC236}">
                <a16:creationId xmlns:a16="http://schemas.microsoft.com/office/drawing/2014/main" id="{FF324D7A-4484-392C-7DCF-F70A5F4564E6}"/>
              </a:ext>
            </a:extLst>
          </p:cNvPr>
          <p:cNvPicPr>
            <a:picLocks noGrp="1" noChangeAspect="1"/>
          </p:cNvPicPr>
          <p:nvPr>
            <p:ph idx="1"/>
          </p:nvPr>
        </p:nvPicPr>
        <p:blipFill>
          <a:blip r:embed="rId2"/>
          <a:stretch>
            <a:fillRect/>
          </a:stretch>
        </p:blipFill>
        <p:spPr>
          <a:xfrm>
            <a:off x="255780" y="1643278"/>
            <a:ext cx="2531808" cy="5158561"/>
          </a:xfrm>
          <a:prstGeom prst="rect">
            <a:avLst/>
          </a:prstGeom>
        </p:spPr>
      </p:pic>
      <p:sp>
        <p:nvSpPr>
          <p:cNvPr id="4" name="投影片編號版面配置區 3">
            <a:extLst>
              <a:ext uri="{FF2B5EF4-FFF2-40B4-BE49-F238E27FC236}">
                <a16:creationId xmlns:a16="http://schemas.microsoft.com/office/drawing/2014/main" id="{38DEE843-F367-D8D6-795C-A769420C9D28}"/>
              </a:ext>
            </a:extLst>
          </p:cNvPr>
          <p:cNvSpPr>
            <a:spLocks noGrp="1"/>
          </p:cNvSpPr>
          <p:nvPr>
            <p:ph type="sldNum" sz="quarter" idx="12"/>
          </p:nvPr>
        </p:nvSpPr>
        <p:spPr/>
        <p:txBody>
          <a:bodyPr/>
          <a:lstStyle/>
          <a:p>
            <a:fld id="{CF9A1619-F87A-4FCD-8947-EF4132FEEC38}" type="slidenum">
              <a:rPr lang="zh-HK" altLang="en-US" smtClean="0"/>
              <a:t>5</a:t>
            </a:fld>
            <a:endParaRPr lang="zh-HK" altLang="en-US"/>
          </a:p>
        </p:txBody>
      </p:sp>
      <p:sp>
        <p:nvSpPr>
          <p:cNvPr id="3" name="文字方塊 2">
            <a:extLst>
              <a:ext uri="{FF2B5EF4-FFF2-40B4-BE49-F238E27FC236}">
                <a16:creationId xmlns:a16="http://schemas.microsoft.com/office/drawing/2014/main" id="{84F1183F-C55A-0C97-95A8-A456EC102F52}"/>
              </a:ext>
            </a:extLst>
          </p:cNvPr>
          <p:cNvSpPr txBox="1"/>
          <p:nvPr/>
        </p:nvSpPr>
        <p:spPr>
          <a:xfrm>
            <a:off x="677334" y="1273946"/>
            <a:ext cx="1957715" cy="369332"/>
          </a:xfrm>
          <a:prstGeom prst="rect">
            <a:avLst/>
          </a:prstGeom>
          <a:noFill/>
        </p:spPr>
        <p:txBody>
          <a:bodyPr wrap="none" rtlCol="0">
            <a:spAutoFit/>
          </a:bodyPr>
          <a:lstStyle/>
          <a:p>
            <a:r>
              <a:rPr lang="en-HK" dirty="0">
                <a:highlight>
                  <a:srgbClr val="FFFF00"/>
                </a:highlight>
              </a:rPr>
              <a:t>Taken from Unity</a:t>
            </a:r>
          </a:p>
        </p:txBody>
      </p:sp>
      <p:sp>
        <p:nvSpPr>
          <p:cNvPr id="5" name="文字方塊 4">
            <a:extLst>
              <a:ext uri="{FF2B5EF4-FFF2-40B4-BE49-F238E27FC236}">
                <a16:creationId xmlns:a16="http://schemas.microsoft.com/office/drawing/2014/main" id="{2BE41715-FBD6-9C0F-F475-13A46B65F8C6}"/>
              </a:ext>
            </a:extLst>
          </p:cNvPr>
          <p:cNvSpPr txBox="1"/>
          <p:nvPr/>
        </p:nvSpPr>
        <p:spPr>
          <a:xfrm>
            <a:off x="3048440" y="1711161"/>
            <a:ext cx="8574783" cy="4524315"/>
          </a:xfrm>
          <a:prstGeom prst="rect">
            <a:avLst/>
          </a:prstGeom>
          <a:noFill/>
        </p:spPr>
        <p:txBody>
          <a:bodyPr wrap="none" rtlCol="0">
            <a:spAutoFit/>
          </a:bodyPr>
          <a:lstStyle/>
          <a:p>
            <a:pPr marL="285750" indent="-285750">
              <a:lnSpc>
                <a:spcPct val="150000"/>
              </a:lnSpc>
              <a:buFontTx/>
              <a:buChar char="-"/>
            </a:pPr>
            <a:r>
              <a:rPr lang="en-HK" dirty="0"/>
              <a:t>Shows and Adds 3d objects to scene</a:t>
            </a:r>
          </a:p>
          <a:p>
            <a:pPr marL="285750" indent="-285750">
              <a:lnSpc>
                <a:spcPct val="150000"/>
              </a:lnSpc>
              <a:buFontTx/>
              <a:buChar char="-"/>
            </a:pPr>
            <a:endParaRPr lang="en-HK" dirty="0"/>
          </a:p>
          <a:p>
            <a:pPr marL="285750" indent="-285750">
              <a:lnSpc>
                <a:spcPct val="150000"/>
              </a:lnSpc>
              <a:buFontTx/>
              <a:buChar char="-"/>
            </a:pPr>
            <a:r>
              <a:rPr lang="en-HK" dirty="0"/>
              <a:t>Sim bot is displayed as “sim cursor”</a:t>
            </a:r>
          </a:p>
          <a:p>
            <a:pPr marL="285750" indent="-285750">
              <a:lnSpc>
                <a:spcPct val="150000"/>
              </a:lnSpc>
              <a:buFontTx/>
              <a:buChar char="-"/>
            </a:pPr>
            <a:endParaRPr lang="en-HK" dirty="0"/>
          </a:p>
          <a:p>
            <a:pPr marL="285750" indent="-285750">
              <a:buFontTx/>
              <a:buChar char="-"/>
            </a:pPr>
            <a:r>
              <a:rPr lang="en-HK" dirty="0"/>
              <a:t>Users can add additional simple or even custom .</a:t>
            </a:r>
            <a:r>
              <a:rPr lang="en-HK" dirty="0" err="1"/>
              <a:t>stl</a:t>
            </a:r>
            <a:r>
              <a:rPr lang="en-HK" dirty="0"/>
              <a:t> </a:t>
            </a:r>
          </a:p>
          <a:p>
            <a:r>
              <a:rPr lang="en-HK" dirty="0"/>
              <a:t>3D objects to simulate environment</a:t>
            </a:r>
          </a:p>
          <a:p>
            <a:endParaRPr lang="en-HK" dirty="0"/>
          </a:p>
          <a:p>
            <a:pPr marL="285750" indent="-285750">
              <a:buFontTx/>
              <a:buChar char="-"/>
            </a:pPr>
            <a:r>
              <a:rPr lang="en-HK" dirty="0"/>
              <a:t>Users can even add advanced objects like cameras to </a:t>
            </a:r>
          </a:p>
          <a:p>
            <a:r>
              <a:rPr lang="en-HK" dirty="0"/>
              <a:t>simulate camera position in sim world</a:t>
            </a:r>
          </a:p>
          <a:p>
            <a:endParaRPr lang="en-HK" dirty="0"/>
          </a:p>
          <a:p>
            <a:pPr marL="285750" indent="-285750">
              <a:buFontTx/>
              <a:buChar char="-"/>
            </a:pPr>
            <a:r>
              <a:rPr lang="en-HK" dirty="0">
                <a:highlight>
                  <a:srgbClr val="00FF00"/>
                </a:highlight>
              </a:rPr>
              <a:t>Parent Hierarchy System</a:t>
            </a:r>
            <a:r>
              <a:rPr lang="en-HK" dirty="0"/>
              <a:t>:</a:t>
            </a:r>
          </a:p>
          <a:p>
            <a:pPr marL="742950" lvl="1" indent="-285750">
              <a:buFontTx/>
              <a:buChar char="-"/>
            </a:pPr>
            <a:r>
              <a:rPr lang="en-HK" dirty="0"/>
              <a:t>Users can parent objects such that they move together with their parent:</a:t>
            </a:r>
          </a:p>
          <a:p>
            <a:pPr marL="1200150" lvl="2" indent="-285750">
              <a:buFontTx/>
              <a:buChar char="-"/>
            </a:pPr>
            <a:r>
              <a:rPr lang="en-HK" dirty="0"/>
              <a:t>Useful for binding objects to EE, </a:t>
            </a:r>
            <a:r>
              <a:rPr lang="en-HK" dirty="0" err="1"/>
              <a:t>eg.</a:t>
            </a:r>
            <a:r>
              <a:rPr lang="en-HK" dirty="0"/>
              <a:t> EE bound cameras</a:t>
            </a:r>
          </a:p>
          <a:p>
            <a:pPr marL="285750" indent="-285750">
              <a:buFontTx/>
              <a:buChar char="-"/>
            </a:pPr>
            <a:endParaRPr lang="en-HK" dirty="0"/>
          </a:p>
        </p:txBody>
      </p:sp>
      <p:pic>
        <p:nvPicPr>
          <p:cNvPr id="7" name="圖片 6">
            <a:extLst>
              <a:ext uri="{FF2B5EF4-FFF2-40B4-BE49-F238E27FC236}">
                <a16:creationId xmlns:a16="http://schemas.microsoft.com/office/drawing/2014/main" id="{E3C1D0E1-7287-8E84-BF21-D374E4000192}"/>
              </a:ext>
              <a:ext uri="{C183D7F6-B498-43B3-948B-1728B52AA6E4}">
                <adec:decorative xmlns:adec="http://schemas.microsoft.com/office/drawing/2017/decorative" val="1"/>
              </a:ext>
            </a:extLst>
          </p:cNvPr>
          <p:cNvPicPr>
            <a:picLocks noChangeAspect="1"/>
          </p:cNvPicPr>
          <p:nvPr/>
        </p:nvPicPr>
        <p:blipFill>
          <a:blip r:embed="rId3"/>
          <a:srcRect t="5338" r="1394"/>
          <a:stretch>
            <a:fillRect/>
          </a:stretch>
        </p:blipFill>
        <p:spPr>
          <a:xfrm>
            <a:off x="8238590" y="201467"/>
            <a:ext cx="3689986" cy="2529630"/>
          </a:xfrm>
          <a:prstGeom prst="rect">
            <a:avLst/>
          </a:prstGeom>
        </p:spPr>
      </p:pic>
      <p:sp>
        <p:nvSpPr>
          <p:cNvPr id="8" name="文字方塊 7">
            <a:extLst>
              <a:ext uri="{FF2B5EF4-FFF2-40B4-BE49-F238E27FC236}">
                <a16:creationId xmlns:a16="http://schemas.microsoft.com/office/drawing/2014/main" id="{9EA010E4-B32B-7781-0FCD-DBB7FA326F0C}"/>
              </a:ext>
            </a:extLst>
          </p:cNvPr>
          <p:cNvSpPr txBox="1"/>
          <p:nvPr/>
        </p:nvSpPr>
        <p:spPr>
          <a:xfrm>
            <a:off x="8412297" y="2787082"/>
            <a:ext cx="3305713" cy="307777"/>
          </a:xfrm>
          <a:prstGeom prst="rect">
            <a:avLst/>
          </a:prstGeom>
          <a:noFill/>
        </p:spPr>
        <p:txBody>
          <a:bodyPr wrap="none" rtlCol="0">
            <a:spAutoFit/>
          </a:bodyPr>
          <a:lstStyle/>
          <a:p>
            <a:r>
              <a:rPr lang="en-HK" sz="1400" dirty="0"/>
              <a:t>Imported .</a:t>
            </a:r>
            <a:r>
              <a:rPr lang="en-HK" sz="1400" dirty="0" err="1"/>
              <a:t>stl</a:t>
            </a:r>
            <a:r>
              <a:rPr lang="en-HK" sz="1400" dirty="0"/>
              <a:t> object bound to robot EE</a:t>
            </a:r>
          </a:p>
        </p:txBody>
      </p:sp>
      <p:sp>
        <p:nvSpPr>
          <p:cNvPr id="10" name="文字方塊 9">
            <a:extLst>
              <a:ext uri="{FF2B5EF4-FFF2-40B4-BE49-F238E27FC236}">
                <a16:creationId xmlns:a16="http://schemas.microsoft.com/office/drawing/2014/main" id="{FFA9CA5F-19B3-BD20-F956-EC0927D37BC6}"/>
              </a:ext>
            </a:extLst>
          </p:cNvPr>
          <p:cNvSpPr txBox="1"/>
          <p:nvPr/>
        </p:nvSpPr>
        <p:spPr>
          <a:xfrm>
            <a:off x="2743327" y="1273946"/>
            <a:ext cx="4215257" cy="369332"/>
          </a:xfrm>
          <a:prstGeom prst="rect">
            <a:avLst/>
          </a:prstGeom>
          <a:noFill/>
        </p:spPr>
        <p:txBody>
          <a:bodyPr wrap="none" rtlCol="0">
            <a:spAutoFit/>
          </a:bodyPr>
          <a:lstStyle/>
          <a:p>
            <a:r>
              <a:rPr lang="en-HK" dirty="0">
                <a:highlight>
                  <a:srgbClr val="FF0000"/>
                </a:highlight>
              </a:rPr>
              <a:t>Should NOT be added to video shoot UI</a:t>
            </a:r>
          </a:p>
        </p:txBody>
      </p:sp>
    </p:spTree>
    <p:extLst>
      <p:ext uri="{BB962C8B-B14F-4D97-AF65-F5344CB8AC3E}">
        <p14:creationId xmlns:p14="http://schemas.microsoft.com/office/powerpoint/2010/main" val="275818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07D457-B2F1-3D83-A14F-E4D102E6CCFD}"/>
              </a:ext>
            </a:extLst>
          </p:cNvPr>
          <p:cNvSpPr>
            <a:spLocks noGrp="1"/>
          </p:cNvSpPr>
          <p:nvPr>
            <p:ph type="title"/>
          </p:nvPr>
        </p:nvSpPr>
        <p:spPr/>
        <p:txBody>
          <a:bodyPr/>
          <a:lstStyle/>
          <a:p>
            <a:r>
              <a:rPr lang="en-HK" dirty="0"/>
              <a:t>List of Elements: Waypoints</a:t>
            </a:r>
          </a:p>
        </p:txBody>
      </p:sp>
      <p:pic>
        <p:nvPicPr>
          <p:cNvPr id="6" name="內容版面配置區 5">
            <a:extLst>
              <a:ext uri="{FF2B5EF4-FFF2-40B4-BE49-F238E27FC236}">
                <a16:creationId xmlns:a16="http://schemas.microsoft.com/office/drawing/2014/main" id="{419F1157-18CD-40F9-190C-73649878644F}"/>
              </a:ext>
            </a:extLst>
          </p:cNvPr>
          <p:cNvPicPr>
            <a:picLocks noGrp="1" noChangeAspect="1"/>
          </p:cNvPicPr>
          <p:nvPr>
            <p:ph idx="1"/>
          </p:nvPr>
        </p:nvPicPr>
        <p:blipFill>
          <a:blip r:embed="rId2"/>
          <a:srcRect b="21679"/>
          <a:stretch>
            <a:fillRect/>
          </a:stretch>
        </p:blipFill>
        <p:spPr>
          <a:xfrm>
            <a:off x="477772" y="1314041"/>
            <a:ext cx="2663513" cy="2351692"/>
          </a:xfrm>
          <a:prstGeom prst="rect">
            <a:avLst/>
          </a:prstGeom>
        </p:spPr>
      </p:pic>
      <p:sp>
        <p:nvSpPr>
          <p:cNvPr id="4" name="投影片編號版面配置區 3">
            <a:extLst>
              <a:ext uri="{FF2B5EF4-FFF2-40B4-BE49-F238E27FC236}">
                <a16:creationId xmlns:a16="http://schemas.microsoft.com/office/drawing/2014/main" id="{1D5B8B9F-361E-58CF-3FD9-240875A24A3A}"/>
              </a:ext>
            </a:extLst>
          </p:cNvPr>
          <p:cNvSpPr>
            <a:spLocks noGrp="1"/>
          </p:cNvSpPr>
          <p:nvPr>
            <p:ph type="sldNum" sz="quarter" idx="12"/>
          </p:nvPr>
        </p:nvSpPr>
        <p:spPr/>
        <p:txBody>
          <a:bodyPr/>
          <a:lstStyle/>
          <a:p>
            <a:fld id="{CF9A1619-F87A-4FCD-8947-EF4132FEEC38}" type="slidenum">
              <a:rPr lang="zh-HK" altLang="en-US" smtClean="0"/>
              <a:t>6</a:t>
            </a:fld>
            <a:endParaRPr lang="zh-HK" altLang="en-US"/>
          </a:p>
        </p:txBody>
      </p:sp>
      <p:sp>
        <p:nvSpPr>
          <p:cNvPr id="7" name="文字方塊 6">
            <a:extLst>
              <a:ext uri="{FF2B5EF4-FFF2-40B4-BE49-F238E27FC236}">
                <a16:creationId xmlns:a16="http://schemas.microsoft.com/office/drawing/2014/main" id="{88322AF4-BC5B-E15F-B5C3-02486BFF0594}"/>
              </a:ext>
            </a:extLst>
          </p:cNvPr>
          <p:cNvSpPr txBox="1"/>
          <p:nvPr/>
        </p:nvSpPr>
        <p:spPr>
          <a:xfrm>
            <a:off x="3744812" y="1403880"/>
            <a:ext cx="7345281" cy="4801314"/>
          </a:xfrm>
          <a:prstGeom prst="rect">
            <a:avLst/>
          </a:prstGeom>
          <a:noFill/>
        </p:spPr>
        <p:txBody>
          <a:bodyPr wrap="none" rtlCol="0">
            <a:spAutoFit/>
          </a:bodyPr>
          <a:lstStyle/>
          <a:p>
            <a:r>
              <a:rPr lang="en-HK" dirty="0"/>
              <a:t>- Lists and adds waypoints (points used to create robot motion path) </a:t>
            </a:r>
          </a:p>
          <a:p>
            <a:r>
              <a:rPr lang="en-HK" dirty="0"/>
              <a:t>in 3D sim space</a:t>
            </a:r>
          </a:p>
          <a:p>
            <a:endParaRPr lang="en-HK" dirty="0"/>
          </a:p>
          <a:p>
            <a:pPr marL="285750" indent="-285750">
              <a:buFontTx/>
              <a:buChar char="-"/>
            </a:pPr>
            <a:r>
              <a:rPr lang="en-HK" b="1" dirty="0">
                <a:solidFill>
                  <a:srgbClr val="E09B20"/>
                </a:solidFill>
              </a:rPr>
              <a:t>Orange</a:t>
            </a:r>
            <a:r>
              <a:rPr lang="en-HK" dirty="0"/>
              <a:t> to add point from real robot pose</a:t>
            </a:r>
          </a:p>
          <a:p>
            <a:pPr marL="742950" lvl="1" indent="-285750">
              <a:buFontTx/>
              <a:buChar char="-"/>
            </a:pPr>
            <a:r>
              <a:rPr lang="en-HK" dirty="0"/>
              <a:t>Ideal for hand drag path planning</a:t>
            </a:r>
          </a:p>
          <a:p>
            <a:pPr lvl="1"/>
            <a:endParaRPr lang="en-HK" dirty="0"/>
          </a:p>
          <a:p>
            <a:pPr marL="285750" indent="-285750">
              <a:buFontTx/>
              <a:buChar char="-"/>
            </a:pPr>
            <a:r>
              <a:rPr lang="en-HK" b="1" dirty="0">
                <a:solidFill>
                  <a:schemeClr val="accent2"/>
                </a:solidFill>
              </a:rPr>
              <a:t>Blue</a:t>
            </a:r>
            <a:r>
              <a:rPr lang="en-HK" dirty="0"/>
              <a:t> to add point from sim bot pose</a:t>
            </a:r>
          </a:p>
          <a:p>
            <a:pPr marL="742950" lvl="1" indent="-285750">
              <a:buFontTx/>
              <a:buChar char="-"/>
            </a:pPr>
            <a:r>
              <a:rPr lang="en-HK" dirty="0"/>
              <a:t>Ideal for simulation dragging poses</a:t>
            </a:r>
          </a:p>
          <a:p>
            <a:pPr marL="742950" lvl="1" indent="-285750">
              <a:buFontTx/>
              <a:buChar char="-"/>
            </a:pPr>
            <a:endParaRPr lang="en-HK" dirty="0"/>
          </a:p>
          <a:p>
            <a:pPr marL="742950" lvl="1" indent="-285750">
              <a:buFontTx/>
              <a:buChar char="-"/>
            </a:pPr>
            <a:endParaRPr lang="en-HK" dirty="0"/>
          </a:p>
          <a:p>
            <a:pPr marL="285750" indent="-285750">
              <a:buFontTx/>
              <a:buChar char="-"/>
            </a:pPr>
            <a:r>
              <a:rPr lang="en-HK" dirty="0">
                <a:highlight>
                  <a:srgbClr val="FF0000"/>
                </a:highlight>
              </a:rPr>
              <a:t>No true hand drag planning</a:t>
            </a:r>
            <a:r>
              <a:rPr lang="en-HK" dirty="0"/>
              <a:t>:</a:t>
            </a:r>
            <a:br>
              <a:rPr lang="en-HK" dirty="0"/>
            </a:br>
            <a:r>
              <a:rPr lang="en-HK" dirty="0"/>
              <a:t>true hand drag requires recording every point per </a:t>
            </a:r>
            <a:r>
              <a:rPr lang="en-HK" dirty="0" err="1"/>
              <a:t>ms</a:t>
            </a:r>
            <a:r>
              <a:rPr lang="en-HK" dirty="0"/>
              <a:t> </a:t>
            </a:r>
          </a:p>
          <a:p>
            <a:r>
              <a:rPr lang="en-HK" dirty="0"/>
              <a:t>	-&gt;200+ points for simple path</a:t>
            </a:r>
          </a:p>
          <a:p>
            <a:r>
              <a:rPr lang="en-HK" dirty="0"/>
              <a:t>	-&gt; minor mistake gets recorded easily</a:t>
            </a:r>
          </a:p>
          <a:p>
            <a:r>
              <a:rPr lang="en-HK" dirty="0"/>
              <a:t>	+ 200 points to modify -&gt;infeasible to fine tune each point</a:t>
            </a:r>
          </a:p>
          <a:p>
            <a:endParaRPr lang="en-HK" dirty="0"/>
          </a:p>
          <a:p>
            <a:r>
              <a:rPr lang="en-HK" dirty="0"/>
              <a:t>- Solution: Bezier curve path design </a:t>
            </a:r>
          </a:p>
        </p:txBody>
      </p:sp>
      <p:pic>
        <p:nvPicPr>
          <p:cNvPr id="9" name="圖片 8">
            <a:extLst>
              <a:ext uri="{FF2B5EF4-FFF2-40B4-BE49-F238E27FC236}">
                <a16:creationId xmlns:a16="http://schemas.microsoft.com/office/drawing/2014/main" id="{D9767108-10BD-B76F-AC2F-F2B04DEFA353}"/>
              </a:ext>
            </a:extLst>
          </p:cNvPr>
          <p:cNvPicPr>
            <a:picLocks noChangeAspect="1"/>
          </p:cNvPicPr>
          <p:nvPr/>
        </p:nvPicPr>
        <p:blipFill>
          <a:blip r:embed="rId3"/>
          <a:stretch>
            <a:fillRect/>
          </a:stretch>
        </p:blipFill>
        <p:spPr>
          <a:xfrm>
            <a:off x="271150" y="3761876"/>
            <a:ext cx="3315142" cy="3096124"/>
          </a:xfrm>
          <a:prstGeom prst="rect">
            <a:avLst/>
          </a:prstGeom>
        </p:spPr>
      </p:pic>
      <p:sp>
        <p:nvSpPr>
          <p:cNvPr id="11" name="文字方塊 10">
            <a:extLst>
              <a:ext uri="{FF2B5EF4-FFF2-40B4-BE49-F238E27FC236}">
                <a16:creationId xmlns:a16="http://schemas.microsoft.com/office/drawing/2014/main" id="{C5C4CF0F-295B-AFF8-91F6-FC8166FC5C5E}"/>
              </a:ext>
            </a:extLst>
          </p:cNvPr>
          <p:cNvSpPr txBox="1"/>
          <p:nvPr/>
        </p:nvSpPr>
        <p:spPr>
          <a:xfrm>
            <a:off x="494791" y="3913908"/>
            <a:ext cx="2646494" cy="307777"/>
          </a:xfrm>
          <a:prstGeom prst="rect">
            <a:avLst/>
          </a:prstGeom>
          <a:noFill/>
        </p:spPr>
        <p:txBody>
          <a:bodyPr wrap="none" rtlCol="0">
            <a:spAutoFit/>
          </a:bodyPr>
          <a:lstStyle/>
          <a:p>
            <a:r>
              <a:rPr lang="en-HK" sz="1400" dirty="0">
                <a:solidFill>
                  <a:srgbClr val="FFFF00"/>
                </a:solidFill>
              </a:rPr>
              <a:t>Waypoint made from real pose</a:t>
            </a:r>
          </a:p>
        </p:txBody>
      </p:sp>
      <p:sp>
        <p:nvSpPr>
          <p:cNvPr id="13" name="文字方塊 12">
            <a:extLst>
              <a:ext uri="{FF2B5EF4-FFF2-40B4-BE49-F238E27FC236}">
                <a16:creationId xmlns:a16="http://schemas.microsoft.com/office/drawing/2014/main" id="{941B5684-AAE1-3A49-A7AA-EB38AB4C4A40}"/>
              </a:ext>
            </a:extLst>
          </p:cNvPr>
          <p:cNvSpPr txBox="1"/>
          <p:nvPr/>
        </p:nvSpPr>
        <p:spPr>
          <a:xfrm>
            <a:off x="494791" y="6248400"/>
            <a:ext cx="2603213" cy="307777"/>
          </a:xfrm>
          <a:prstGeom prst="rect">
            <a:avLst/>
          </a:prstGeom>
          <a:noFill/>
        </p:spPr>
        <p:txBody>
          <a:bodyPr wrap="none" rtlCol="0">
            <a:spAutoFit/>
          </a:bodyPr>
          <a:lstStyle/>
          <a:p>
            <a:r>
              <a:rPr lang="en-HK" sz="1400" dirty="0">
                <a:solidFill>
                  <a:srgbClr val="FFFF00"/>
                </a:solidFill>
              </a:rPr>
              <a:t>Waypoint made from sim pose</a:t>
            </a:r>
          </a:p>
        </p:txBody>
      </p:sp>
      <p:cxnSp>
        <p:nvCxnSpPr>
          <p:cNvPr id="14" name="直線單箭頭接點 13">
            <a:extLst>
              <a:ext uri="{FF2B5EF4-FFF2-40B4-BE49-F238E27FC236}">
                <a16:creationId xmlns:a16="http://schemas.microsoft.com/office/drawing/2014/main" id="{455929C9-881C-2F98-BC81-68024CF488AD}"/>
              </a:ext>
            </a:extLst>
          </p:cNvPr>
          <p:cNvCxnSpPr>
            <a:cxnSpLocks/>
          </p:cNvCxnSpPr>
          <p:nvPr/>
        </p:nvCxnSpPr>
        <p:spPr>
          <a:xfrm flipV="1">
            <a:off x="1796397" y="5692448"/>
            <a:ext cx="528792" cy="564132"/>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16" name="直線單箭頭接點 15">
            <a:extLst>
              <a:ext uri="{FF2B5EF4-FFF2-40B4-BE49-F238E27FC236}">
                <a16:creationId xmlns:a16="http://schemas.microsoft.com/office/drawing/2014/main" id="{F1936E32-B49F-E9FD-625E-94D5EC193CE6}"/>
              </a:ext>
            </a:extLst>
          </p:cNvPr>
          <p:cNvCxnSpPr>
            <a:cxnSpLocks/>
          </p:cNvCxnSpPr>
          <p:nvPr/>
        </p:nvCxnSpPr>
        <p:spPr>
          <a:xfrm flipH="1">
            <a:off x="1358537" y="4221685"/>
            <a:ext cx="570184" cy="731292"/>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sp>
        <p:nvSpPr>
          <p:cNvPr id="20" name="文字方塊 19">
            <a:extLst>
              <a:ext uri="{FF2B5EF4-FFF2-40B4-BE49-F238E27FC236}">
                <a16:creationId xmlns:a16="http://schemas.microsoft.com/office/drawing/2014/main" id="{61B0F39D-6D2E-FF51-BF03-D87A0720A8F1}"/>
              </a:ext>
            </a:extLst>
          </p:cNvPr>
          <p:cNvSpPr txBox="1"/>
          <p:nvPr/>
        </p:nvSpPr>
        <p:spPr>
          <a:xfrm>
            <a:off x="3744812" y="1129375"/>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540310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D4C-D444-8612-8745-BB21D063D433}"/>
              </a:ext>
            </a:extLst>
          </p:cNvPr>
          <p:cNvSpPr>
            <a:spLocks noGrp="1"/>
          </p:cNvSpPr>
          <p:nvPr>
            <p:ph type="title"/>
          </p:nvPr>
        </p:nvSpPr>
        <p:spPr/>
        <p:txBody>
          <a:bodyPr/>
          <a:lstStyle/>
          <a:p>
            <a:r>
              <a:rPr lang="en-HK" dirty="0"/>
              <a:t>List of Elements: Waypoints</a:t>
            </a:r>
          </a:p>
        </p:txBody>
      </p:sp>
      <p:pic>
        <p:nvPicPr>
          <p:cNvPr id="6" name="內容版面配置區 5">
            <a:extLst>
              <a:ext uri="{FF2B5EF4-FFF2-40B4-BE49-F238E27FC236}">
                <a16:creationId xmlns:a16="http://schemas.microsoft.com/office/drawing/2014/main" id="{8F752B5F-B265-F455-AC24-085EECCF7452}"/>
              </a:ext>
            </a:extLst>
          </p:cNvPr>
          <p:cNvPicPr>
            <a:picLocks noGrp="1" noChangeAspect="1"/>
          </p:cNvPicPr>
          <p:nvPr>
            <p:ph idx="1"/>
          </p:nvPr>
        </p:nvPicPr>
        <p:blipFill>
          <a:blip r:embed="rId2"/>
          <a:stretch>
            <a:fillRect/>
          </a:stretch>
        </p:blipFill>
        <p:spPr>
          <a:xfrm>
            <a:off x="431314" y="2191218"/>
            <a:ext cx="3493938" cy="2917681"/>
          </a:xfrm>
          <a:prstGeom prst="rect">
            <a:avLst/>
          </a:prstGeom>
        </p:spPr>
      </p:pic>
      <p:sp>
        <p:nvSpPr>
          <p:cNvPr id="4" name="投影片編號版面配置區 3">
            <a:extLst>
              <a:ext uri="{FF2B5EF4-FFF2-40B4-BE49-F238E27FC236}">
                <a16:creationId xmlns:a16="http://schemas.microsoft.com/office/drawing/2014/main" id="{9E91A6DB-AFB7-D399-12CD-0432EFF1A6B5}"/>
              </a:ext>
            </a:extLst>
          </p:cNvPr>
          <p:cNvSpPr>
            <a:spLocks noGrp="1"/>
          </p:cNvSpPr>
          <p:nvPr>
            <p:ph type="sldNum" sz="quarter" idx="12"/>
          </p:nvPr>
        </p:nvSpPr>
        <p:spPr/>
        <p:txBody>
          <a:bodyPr/>
          <a:lstStyle/>
          <a:p>
            <a:fld id="{CF9A1619-F87A-4FCD-8947-EF4132FEEC38}" type="slidenum">
              <a:rPr lang="zh-HK" altLang="en-US" smtClean="0"/>
              <a:t>7</a:t>
            </a:fld>
            <a:endParaRPr lang="zh-HK" altLang="en-US"/>
          </a:p>
        </p:txBody>
      </p:sp>
      <p:pic>
        <p:nvPicPr>
          <p:cNvPr id="8" name="圖片 7">
            <a:extLst>
              <a:ext uri="{FF2B5EF4-FFF2-40B4-BE49-F238E27FC236}">
                <a16:creationId xmlns:a16="http://schemas.microsoft.com/office/drawing/2014/main" id="{07E7E267-4A43-05A8-A590-54D8B18860B0}"/>
              </a:ext>
            </a:extLst>
          </p:cNvPr>
          <p:cNvPicPr>
            <a:picLocks noChangeAspect="1"/>
          </p:cNvPicPr>
          <p:nvPr/>
        </p:nvPicPr>
        <p:blipFill>
          <a:blip r:embed="rId3"/>
          <a:stretch>
            <a:fillRect/>
          </a:stretch>
        </p:blipFill>
        <p:spPr>
          <a:xfrm>
            <a:off x="4514851" y="2191218"/>
            <a:ext cx="3389142" cy="2923842"/>
          </a:xfrm>
          <a:prstGeom prst="rect">
            <a:avLst/>
          </a:prstGeom>
        </p:spPr>
      </p:pic>
      <p:pic>
        <p:nvPicPr>
          <p:cNvPr id="10" name="圖片 9">
            <a:extLst>
              <a:ext uri="{FF2B5EF4-FFF2-40B4-BE49-F238E27FC236}">
                <a16:creationId xmlns:a16="http://schemas.microsoft.com/office/drawing/2014/main" id="{636C8A67-F48C-B97F-788B-AAF7E59888B5}"/>
              </a:ext>
            </a:extLst>
          </p:cNvPr>
          <p:cNvPicPr>
            <a:picLocks noChangeAspect="1"/>
          </p:cNvPicPr>
          <p:nvPr/>
        </p:nvPicPr>
        <p:blipFill>
          <a:blip r:embed="rId4"/>
          <a:stretch>
            <a:fillRect/>
          </a:stretch>
        </p:blipFill>
        <p:spPr>
          <a:xfrm>
            <a:off x="8435886" y="2191218"/>
            <a:ext cx="3078780" cy="2917681"/>
          </a:xfrm>
          <a:prstGeom prst="rect">
            <a:avLst/>
          </a:prstGeom>
        </p:spPr>
      </p:pic>
      <p:sp>
        <p:nvSpPr>
          <p:cNvPr id="11" name="文字方塊 10">
            <a:extLst>
              <a:ext uri="{FF2B5EF4-FFF2-40B4-BE49-F238E27FC236}">
                <a16:creationId xmlns:a16="http://schemas.microsoft.com/office/drawing/2014/main" id="{CC0D0E54-8712-2683-17AF-A374366FCD21}"/>
              </a:ext>
            </a:extLst>
          </p:cNvPr>
          <p:cNvSpPr txBox="1"/>
          <p:nvPr/>
        </p:nvSpPr>
        <p:spPr>
          <a:xfrm>
            <a:off x="149915" y="5369717"/>
            <a:ext cx="4214615" cy="338554"/>
          </a:xfrm>
          <a:prstGeom prst="rect">
            <a:avLst/>
          </a:prstGeom>
          <a:noFill/>
        </p:spPr>
        <p:txBody>
          <a:bodyPr wrap="none" rtlCol="0">
            <a:spAutoFit/>
          </a:bodyPr>
          <a:lstStyle/>
          <a:p>
            <a:r>
              <a:rPr lang="en-HK" sz="1600" dirty="0"/>
              <a:t>Click on waypoint to render dragging points</a:t>
            </a:r>
          </a:p>
        </p:txBody>
      </p:sp>
      <p:sp>
        <p:nvSpPr>
          <p:cNvPr id="13" name="文字方塊 12">
            <a:extLst>
              <a:ext uri="{FF2B5EF4-FFF2-40B4-BE49-F238E27FC236}">
                <a16:creationId xmlns:a16="http://schemas.microsoft.com/office/drawing/2014/main" id="{B5248AB9-94B7-9156-C3D3-4921D6AAD941}"/>
              </a:ext>
            </a:extLst>
          </p:cNvPr>
          <p:cNvSpPr txBox="1"/>
          <p:nvPr/>
        </p:nvSpPr>
        <p:spPr>
          <a:xfrm>
            <a:off x="7765561" y="5369717"/>
            <a:ext cx="4195379" cy="338554"/>
          </a:xfrm>
          <a:prstGeom prst="rect">
            <a:avLst/>
          </a:prstGeom>
          <a:noFill/>
        </p:spPr>
        <p:txBody>
          <a:bodyPr wrap="none" rtlCol="0">
            <a:spAutoFit/>
          </a:bodyPr>
          <a:lstStyle/>
          <a:p>
            <a:r>
              <a:rPr lang="en-HK" sz="1600" dirty="0"/>
              <a:t>Click and drag the points to generate curve</a:t>
            </a:r>
          </a:p>
        </p:txBody>
      </p:sp>
      <p:sp>
        <p:nvSpPr>
          <p:cNvPr id="14" name="箭號: 向右 13">
            <a:extLst>
              <a:ext uri="{FF2B5EF4-FFF2-40B4-BE49-F238E27FC236}">
                <a16:creationId xmlns:a16="http://schemas.microsoft.com/office/drawing/2014/main" id="{6FC90472-F325-0044-3B00-F11A5C59C5A1}"/>
              </a:ext>
            </a:extLst>
          </p:cNvPr>
          <p:cNvSpPr/>
          <p:nvPr/>
        </p:nvSpPr>
        <p:spPr>
          <a:xfrm>
            <a:off x="3860216" y="3521067"/>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箭號: 向右 15">
            <a:extLst>
              <a:ext uri="{FF2B5EF4-FFF2-40B4-BE49-F238E27FC236}">
                <a16:creationId xmlns:a16="http://schemas.microsoft.com/office/drawing/2014/main" id="{77461268-5C51-35E8-3121-C66E65492A37}"/>
              </a:ext>
            </a:extLst>
          </p:cNvPr>
          <p:cNvSpPr/>
          <p:nvPr/>
        </p:nvSpPr>
        <p:spPr>
          <a:xfrm>
            <a:off x="7858365" y="3393738"/>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7" name="文字方塊 16">
            <a:extLst>
              <a:ext uri="{FF2B5EF4-FFF2-40B4-BE49-F238E27FC236}">
                <a16:creationId xmlns:a16="http://schemas.microsoft.com/office/drawing/2014/main" id="{CFDBF1E7-A60E-0F94-3ACE-65A51A15EE12}"/>
              </a:ext>
            </a:extLst>
          </p:cNvPr>
          <p:cNvSpPr txBox="1"/>
          <p:nvPr/>
        </p:nvSpPr>
        <p:spPr>
          <a:xfrm>
            <a:off x="1963916" y="6111364"/>
            <a:ext cx="8011360" cy="400110"/>
          </a:xfrm>
          <a:prstGeom prst="rect">
            <a:avLst/>
          </a:prstGeom>
          <a:noFill/>
        </p:spPr>
        <p:txBody>
          <a:bodyPr wrap="none" rtlCol="0">
            <a:spAutoFit/>
          </a:bodyPr>
          <a:lstStyle/>
          <a:p>
            <a:r>
              <a:rPr lang="en-HK" sz="2000" dirty="0">
                <a:highlight>
                  <a:srgbClr val="FFFF00"/>
                </a:highlight>
              </a:rPr>
              <a:t>Result: cleaner curves for motion paths that are easier to customise</a:t>
            </a:r>
          </a:p>
        </p:txBody>
      </p:sp>
      <p:sp>
        <p:nvSpPr>
          <p:cNvPr id="19" name="文字方塊 18">
            <a:extLst>
              <a:ext uri="{FF2B5EF4-FFF2-40B4-BE49-F238E27FC236}">
                <a16:creationId xmlns:a16="http://schemas.microsoft.com/office/drawing/2014/main" id="{0E296213-5A1C-7E68-00B8-D243E52473DA}"/>
              </a:ext>
            </a:extLst>
          </p:cNvPr>
          <p:cNvSpPr txBox="1"/>
          <p:nvPr/>
        </p:nvSpPr>
        <p:spPr>
          <a:xfrm>
            <a:off x="677334" y="1338547"/>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716128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2E2CE9-5C75-6315-C6B8-45340CEBD335}"/>
              </a:ext>
            </a:extLst>
          </p:cNvPr>
          <p:cNvSpPr>
            <a:spLocks noGrp="1"/>
          </p:cNvSpPr>
          <p:nvPr>
            <p:ph type="title"/>
          </p:nvPr>
        </p:nvSpPr>
        <p:spPr/>
        <p:txBody>
          <a:bodyPr/>
          <a:lstStyle/>
          <a:p>
            <a:r>
              <a:rPr lang="en-HK" dirty="0"/>
              <a:t>List of Elements: Bookmarks</a:t>
            </a:r>
          </a:p>
        </p:txBody>
      </p:sp>
      <p:pic>
        <p:nvPicPr>
          <p:cNvPr id="6" name="內容版面配置區 5">
            <a:extLst>
              <a:ext uri="{FF2B5EF4-FFF2-40B4-BE49-F238E27FC236}">
                <a16:creationId xmlns:a16="http://schemas.microsoft.com/office/drawing/2014/main" id="{BA7FDB82-00EC-9265-9B50-398823FAD0EB}"/>
              </a:ext>
            </a:extLst>
          </p:cNvPr>
          <p:cNvPicPr>
            <a:picLocks noGrp="1" noChangeAspect="1"/>
          </p:cNvPicPr>
          <p:nvPr>
            <p:ph idx="1"/>
          </p:nvPr>
        </p:nvPicPr>
        <p:blipFill>
          <a:blip r:embed="rId2"/>
          <a:stretch>
            <a:fillRect/>
          </a:stretch>
        </p:blipFill>
        <p:spPr>
          <a:xfrm>
            <a:off x="260523" y="1488281"/>
            <a:ext cx="3197052" cy="4972073"/>
          </a:xfrm>
          <a:prstGeom prst="rect">
            <a:avLst/>
          </a:prstGeom>
        </p:spPr>
      </p:pic>
      <p:sp>
        <p:nvSpPr>
          <p:cNvPr id="4" name="投影片編號版面配置區 3">
            <a:extLst>
              <a:ext uri="{FF2B5EF4-FFF2-40B4-BE49-F238E27FC236}">
                <a16:creationId xmlns:a16="http://schemas.microsoft.com/office/drawing/2014/main" id="{F7815CE5-7F84-6937-616A-B3794528E3C1}"/>
              </a:ext>
            </a:extLst>
          </p:cNvPr>
          <p:cNvSpPr>
            <a:spLocks noGrp="1"/>
          </p:cNvSpPr>
          <p:nvPr>
            <p:ph type="sldNum" sz="quarter" idx="12"/>
          </p:nvPr>
        </p:nvSpPr>
        <p:spPr/>
        <p:txBody>
          <a:bodyPr/>
          <a:lstStyle/>
          <a:p>
            <a:fld id="{CF9A1619-F87A-4FCD-8947-EF4132FEEC38}" type="slidenum">
              <a:rPr lang="zh-HK" altLang="en-US" smtClean="0"/>
              <a:t>8</a:t>
            </a:fld>
            <a:endParaRPr lang="zh-HK" altLang="en-US"/>
          </a:p>
        </p:txBody>
      </p:sp>
      <p:sp>
        <p:nvSpPr>
          <p:cNvPr id="7" name="文字方塊 6">
            <a:extLst>
              <a:ext uri="{FF2B5EF4-FFF2-40B4-BE49-F238E27FC236}">
                <a16:creationId xmlns:a16="http://schemas.microsoft.com/office/drawing/2014/main" id="{440883BD-6215-7D42-6122-9CA8A60E556A}"/>
              </a:ext>
            </a:extLst>
          </p:cNvPr>
          <p:cNvSpPr txBox="1"/>
          <p:nvPr/>
        </p:nvSpPr>
        <p:spPr>
          <a:xfrm>
            <a:off x="4076299" y="1306881"/>
            <a:ext cx="6377067" cy="3139321"/>
          </a:xfrm>
          <a:prstGeom prst="rect">
            <a:avLst/>
          </a:prstGeom>
          <a:noFill/>
        </p:spPr>
        <p:txBody>
          <a:bodyPr wrap="none" rtlCol="0">
            <a:spAutoFit/>
          </a:bodyPr>
          <a:lstStyle/>
          <a:p>
            <a:r>
              <a:rPr lang="en-HK" dirty="0"/>
              <a:t>Saved Points:</a:t>
            </a:r>
          </a:p>
          <a:p>
            <a:r>
              <a:rPr lang="en-HK" dirty="0"/>
              <a:t>Lists and stores important poses to be used by sim bot</a:t>
            </a:r>
          </a:p>
          <a:p>
            <a:endParaRPr lang="en-HK" dirty="0"/>
          </a:p>
          <a:p>
            <a:r>
              <a:rPr lang="en-HK" dirty="0"/>
              <a:t>Add points with same logic as adding waypoints</a:t>
            </a:r>
          </a:p>
          <a:p>
            <a:endParaRPr lang="en-HK" dirty="0"/>
          </a:p>
          <a:p>
            <a:r>
              <a:rPr lang="en-HK" dirty="0"/>
              <a:t>Click arrow button to teleport sim bot to the specified pose</a:t>
            </a:r>
          </a:p>
          <a:p>
            <a:endParaRPr lang="en-HK" dirty="0"/>
          </a:p>
          <a:p>
            <a:r>
              <a:rPr lang="en-HK" dirty="0"/>
              <a:t>Important poses added by default include:</a:t>
            </a:r>
            <a:br>
              <a:rPr lang="en-HK" dirty="0"/>
            </a:br>
            <a:r>
              <a:rPr lang="en-HK" dirty="0"/>
              <a:t>	- </a:t>
            </a:r>
            <a:r>
              <a:rPr lang="en-HK" dirty="0">
                <a:solidFill>
                  <a:srgbClr val="FF99CC"/>
                </a:solidFill>
              </a:rPr>
              <a:t>Home pose </a:t>
            </a:r>
            <a:r>
              <a:rPr lang="en-HK" dirty="0"/>
              <a:t>(right angle pose)</a:t>
            </a:r>
          </a:p>
          <a:p>
            <a:r>
              <a:rPr lang="en-HK" dirty="0"/>
              <a:t>	- </a:t>
            </a:r>
            <a:r>
              <a:rPr lang="en-HK" dirty="0">
                <a:solidFill>
                  <a:srgbClr val="FF99CC"/>
                </a:solidFill>
              </a:rPr>
              <a:t>Real pose </a:t>
            </a:r>
            <a:r>
              <a:rPr lang="en-HK" dirty="0"/>
              <a:t>(real bot’s current pose)</a:t>
            </a:r>
          </a:p>
          <a:p>
            <a:endParaRPr lang="en-HK" dirty="0"/>
          </a:p>
        </p:txBody>
      </p:sp>
      <p:sp>
        <p:nvSpPr>
          <p:cNvPr id="9" name="矩形 8">
            <a:extLst>
              <a:ext uri="{FF2B5EF4-FFF2-40B4-BE49-F238E27FC236}">
                <a16:creationId xmlns:a16="http://schemas.microsoft.com/office/drawing/2014/main" id="{F0FE5134-F3D9-6C71-8F2F-5003D1A43987}"/>
              </a:ext>
            </a:extLst>
          </p:cNvPr>
          <p:cNvSpPr/>
          <p:nvPr/>
        </p:nvSpPr>
        <p:spPr>
          <a:xfrm>
            <a:off x="2827242" y="2809081"/>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1" name="矩形 10">
            <a:extLst>
              <a:ext uri="{FF2B5EF4-FFF2-40B4-BE49-F238E27FC236}">
                <a16:creationId xmlns:a16="http://schemas.microsoft.com/office/drawing/2014/main" id="{576B5CA4-93B4-2FC3-498B-824AF508E0B2}"/>
              </a:ext>
            </a:extLst>
          </p:cNvPr>
          <p:cNvSpPr/>
          <p:nvPr/>
        </p:nvSpPr>
        <p:spPr>
          <a:xfrm>
            <a:off x="2782444" y="1798714"/>
            <a:ext cx="605190"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pic>
        <p:nvPicPr>
          <p:cNvPr id="13" name="圖片 12">
            <a:extLst>
              <a:ext uri="{FF2B5EF4-FFF2-40B4-BE49-F238E27FC236}">
                <a16:creationId xmlns:a16="http://schemas.microsoft.com/office/drawing/2014/main" id="{6C9466DB-4F3C-5E1A-811D-D1FE3D5AC005}"/>
              </a:ext>
            </a:extLst>
          </p:cNvPr>
          <p:cNvPicPr>
            <a:picLocks noChangeAspect="1"/>
          </p:cNvPicPr>
          <p:nvPr/>
        </p:nvPicPr>
        <p:blipFill>
          <a:blip r:embed="rId3"/>
          <a:stretch>
            <a:fillRect/>
          </a:stretch>
        </p:blipFill>
        <p:spPr>
          <a:xfrm>
            <a:off x="8368937" y="4192557"/>
            <a:ext cx="3562540" cy="2540930"/>
          </a:xfrm>
          <a:prstGeom prst="rect">
            <a:avLst/>
          </a:prstGeom>
        </p:spPr>
      </p:pic>
      <p:sp>
        <p:nvSpPr>
          <p:cNvPr id="14" name="文字方塊 13">
            <a:extLst>
              <a:ext uri="{FF2B5EF4-FFF2-40B4-BE49-F238E27FC236}">
                <a16:creationId xmlns:a16="http://schemas.microsoft.com/office/drawing/2014/main" id="{1AA2E3BF-1092-4F45-136A-297F05B64B78}"/>
              </a:ext>
            </a:extLst>
          </p:cNvPr>
          <p:cNvSpPr txBox="1"/>
          <p:nvPr/>
        </p:nvSpPr>
        <p:spPr>
          <a:xfrm>
            <a:off x="10111748" y="4354286"/>
            <a:ext cx="1819729" cy="307777"/>
          </a:xfrm>
          <a:prstGeom prst="rect">
            <a:avLst/>
          </a:prstGeom>
          <a:noFill/>
        </p:spPr>
        <p:txBody>
          <a:bodyPr wrap="none" rtlCol="0">
            <a:spAutoFit/>
          </a:bodyPr>
          <a:lstStyle/>
          <a:p>
            <a:r>
              <a:rPr lang="en-HK" sz="1400" dirty="0">
                <a:solidFill>
                  <a:srgbClr val="FFFF00"/>
                </a:solidFill>
              </a:rPr>
              <a:t>Right hand direction</a:t>
            </a:r>
          </a:p>
        </p:txBody>
      </p:sp>
      <p:sp>
        <p:nvSpPr>
          <p:cNvPr id="16" name="文字方塊 15">
            <a:extLst>
              <a:ext uri="{FF2B5EF4-FFF2-40B4-BE49-F238E27FC236}">
                <a16:creationId xmlns:a16="http://schemas.microsoft.com/office/drawing/2014/main" id="{6572BDE7-6E45-12BC-3F9A-8F31746EF575}"/>
              </a:ext>
            </a:extLst>
          </p:cNvPr>
          <p:cNvSpPr txBox="1"/>
          <p:nvPr/>
        </p:nvSpPr>
        <p:spPr>
          <a:xfrm>
            <a:off x="9550045" y="5096877"/>
            <a:ext cx="1332416" cy="307777"/>
          </a:xfrm>
          <a:prstGeom prst="rect">
            <a:avLst/>
          </a:prstGeom>
          <a:noFill/>
        </p:spPr>
        <p:txBody>
          <a:bodyPr wrap="none" rtlCol="0">
            <a:spAutoFit/>
          </a:bodyPr>
          <a:lstStyle/>
          <a:p>
            <a:r>
              <a:rPr lang="en-HK" sz="1400" dirty="0">
                <a:solidFill>
                  <a:srgbClr val="FFFF00"/>
                </a:solidFill>
              </a:rPr>
              <a:t>Main direction</a:t>
            </a:r>
          </a:p>
        </p:txBody>
      </p:sp>
      <p:sp>
        <p:nvSpPr>
          <p:cNvPr id="18" name="文字方塊 17">
            <a:extLst>
              <a:ext uri="{FF2B5EF4-FFF2-40B4-BE49-F238E27FC236}">
                <a16:creationId xmlns:a16="http://schemas.microsoft.com/office/drawing/2014/main" id="{95672C68-332A-7AEE-1B92-425B51089706}"/>
              </a:ext>
            </a:extLst>
          </p:cNvPr>
          <p:cNvSpPr txBox="1"/>
          <p:nvPr/>
        </p:nvSpPr>
        <p:spPr>
          <a:xfrm>
            <a:off x="8677427" y="6223924"/>
            <a:ext cx="1636602" cy="307777"/>
          </a:xfrm>
          <a:prstGeom prst="rect">
            <a:avLst/>
          </a:prstGeom>
          <a:noFill/>
        </p:spPr>
        <p:txBody>
          <a:bodyPr wrap="none" rtlCol="0">
            <a:spAutoFit/>
          </a:bodyPr>
          <a:lstStyle/>
          <a:p>
            <a:r>
              <a:rPr lang="en-HK" sz="1400" dirty="0">
                <a:solidFill>
                  <a:srgbClr val="FFFF00"/>
                </a:solidFill>
              </a:rPr>
              <a:t>Saved point (Pink)</a:t>
            </a:r>
          </a:p>
        </p:txBody>
      </p:sp>
      <p:sp>
        <p:nvSpPr>
          <p:cNvPr id="20" name="文字方塊 19">
            <a:extLst>
              <a:ext uri="{FF2B5EF4-FFF2-40B4-BE49-F238E27FC236}">
                <a16:creationId xmlns:a16="http://schemas.microsoft.com/office/drawing/2014/main" id="{EAD69ED8-A636-31CD-4846-678224473FD7}"/>
              </a:ext>
            </a:extLst>
          </p:cNvPr>
          <p:cNvSpPr txBox="1"/>
          <p:nvPr/>
        </p:nvSpPr>
        <p:spPr>
          <a:xfrm>
            <a:off x="10294875" y="6088595"/>
            <a:ext cx="1580497" cy="307777"/>
          </a:xfrm>
          <a:prstGeom prst="rect">
            <a:avLst/>
          </a:prstGeom>
          <a:noFill/>
        </p:spPr>
        <p:txBody>
          <a:bodyPr wrap="none" rtlCol="0">
            <a:spAutoFit/>
          </a:bodyPr>
          <a:lstStyle/>
          <a:p>
            <a:r>
              <a:rPr lang="en-HK" sz="1400" dirty="0">
                <a:solidFill>
                  <a:srgbClr val="FFFF00"/>
                </a:solidFill>
              </a:rPr>
              <a:t>Waypoint (White)</a:t>
            </a:r>
          </a:p>
        </p:txBody>
      </p:sp>
      <p:cxnSp>
        <p:nvCxnSpPr>
          <p:cNvPr id="21" name="直線單箭頭接點 20">
            <a:extLst>
              <a:ext uri="{FF2B5EF4-FFF2-40B4-BE49-F238E27FC236}">
                <a16:creationId xmlns:a16="http://schemas.microsoft.com/office/drawing/2014/main" id="{46DE1C9F-2E23-A2AD-C53F-621199F7B1F0}"/>
              </a:ext>
            </a:extLst>
          </p:cNvPr>
          <p:cNvCxnSpPr>
            <a:cxnSpLocks/>
          </p:cNvCxnSpPr>
          <p:nvPr/>
        </p:nvCxnSpPr>
        <p:spPr>
          <a:xfrm flipH="1">
            <a:off x="11295017" y="4638388"/>
            <a:ext cx="230550" cy="255829"/>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23" name="直線單箭頭接點 22">
            <a:extLst>
              <a:ext uri="{FF2B5EF4-FFF2-40B4-BE49-F238E27FC236}">
                <a16:creationId xmlns:a16="http://schemas.microsoft.com/office/drawing/2014/main" id="{B79E880C-704F-90F4-CCDC-EC4F32CF9EE7}"/>
              </a:ext>
            </a:extLst>
          </p:cNvPr>
          <p:cNvCxnSpPr>
            <a:cxnSpLocks/>
            <a:stCxn id="16" idx="2"/>
          </p:cNvCxnSpPr>
          <p:nvPr/>
        </p:nvCxnSpPr>
        <p:spPr>
          <a:xfrm>
            <a:off x="10216253" y="5404654"/>
            <a:ext cx="599793" cy="203666"/>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7A9E1644-9012-4E8D-D29C-8B8E0A443B12}"/>
              </a:ext>
            </a:extLst>
          </p:cNvPr>
          <p:cNvCxnSpPr>
            <a:cxnSpLocks/>
            <a:stCxn id="16" idx="2"/>
          </p:cNvCxnSpPr>
          <p:nvPr/>
        </p:nvCxnSpPr>
        <p:spPr>
          <a:xfrm flipH="1">
            <a:off x="9550045" y="5404654"/>
            <a:ext cx="666208" cy="214435"/>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cxnSp>
        <p:nvCxnSpPr>
          <p:cNvPr id="31" name="直線單箭頭接點 30">
            <a:extLst>
              <a:ext uri="{FF2B5EF4-FFF2-40B4-BE49-F238E27FC236}">
                <a16:creationId xmlns:a16="http://schemas.microsoft.com/office/drawing/2014/main" id="{0AAF1974-47B9-3A17-0C02-451A660BA946}"/>
              </a:ext>
            </a:extLst>
          </p:cNvPr>
          <p:cNvCxnSpPr>
            <a:cxnSpLocks/>
          </p:cNvCxnSpPr>
          <p:nvPr/>
        </p:nvCxnSpPr>
        <p:spPr>
          <a:xfrm flipH="1">
            <a:off x="3157336" y="2905690"/>
            <a:ext cx="918963" cy="91756"/>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33" name="直線單箭頭接點 32">
            <a:extLst>
              <a:ext uri="{FF2B5EF4-FFF2-40B4-BE49-F238E27FC236}">
                <a16:creationId xmlns:a16="http://schemas.microsoft.com/office/drawing/2014/main" id="{16AFC951-F0B7-9691-87DB-3F9F83704C35}"/>
              </a:ext>
            </a:extLst>
          </p:cNvPr>
          <p:cNvCxnSpPr>
            <a:cxnSpLocks/>
          </p:cNvCxnSpPr>
          <p:nvPr/>
        </p:nvCxnSpPr>
        <p:spPr>
          <a:xfrm flipH="1" flipV="1">
            <a:off x="3457575" y="1926549"/>
            <a:ext cx="618724" cy="416057"/>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0" name="矩形 39">
            <a:extLst>
              <a:ext uri="{FF2B5EF4-FFF2-40B4-BE49-F238E27FC236}">
                <a16:creationId xmlns:a16="http://schemas.microsoft.com/office/drawing/2014/main" id="{E6808E09-478F-F138-1152-5604C867D405}"/>
              </a:ext>
            </a:extLst>
          </p:cNvPr>
          <p:cNvSpPr/>
          <p:nvPr/>
        </p:nvSpPr>
        <p:spPr>
          <a:xfrm>
            <a:off x="260523" y="2134577"/>
            <a:ext cx="793214" cy="591206"/>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cxnSp>
        <p:nvCxnSpPr>
          <p:cNvPr id="41" name="直線單箭頭接點 40">
            <a:extLst>
              <a:ext uri="{FF2B5EF4-FFF2-40B4-BE49-F238E27FC236}">
                <a16:creationId xmlns:a16="http://schemas.microsoft.com/office/drawing/2014/main" id="{BF827A29-E3F7-0DB0-665E-28486495B646}"/>
              </a:ext>
            </a:extLst>
          </p:cNvPr>
          <p:cNvCxnSpPr>
            <a:cxnSpLocks/>
          </p:cNvCxnSpPr>
          <p:nvPr/>
        </p:nvCxnSpPr>
        <p:spPr>
          <a:xfrm flipH="1" flipV="1">
            <a:off x="1175657" y="2602085"/>
            <a:ext cx="2841656" cy="84265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4" name="矩形 43">
            <a:extLst>
              <a:ext uri="{FF2B5EF4-FFF2-40B4-BE49-F238E27FC236}">
                <a16:creationId xmlns:a16="http://schemas.microsoft.com/office/drawing/2014/main" id="{CFBE334E-8E98-D74A-B011-755EFF19B9C3}"/>
              </a:ext>
            </a:extLst>
          </p:cNvPr>
          <p:cNvSpPr/>
          <p:nvPr/>
        </p:nvSpPr>
        <p:spPr>
          <a:xfrm>
            <a:off x="234397" y="4955162"/>
            <a:ext cx="3223178" cy="1505192"/>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45" name="文字方塊 44">
            <a:extLst>
              <a:ext uri="{FF2B5EF4-FFF2-40B4-BE49-F238E27FC236}">
                <a16:creationId xmlns:a16="http://schemas.microsoft.com/office/drawing/2014/main" id="{1203A29E-12CE-0352-B372-37CA6E566AEC}"/>
              </a:ext>
            </a:extLst>
          </p:cNvPr>
          <p:cNvSpPr txBox="1"/>
          <p:nvPr/>
        </p:nvSpPr>
        <p:spPr>
          <a:xfrm>
            <a:off x="4017313" y="5585953"/>
            <a:ext cx="3985386" cy="923330"/>
          </a:xfrm>
          <a:prstGeom prst="rect">
            <a:avLst/>
          </a:prstGeom>
          <a:noFill/>
        </p:spPr>
        <p:txBody>
          <a:bodyPr wrap="none" rtlCol="0">
            <a:spAutoFit/>
          </a:bodyPr>
          <a:lstStyle/>
          <a:p>
            <a:r>
              <a:rPr lang="en-HK" dirty="0"/>
              <a:t>Saved Paths:</a:t>
            </a:r>
            <a:br>
              <a:rPr lang="en-HK" dirty="0"/>
            </a:br>
            <a:r>
              <a:rPr lang="en-HK" dirty="0"/>
              <a:t>Stores and loads entire motion paths</a:t>
            </a:r>
            <a:br>
              <a:rPr lang="en-HK" dirty="0"/>
            </a:br>
            <a:r>
              <a:rPr lang="en-HK" dirty="0"/>
              <a:t>(to be explained further later)</a:t>
            </a:r>
          </a:p>
        </p:txBody>
      </p:sp>
      <p:cxnSp>
        <p:nvCxnSpPr>
          <p:cNvPr id="46" name="直線單箭頭接點 45">
            <a:extLst>
              <a:ext uri="{FF2B5EF4-FFF2-40B4-BE49-F238E27FC236}">
                <a16:creationId xmlns:a16="http://schemas.microsoft.com/office/drawing/2014/main" id="{33BD0BCD-8932-FF96-D0FD-79380B7C8EF1}"/>
              </a:ext>
            </a:extLst>
          </p:cNvPr>
          <p:cNvCxnSpPr>
            <a:cxnSpLocks/>
            <a:stCxn id="45" idx="1"/>
            <a:endCxn id="44" idx="3"/>
          </p:cNvCxnSpPr>
          <p:nvPr/>
        </p:nvCxnSpPr>
        <p:spPr>
          <a:xfrm flipH="1" flipV="1">
            <a:off x="3457575" y="5707758"/>
            <a:ext cx="559738" cy="33986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48" name="文字方塊 47">
            <a:extLst>
              <a:ext uri="{FF2B5EF4-FFF2-40B4-BE49-F238E27FC236}">
                <a16:creationId xmlns:a16="http://schemas.microsoft.com/office/drawing/2014/main" id="{8DF4B48F-D6C4-CD94-5533-D37B46E0F23B}"/>
              </a:ext>
            </a:extLst>
          </p:cNvPr>
          <p:cNvSpPr txBox="1"/>
          <p:nvPr/>
        </p:nvSpPr>
        <p:spPr>
          <a:xfrm>
            <a:off x="4076299" y="4262693"/>
            <a:ext cx="4351624" cy="1200329"/>
          </a:xfrm>
          <a:prstGeom prst="rect">
            <a:avLst/>
          </a:prstGeom>
          <a:noFill/>
        </p:spPr>
        <p:txBody>
          <a:bodyPr wrap="square" rtlCol="0">
            <a:spAutoFit/>
          </a:bodyPr>
          <a:lstStyle/>
          <a:p>
            <a:r>
              <a:rPr lang="en-HK" dirty="0"/>
              <a:t>Bookmarks can be saved either locally per project, or globally to be shared across multiple files</a:t>
            </a:r>
          </a:p>
          <a:p>
            <a:endParaRPr lang="en-HK" dirty="0"/>
          </a:p>
        </p:txBody>
      </p:sp>
    </p:spTree>
    <p:extLst>
      <p:ext uri="{BB962C8B-B14F-4D97-AF65-F5344CB8AC3E}">
        <p14:creationId xmlns:p14="http://schemas.microsoft.com/office/powerpoint/2010/main" val="4164976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F99595-FE2F-E1D9-A956-7D66E7578B5F}"/>
              </a:ext>
            </a:extLst>
          </p:cNvPr>
          <p:cNvSpPr>
            <a:spLocks noGrp="1"/>
          </p:cNvSpPr>
          <p:nvPr>
            <p:ph type="title"/>
          </p:nvPr>
        </p:nvSpPr>
        <p:spPr/>
        <p:txBody>
          <a:bodyPr/>
          <a:lstStyle/>
          <a:p>
            <a:r>
              <a:rPr lang="en-HK" dirty="0"/>
              <a:t>Control Panel</a:t>
            </a:r>
          </a:p>
        </p:txBody>
      </p:sp>
      <p:pic>
        <p:nvPicPr>
          <p:cNvPr id="8" name="內容版面配置區 7">
            <a:extLst>
              <a:ext uri="{FF2B5EF4-FFF2-40B4-BE49-F238E27FC236}">
                <a16:creationId xmlns:a16="http://schemas.microsoft.com/office/drawing/2014/main" id="{3A28B323-0E4A-6BC1-5B75-E7C90C2CB378}"/>
              </a:ext>
            </a:extLst>
          </p:cNvPr>
          <p:cNvPicPr>
            <a:picLocks noGrp="1" noChangeAspect="1"/>
          </p:cNvPicPr>
          <p:nvPr>
            <p:ph idx="1"/>
          </p:nvPr>
        </p:nvPicPr>
        <p:blipFill>
          <a:blip r:embed="rId2"/>
          <a:stretch>
            <a:fillRect/>
          </a:stretch>
        </p:blipFill>
        <p:spPr>
          <a:xfrm>
            <a:off x="265696" y="1714260"/>
            <a:ext cx="3992562" cy="4534140"/>
          </a:xfrm>
          <a:prstGeom prst="rect">
            <a:avLst/>
          </a:prstGeom>
        </p:spPr>
      </p:pic>
      <p:sp>
        <p:nvSpPr>
          <p:cNvPr id="4" name="投影片編號版面配置區 3">
            <a:extLst>
              <a:ext uri="{FF2B5EF4-FFF2-40B4-BE49-F238E27FC236}">
                <a16:creationId xmlns:a16="http://schemas.microsoft.com/office/drawing/2014/main" id="{841EE403-2BB7-0AA2-4160-81264B3714E1}"/>
              </a:ext>
            </a:extLst>
          </p:cNvPr>
          <p:cNvSpPr>
            <a:spLocks noGrp="1"/>
          </p:cNvSpPr>
          <p:nvPr>
            <p:ph type="sldNum" sz="quarter" idx="12"/>
          </p:nvPr>
        </p:nvSpPr>
        <p:spPr/>
        <p:txBody>
          <a:bodyPr/>
          <a:lstStyle/>
          <a:p>
            <a:fld id="{CF9A1619-F87A-4FCD-8947-EF4132FEEC38}" type="slidenum">
              <a:rPr lang="zh-HK" altLang="en-US" smtClean="0"/>
              <a:t>9</a:t>
            </a:fld>
            <a:endParaRPr lang="zh-HK" altLang="en-US"/>
          </a:p>
        </p:txBody>
      </p:sp>
      <p:sp>
        <p:nvSpPr>
          <p:cNvPr id="9" name="文字方塊 8">
            <a:extLst>
              <a:ext uri="{FF2B5EF4-FFF2-40B4-BE49-F238E27FC236}">
                <a16:creationId xmlns:a16="http://schemas.microsoft.com/office/drawing/2014/main" id="{AA862EFF-1670-8D23-7321-7A6952223E7B}"/>
              </a:ext>
            </a:extLst>
          </p:cNvPr>
          <p:cNvSpPr txBox="1"/>
          <p:nvPr/>
        </p:nvSpPr>
        <p:spPr>
          <a:xfrm>
            <a:off x="5198888" y="1391094"/>
            <a:ext cx="3916457" cy="646331"/>
          </a:xfrm>
          <a:prstGeom prst="rect">
            <a:avLst/>
          </a:prstGeom>
          <a:noFill/>
        </p:spPr>
        <p:txBody>
          <a:bodyPr wrap="none" rtlCol="0">
            <a:spAutoFit/>
          </a:bodyPr>
          <a:lstStyle/>
          <a:p>
            <a:r>
              <a:rPr lang="en-HK" dirty="0"/>
              <a:t>Move real robot to sim bot pose</a:t>
            </a:r>
            <a:br>
              <a:rPr lang="en-HK" dirty="0"/>
            </a:br>
            <a:r>
              <a:rPr lang="en-HK" dirty="0"/>
              <a:t>(linear speed adjustable in settings)</a:t>
            </a:r>
          </a:p>
        </p:txBody>
      </p:sp>
      <p:sp>
        <p:nvSpPr>
          <p:cNvPr id="10" name="文字方塊 9">
            <a:extLst>
              <a:ext uri="{FF2B5EF4-FFF2-40B4-BE49-F238E27FC236}">
                <a16:creationId xmlns:a16="http://schemas.microsoft.com/office/drawing/2014/main" id="{23B1D9E7-2BA1-9199-E8FF-F16A7E1D5E69}"/>
              </a:ext>
            </a:extLst>
          </p:cNvPr>
          <p:cNvSpPr txBox="1"/>
          <p:nvPr/>
        </p:nvSpPr>
        <p:spPr>
          <a:xfrm>
            <a:off x="5198888" y="2404585"/>
            <a:ext cx="5863782" cy="1477328"/>
          </a:xfrm>
          <a:prstGeom prst="rect">
            <a:avLst/>
          </a:prstGeom>
          <a:noFill/>
        </p:spPr>
        <p:txBody>
          <a:bodyPr wrap="square" rtlCol="0">
            <a:spAutoFit/>
          </a:bodyPr>
          <a:lstStyle/>
          <a:p>
            <a:r>
              <a:rPr lang="en-HK" dirty="0"/>
              <a:t>Bake Path:</a:t>
            </a:r>
          </a:p>
          <a:p>
            <a:pPr marL="342900" indent="-342900">
              <a:buAutoNum type="arabicPeriod"/>
            </a:pPr>
            <a:r>
              <a:rPr lang="en-HK" dirty="0"/>
              <a:t>Generate sample points along the path in constant spacing (adjustable distance) to approximate path</a:t>
            </a:r>
          </a:p>
          <a:p>
            <a:pPr marL="342900" indent="-342900">
              <a:buAutoNum type="arabicPeriod"/>
            </a:pPr>
            <a:r>
              <a:rPr lang="en-HK" dirty="0"/>
              <a:t>Check if points are valid poses (IK check)</a:t>
            </a:r>
          </a:p>
          <a:p>
            <a:pPr marL="342900" indent="-342900">
              <a:buAutoNum type="arabicPeriod"/>
            </a:pPr>
            <a:r>
              <a:rPr lang="en-HK" dirty="0"/>
              <a:t>Check if points are valid speed (speed check)</a:t>
            </a:r>
          </a:p>
        </p:txBody>
      </p:sp>
      <p:sp>
        <p:nvSpPr>
          <p:cNvPr id="11" name="文字方塊 10">
            <a:extLst>
              <a:ext uri="{FF2B5EF4-FFF2-40B4-BE49-F238E27FC236}">
                <a16:creationId xmlns:a16="http://schemas.microsoft.com/office/drawing/2014/main" id="{4DDB397C-369F-64FD-38BB-AA36F72CA835}"/>
              </a:ext>
            </a:extLst>
          </p:cNvPr>
          <p:cNvSpPr txBox="1"/>
          <p:nvPr/>
        </p:nvSpPr>
        <p:spPr>
          <a:xfrm>
            <a:off x="5198888" y="4356099"/>
            <a:ext cx="3217547" cy="646331"/>
          </a:xfrm>
          <a:prstGeom prst="rect">
            <a:avLst/>
          </a:prstGeom>
          <a:noFill/>
        </p:spPr>
        <p:txBody>
          <a:bodyPr wrap="none" rtlCol="0">
            <a:spAutoFit/>
          </a:bodyPr>
          <a:lstStyle/>
          <a:p>
            <a:r>
              <a:rPr lang="en-HK" b="1" dirty="0">
                <a:solidFill>
                  <a:schemeClr val="accent2"/>
                </a:solidFill>
              </a:rPr>
              <a:t>Simulate</a:t>
            </a:r>
            <a:r>
              <a:rPr lang="en-HK" dirty="0"/>
              <a:t> path run after bake</a:t>
            </a:r>
            <a:br>
              <a:rPr lang="en-HK" dirty="0"/>
            </a:br>
            <a:r>
              <a:rPr lang="en-HK" b="1" dirty="0">
                <a:solidFill>
                  <a:srgbClr val="FFC000"/>
                </a:solidFill>
              </a:rPr>
              <a:t>Run</a:t>
            </a:r>
            <a:r>
              <a:rPr lang="en-HK" dirty="0"/>
              <a:t> path after bake</a:t>
            </a:r>
          </a:p>
        </p:txBody>
      </p:sp>
      <p:sp>
        <p:nvSpPr>
          <p:cNvPr id="12" name="文字方塊 11">
            <a:extLst>
              <a:ext uri="{FF2B5EF4-FFF2-40B4-BE49-F238E27FC236}">
                <a16:creationId xmlns:a16="http://schemas.microsoft.com/office/drawing/2014/main" id="{8D46F1EF-ADBC-C430-1E5A-C5CDA8EFD5BE}"/>
              </a:ext>
            </a:extLst>
          </p:cNvPr>
          <p:cNvSpPr txBox="1"/>
          <p:nvPr/>
        </p:nvSpPr>
        <p:spPr>
          <a:xfrm>
            <a:off x="5050971" y="5466906"/>
            <a:ext cx="4796506" cy="369332"/>
          </a:xfrm>
          <a:prstGeom prst="rect">
            <a:avLst/>
          </a:prstGeom>
          <a:noFill/>
        </p:spPr>
        <p:txBody>
          <a:bodyPr wrap="none" rtlCol="0">
            <a:spAutoFit/>
          </a:bodyPr>
          <a:lstStyle/>
          <a:p>
            <a:r>
              <a:rPr lang="en-HK" dirty="0"/>
              <a:t>Set motion path to be repeatable (untested)</a:t>
            </a:r>
          </a:p>
        </p:txBody>
      </p:sp>
      <p:sp>
        <p:nvSpPr>
          <p:cNvPr id="13" name="文字方塊 12">
            <a:extLst>
              <a:ext uri="{FF2B5EF4-FFF2-40B4-BE49-F238E27FC236}">
                <a16:creationId xmlns:a16="http://schemas.microsoft.com/office/drawing/2014/main" id="{4E6282C6-989A-8077-97BF-1E15DBA0F4A9}"/>
              </a:ext>
            </a:extLst>
          </p:cNvPr>
          <p:cNvSpPr txBox="1"/>
          <p:nvPr/>
        </p:nvSpPr>
        <p:spPr>
          <a:xfrm>
            <a:off x="5050971" y="5816434"/>
            <a:ext cx="2995878" cy="369332"/>
          </a:xfrm>
          <a:prstGeom prst="rect">
            <a:avLst/>
          </a:prstGeom>
          <a:noFill/>
        </p:spPr>
        <p:txBody>
          <a:bodyPr wrap="square" rtlCol="0">
            <a:spAutoFit/>
          </a:bodyPr>
          <a:lstStyle/>
          <a:p>
            <a:r>
              <a:rPr lang="en-HK" dirty="0">
                <a:highlight>
                  <a:srgbClr val="FF0000"/>
                </a:highlight>
              </a:rPr>
              <a:t>Non video shooting related</a:t>
            </a:r>
          </a:p>
        </p:txBody>
      </p:sp>
      <p:cxnSp>
        <p:nvCxnSpPr>
          <p:cNvPr id="14" name="直線單箭頭接點 13">
            <a:extLst>
              <a:ext uri="{FF2B5EF4-FFF2-40B4-BE49-F238E27FC236}">
                <a16:creationId xmlns:a16="http://schemas.microsoft.com/office/drawing/2014/main" id="{8AB64899-4EBB-C6B5-C421-BD6E67163132}"/>
              </a:ext>
            </a:extLst>
          </p:cNvPr>
          <p:cNvCxnSpPr>
            <a:cxnSpLocks/>
          </p:cNvCxnSpPr>
          <p:nvPr/>
        </p:nvCxnSpPr>
        <p:spPr>
          <a:xfrm flipH="1">
            <a:off x="2917371" y="3360184"/>
            <a:ext cx="2281517" cy="262234"/>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6" name="直線單箭頭接點 15">
            <a:extLst>
              <a:ext uri="{FF2B5EF4-FFF2-40B4-BE49-F238E27FC236}">
                <a16:creationId xmlns:a16="http://schemas.microsoft.com/office/drawing/2014/main" id="{20FE5840-BDD0-C48B-6F88-D69D837EB5FE}"/>
              </a:ext>
            </a:extLst>
          </p:cNvPr>
          <p:cNvCxnSpPr>
            <a:cxnSpLocks/>
          </p:cNvCxnSpPr>
          <p:nvPr/>
        </p:nvCxnSpPr>
        <p:spPr>
          <a:xfrm flipH="1">
            <a:off x="2856411" y="1755008"/>
            <a:ext cx="2342476" cy="51814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8" name="直線單箭頭接點 17">
            <a:extLst>
              <a:ext uri="{FF2B5EF4-FFF2-40B4-BE49-F238E27FC236}">
                <a16:creationId xmlns:a16="http://schemas.microsoft.com/office/drawing/2014/main" id="{F76411AD-D4B7-BA40-018D-676282E4B619}"/>
              </a:ext>
            </a:extLst>
          </p:cNvPr>
          <p:cNvCxnSpPr>
            <a:cxnSpLocks/>
          </p:cNvCxnSpPr>
          <p:nvPr/>
        </p:nvCxnSpPr>
        <p:spPr>
          <a:xfrm flipH="1">
            <a:off x="4162697" y="4625600"/>
            <a:ext cx="1066605" cy="21191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0" name="直線單箭頭接點 19">
            <a:extLst>
              <a:ext uri="{FF2B5EF4-FFF2-40B4-BE49-F238E27FC236}">
                <a16:creationId xmlns:a16="http://schemas.microsoft.com/office/drawing/2014/main" id="{6E78C219-F9C7-D559-B12D-3362CFF3313E}"/>
              </a:ext>
            </a:extLst>
          </p:cNvPr>
          <p:cNvCxnSpPr>
            <a:cxnSpLocks/>
          </p:cNvCxnSpPr>
          <p:nvPr/>
        </p:nvCxnSpPr>
        <p:spPr>
          <a:xfrm flipH="1" flipV="1">
            <a:off x="3805646" y="5651572"/>
            <a:ext cx="1312458" cy="18912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088608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9A4A8D-E722-C0D1-F062-657244A47152}"/>
              </a:ext>
            </a:extLst>
          </p:cNvPr>
          <p:cNvSpPr>
            <a:spLocks noGrp="1"/>
          </p:cNvSpPr>
          <p:nvPr>
            <p:ph type="title"/>
          </p:nvPr>
        </p:nvSpPr>
        <p:spPr/>
        <p:txBody>
          <a:bodyPr/>
          <a:lstStyle/>
          <a:p>
            <a:r>
              <a:rPr lang="en-HK" dirty="0"/>
              <a:t>Path Baking</a:t>
            </a:r>
          </a:p>
        </p:txBody>
      </p:sp>
      <p:sp>
        <p:nvSpPr>
          <p:cNvPr id="3" name="內容版面配置區 2">
            <a:extLst>
              <a:ext uri="{FF2B5EF4-FFF2-40B4-BE49-F238E27FC236}">
                <a16:creationId xmlns:a16="http://schemas.microsoft.com/office/drawing/2014/main" id="{49ADB38A-B6B9-04E7-E001-A44F8A4843E1}"/>
              </a:ext>
            </a:extLst>
          </p:cNvPr>
          <p:cNvSpPr>
            <a:spLocks noGrp="1"/>
          </p:cNvSpPr>
          <p:nvPr>
            <p:ph idx="1"/>
          </p:nvPr>
        </p:nvSpPr>
        <p:spPr>
          <a:xfrm>
            <a:off x="677333" y="1270000"/>
            <a:ext cx="9047691" cy="3880773"/>
          </a:xfrm>
        </p:spPr>
        <p:txBody>
          <a:bodyPr/>
          <a:lstStyle/>
          <a:p>
            <a:r>
              <a:rPr lang="en-HK" dirty="0"/>
              <a:t>1. Generate Sample Points to approximate path</a:t>
            </a:r>
          </a:p>
          <a:p>
            <a:pPr lvl="1"/>
            <a:r>
              <a:rPr lang="en-HK" dirty="0"/>
              <a:t>Sample points are jotted by distance instead of time as the time frames are adjustable in the timeline post bake</a:t>
            </a:r>
          </a:p>
          <a:p>
            <a:r>
              <a:rPr lang="en-HK" dirty="0"/>
              <a:t>2. To check if path has valid </a:t>
            </a:r>
            <a:r>
              <a:rPr lang="en-HK" dirty="0" err="1"/>
              <a:t>Iks</a:t>
            </a:r>
            <a:endParaRPr lang="en-HK" dirty="0"/>
          </a:p>
          <a:p>
            <a:r>
              <a:rPr lang="en-HK" dirty="0"/>
              <a:t>3. To Check if points are spaced and timed appropriately such that robot does not run over </a:t>
            </a:r>
            <a:r>
              <a:rPr lang="en-HK" dirty="0">
                <a:highlight>
                  <a:srgbClr val="FFFF00"/>
                </a:highlight>
              </a:rPr>
              <a:t>speed (Note: speed test seems to pass no matter what at the moment)</a:t>
            </a:r>
          </a:p>
          <a:p>
            <a:r>
              <a:rPr lang="en-HK" dirty="0"/>
              <a:t>Any changes to timeline or waypoints position requires a full </a:t>
            </a:r>
            <a:r>
              <a:rPr lang="en-HK" dirty="0" err="1"/>
              <a:t>rebake</a:t>
            </a:r>
            <a:endParaRPr lang="en-HK" dirty="0"/>
          </a:p>
          <a:p>
            <a:r>
              <a:rPr lang="en-HK" dirty="0"/>
              <a:t>Bake States: white/Grey: Unbaked, </a:t>
            </a:r>
            <a:r>
              <a:rPr lang="en-HK" dirty="0">
                <a:solidFill>
                  <a:srgbClr val="FF3300"/>
                </a:solidFill>
              </a:rPr>
              <a:t>Red</a:t>
            </a:r>
            <a:r>
              <a:rPr lang="en-HK" dirty="0"/>
              <a:t>: IK failed, </a:t>
            </a:r>
            <a:r>
              <a:rPr lang="en-HK" dirty="0">
                <a:solidFill>
                  <a:srgbClr val="00B050"/>
                </a:solidFill>
              </a:rPr>
              <a:t>Green</a:t>
            </a:r>
            <a:r>
              <a:rPr lang="en-HK" dirty="0"/>
              <a:t>: Everything OK, </a:t>
            </a:r>
            <a:r>
              <a:rPr lang="en-HK" dirty="0">
                <a:solidFill>
                  <a:srgbClr val="0070C0"/>
                </a:solidFill>
              </a:rPr>
              <a:t>Blue</a:t>
            </a:r>
            <a:r>
              <a:rPr lang="en-HK" dirty="0"/>
              <a:t>: Force FK Mode (to be elaborated later), </a:t>
            </a:r>
            <a:r>
              <a:rPr lang="en-HK" dirty="0">
                <a:solidFill>
                  <a:srgbClr val="E09B20"/>
                </a:solidFill>
              </a:rPr>
              <a:t>Orange</a:t>
            </a:r>
            <a:r>
              <a:rPr lang="en-HK" dirty="0"/>
              <a:t>: IK OK but speed too fast, </a:t>
            </a:r>
            <a:r>
              <a:rPr lang="en-HK" dirty="0">
                <a:solidFill>
                  <a:srgbClr val="616719"/>
                </a:solidFill>
              </a:rPr>
              <a:t>Yellow</a:t>
            </a:r>
            <a:r>
              <a:rPr lang="en-HK" dirty="0"/>
              <a:t>: IK checked but not yet speed</a:t>
            </a:r>
          </a:p>
        </p:txBody>
      </p:sp>
      <p:sp>
        <p:nvSpPr>
          <p:cNvPr id="4" name="投影片編號版面配置區 3">
            <a:extLst>
              <a:ext uri="{FF2B5EF4-FFF2-40B4-BE49-F238E27FC236}">
                <a16:creationId xmlns:a16="http://schemas.microsoft.com/office/drawing/2014/main" id="{7A25DCCD-F0AD-34B3-7E20-2F489E16A610}"/>
              </a:ext>
            </a:extLst>
          </p:cNvPr>
          <p:cNvSpPr>
            <a:spLocks noGrp="1"/>
          </p:cNvSpPr>
          <p:nvPr>
            <p:ph type="sldNum" sz="quarter" idx="12"/>
          </p:nvPr>
        </p:nvSpPr>
        <p:spPr>
          <a:xfrm>
            <a:off x="8303281" y="6055653"/>
            <a:ext cx="683339" cy="365125"/>
          </a:xfrm>
        </p:spPr>
        <p:txBody>
          <a:bodyPr/>
          <a:lstStyle/>
          <a:p>
            <a:fld id="{CF9A1619-F87A-4FCD-8947-EF4132FEEC38}" type="slidenum">
              <a:rPr lang="zh-HK" altLang="en-US" smtClean="0"/>
              <a:t>10</a:t>
            </a:fld>
            <a:endParaRPr lang="zh-HK" altLang="en-US"/>
          </a:p>
        </p:txBody>
      </p:sp>
      <p:pic>
        <p:nvPicPr>
          <p:cNvPr id="6" name="圖片 5">
            <a:extLst>
              <a:ext uri="{FF2B5EF4-FFF2-40B4-BE49-F238E27FC236}">
                <a16:creationId xmlns:a16="http://schemas.microsoft.com/office/drawing/2014/main" id="{29216F97-3269-58B2-8F76-808CCA769852}"/>
              </a:ext>
            </a:extLst>
          </p:cNvPr>
          <p:cNvPicPr>
            <a:picLocks noChangeAspect="1"/>
          </p:cNvPicPr>
          <p:nvPr/>
        </p:nvPicPr>
        <p:blipFill>
          <a:blip r:embed="rId2"/>
          <a:stretch>
            <a:fillRect/>
          </a:stretch>
        </p:blipFill>
        <p:spPr>
          <a:xfrm>
            <a:off x="145093" y="4775694"/>
            <a:ext cx="3315163" cy="1009791"/>
          </a:xfrm>
          <a:prstGeom prst="rect">
            <a:avLst/>
          </a:prstGeom>
        </p:spPr>
      </p:pic>
      <p:pic>
        <p:nvPicPr>
          <p:cNvPr id="8" name="圖片 7">
            <a:extLst>
              <a:ext uri="{FF2B5EF4-FFF2-40B4-BE49-F238E27FC236}">
                <a16:creationId xmlns:a16="http://schemas.microsoft.com/office/drawing/2014/main" id="{26818617-D84D-589D-62EC-DDCEFEC385D7}"/>
              </a:ext>
            </a:extLst>
          </p:cNvPr>
          <p:cNvPicPr>
            <a:picLocks noChangeAspect="1"/>
          </p:cNvPicPr>
          <p:nvPr/>
        </p:nvPicPr>
        <p:blipFill>
          <a:blip r:embed="rId3"/>
          <a:stretch>
            <a:fillRect/>
          </a:stretch>
        </p:blipFill>
        <p:spPr>
          <a:xfrm>
            <a:off x="3608165" y="4775693"/>
            <a:ext cx="2984493" cy="1009791"/>
          </a:xfrm>
          <a:prstGeom prst="rect">
            <a:avLst/>
          </a:prstGeom>
        </p:spPr>
      </p:pic>
      <p:pic>
        <p:nvPicPr>
          <p:cNvPr id="10" name="圖片 9">
            <a:extLst>
              <a:ext uri="{FF2B5EF4-FFF2-40B4-BE49-F238E27FC236}">
                <a16:creationId xmlns:a16="http://schemas.microsoft.com/office/drawing/2014/main" id="{F6728D0C-AC48-684F-7C2F-C2B5A175A872}"/>
              </a:ext>
            </a:extLst>
          </p:cNvPr>
          <p:cNvPicPr>
            <a:picLocks noChangeAspect="1"/>
          </p:cNvPicPr>
          <p:nvPr/>
        </p:nvPicPr>
        <p:blipFill>
          <a:blip r:embed="rId4"/>
          <a:stretch>
            <a:fillRect/>
          </a:stretch>
        </p:blipFill>
        <p:spPr>
          <a:xfrm>
            <a:off x="8654625" y="4747114"/>
            <a:ext cx="3057952" cy="1038370"/>
          </a:xfrm>
          <a:prstGeom prst="rect">
            <a:avLst/>
          </a:prstGeom>
        </p:spPr>
      </p:pic>
      <p:sp>
        <p:nvSpPr>
          <p:cNvPr id="11" name="文字方塊 10">
            <a:extLst>
              <a:ext uri="{FF2B5EF4-FFF2-40B4-BE49-F238E27FC236}">
                <a16:creationId xmlns:a16="http://schemas.microsoft.com/office/drawing/2014/main" id="{636055A0-6663-6B08-FF9B-6B05CEFDD7A6}"/>
              </a:ext>
            </a:extLst>
          </p:cNvPr>
          <p:cNvSpPr txBox="1"/>
          <p:nvPr/>
        </p:nvSpPr>
        <p:spPr>
          <a:xfrm>
            <a:off x="758448" y="6051446"/>
            <a:ext cx="2555508" cy="369332"/>
          </a:xfrm>
          <a:prstGeom prst="rect">
            <a:avLst/>
          </a:prstGeom>
          <a:noFill/>
        </p:spPr>
        <p:txBody>
          <a:bodyPr wrap="none" rtlCol="0">
            <a:spAutoFit/>
          </a:bodyPr>
          <a:lstStyle/>
          <a:p>
            <a:r>
              <a:rPr lang="en-HK" dirty="0"/>
              <a:t>Waypoints passed bake</a:t>
            </a:r>
          </a:p>
        </p:txBody>
      </p:sp>
      <p:sp>
        <p:nvSpPr>
          <p:cNvPr id="13" name="文字方塊 12">
            <a:extLst>
              <a:ext uri="{FF2B5EF4-FFF2-40B4-BE49-F238E27FC236}">
                <a16:creationId xmlns:a16="http://schemas.microsoft.com/office/drawing/2014/main" id="{74EC96F2-816E-F023-57AC-629294FEA62F}"/>
              </a:ext>
            </a:extLst>
          </p:cNvPr>
          <p:cNvSpPr txBox="1"/>
          <p:nvPr/>
        </p:nvSpPr>
        <p:spPr>
          <a:xfrm>
            <a:off x="3822657" y="6051446"/>
            <a:ext cx="2459328" cy="369332"/>
          </a:xfrm>
          <a:prstGeom prst="rect">
            <a:avLst/>
          </a:prstGeom>
          <a:noFill/>
        </p:spPr>
        <p:txBody>
          <a:bodyPr wrap="none" rtlCol="0">
            <a:spAutoFit/>
          </a:bodyPr>
          <a:lstStyle/>
          <a:p>
            <a:r>
              <a:rPr lang="en-HK" dirty="0"/>
              <a:t>Waypoints failed bake</a:t>
            </a:r>
          </a:p>
        </p:txBody>
      </p:sp>
      <p:sp>
        <p:nvSpPr>
          <p:cNvPr id="15" name="文字方塊 14">
            <a:extLst>
              <a:ext uri="{FF2B5EF4-FFF2-40B4-BE49-F238E27FC236}">
                <a16:creationId xmlns:a16="http://schemas.microsoft.com/office/drawing/2014/main" id="{D005F120-EEE5-37F1-8E10-70FFC82AC603}"/>
              </a:ext>
            </a:extLst>
          </p:cNvPr>
          <p:cNvSpPr txBox="1"/>
          <p:nvPr/>
        </p:nvSpPr>
        <p:spPr>
          <a:xfrm>
            <a:off x="6431112" y="6008644"/>
            <a:ext cx="2462534" cy="646331"/>
          </a:xfrm>
          <a:prstGeom prst="rect">
            <a:avLst/>
          </a:prstGeom>
          <a:noFill/>
        </p:spPr>
        <p:txBody>
          <a:bodyPr wrap="none" rtlCol="0">
            <a:spAutoFit/>
          </a:bodyPr>
          <a:lstStyle/>
          <a:p>
            <a:r>
              <a:rPr lang="en-HK" dirty="0"/>
              <a:t>Waypoint passed bake</a:t>
            </a:r>
            <a:br>
              <a:rPr lang="en-HK" dirty="0"/>
            </a:br>
            <a:r>
              <a:rPr lang="en-HK" dirty="0"/>
              <a:t>but is too fast</a:t>
            </a:r>
          </a:p>
        </p:txBody>
      </p:sp>
      <p:pic>
        <p:nvPicPr>
          <p:cNvPr id="17" name="圖片 16">
            <a:extLst>
              <a:ext uri="{FF2B5EF4-FFF2-40B4-BE49-F238E27FC236}">
                <a16:creationId xmlns:a16="http://schemas.microsoft.com/office/drawing/2014/main" id="{6DED4A94-E6D6-FC61-B84E-3E899321E736}"/>
              </a:ext>
            </a:extLst>
          </p:cNvPr>
          <p:cNvPicPr>
            <a:picLocks noChangeAspect="1"/>
          </p:cNvPicPr>
          <p:nvPr/>
        </p:nvPicPr>
        <p:blipFill>
          <a:blip r:embed="rId5"/>
          <a:stretch>
            <a:fillRect/>
          </a:stretch>
        </p:blipFill>
        <p:spPr>
          <a:xfrm>
            <a:off x="6740567" y="4761403"/>
            <a:ext cx="1651429" cy="1009791"/>
          </a:xfrm>
          <a:prstGeom prst="rect">
            <a:avLst/>
          </a:prstGeom>
        </p:spPr>
      </p:pic>
      <p:sp>
        <p:nvSpPr>
          <p:cNvPr id="19" name="文字方塊 18">
            <a:extLst>
              <a:ext uri="{FF2B5EF4-FFF2-40B4-BE49-F238E27FC236}">
                <a16:creationId xmlns:a16="http://schemas.microsoft.com/office/drawing/2014/main" id="{FCFBA33E-EE35-01CD-614C-90812BC27C5F}"/>
              </a:ext>
            </a:extLst>
          </p:cNvPr>
          <p:cNvSpPr txBox="1"/>
          <p:nvPr/>
        </p:nvSpPr>
        <p:spPr>
          <a:xfrm>
            <a:off x="8831307" y="6042225"/>
            <a:ext cx="2704587" cy="369332"/>
          </a:xfrm>
          <a:prstGeom prst="rect">
            <a:avLst/>
          </a:prstGeom>
          <a:noFill/>
        </p:spPr>
        <p:txBody>
          <a:bodyPr wrap="none" rtlCol="0">
            <a:spAutoFit/>
          </a:bodyPr>
          <a:lstStyle/>
          <a:p>
            <a:r>
              <a:rPr lang="en-HK" dirty="0"/>
              <a:t>Waypoint using Force FK</a:t>
            </a:r>
          </a:p>
        </p:txBody>
      </p:sp>
      <p:sp>
        <p:nvSpPr>
          <p:cNvPr id="20" name="文字方塊 19">
            <a:extLst>
              <a:ext uri="{FF2B5EF4-FFF2-40B4-BE49-F238E27FC236}">
                <a16:creationId xmlns:a16="http://schemas.microsoft.com/office/drawing/2014/main" id="{963F1C65-B428-A56E-BD4D-E013713644D9}"/>
              </a:ext>
            </a:extLst>
          </p:cNvPr>
          <p:cNvSpPr txBox="1"/>
          <p:nvPr/>
        </p:nvSpPr>
        <p:spPr>
          <a:xfrm>
            <a:off x="7266624" y="4369799"/>
            <a:ext cx="2250744" cy="369332"/>
          </a:xfrm>
          <a:prstGeom prst="rect">
            <a:avLst/>
          </a:prstGeom>
          <a:noFill/>
        </p:spPr>
        <p:txBody>
          <a:bodyPr wrap="none" rtlCol="0">
            <a:spAutoFit/>
          </a:bodyPr>
          <a:lstStyle/>
          <a:p>
            <a:r>
              <a:rPr lang="en-HK" dirty="0">
                <a:highlight>
                  <a:srgbClr val="FFFF00"/>
                </a:highlight>
              </a:rPr>
              <a:t>Yellow state bugged</a:t>
            </a:r>
          </a:p>
        </p:txBody>
      </p:sp>
      <p:cxnSp>
        <p:nvCxnSpPr>
          <p:cNvPr id="21" name="直線單箭頭接點 20">
            <a:extLst>
              <a:ext uri="{FF2B5EF4-FFF2-40B4-BE49-F238E27FC236}">
                <a16:creationId xmlns:a16="http://schemas.microsoft.com/office/drawing/2014/main" id="{E8B2A890-932D-B3AF-98DE-DF830E4A5AB2}"/>
              </a:ext>
            </a:extLst>
          </p:cNvPr>
          <p:cNvCxnSpPr>
            <a:cxnSpLocks/>
            <a:stCxn id="20" idx="2"/>
          </p:cNvCxnSpPr>
          <p:nvPr/>
        </p:nvCxnSpPr>
        <p:spPr>
          <a:xfrm flipH="1">
            <a:off x="7811589" y="4739131"/>
            <a:ext cx="580407" cy="494876"/>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6" name="文字方塊 25">
            <a:extLst>
              <a:ext uri="{FF2B5EF4-FFF2-40B4-BE49-F238E27FC236}">
                <a16:creationId xmlns:a16="http://schemas.microsoft.com/office/drawing/2014/main" id="{72A4044F-7AB9-C614-705C-F670BA4A1B11}"/>
              </a:ext>
            </a:extLst>
          </p:cNvPr>
          <p:cNvSpPr txBox="1"/>
          <p:nvPr/>
        </p:nvSpPr>
        <p:spPr>
          <a:xfrm>
            <a:off x="3209508" y="807274"/>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1307389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4D1183-325C-A89C-584C-E00A6CB95488}"/>
              </a:ext>
            </a:extLst>
          </p:cNvPr>
          <p:cNvSpPr>
            <a:spLocks noGrp="1"/>
          </p:cNvSpPr>
          <p:nvPr>
            <p:ph type="title"/>
          </p:nvPr>
        </p:nvSpPr>
        <p:spPr/>
        <p:txBody>
          <a:bodyPr/>
          <a:lstStyle/>
          <a:p>
            <a:r>
              <a:rPr lang="en-HK" dirty="0"/>
              <a:t>Path Baking: Force FK</a:t>
            </a:r>
          </a:p>
        </p:txBody>
      </p:sp>
      <p:sp>
        <p:nvSpPr>
          <p:cNvPr id="3" name="內容版面配置區 2">
            <a:extLst>
              <a:ext uri="{FF2B5EF4-FFF2-40B4-BE49-F238E27FC236}">
                <a16:creationId xmlns:a16="http://schemas.microsoft.com/office/drawing/2014/main" id="{108796AA-3B98-6C57-A809-7599C0491B26}"/>
              </a:ext>
            </a:extLst>
          </p:cNvPr>
          <p:cNvSpPr>
            <a:spLocks noGrp="1"/>
          </p:cNvSpPr>
          <p:nvPr>
            <p:ph idx="1"/>
          </p:nvPr>
        </p:nvSpPr>
        <p:spPr>
          <a:xfrm>
            <a:off x="677334" y="1560238"/>
            <a:ext cx="8596668" cy="3880773"/>
          </a:xfrm>
        </p:spPr>
        <p:txBody>
          <a:bodyPr/>
          <a:lstStyle/>
          <a:p>
            <a:r>
              <a:rPr lang="en-HK" dirty="0"/>
              <a:t>For paths where final position is more important than the path shape itself, Or when waypoints are placed too complex and IK in between keeps failing,</a:t>
            </a:r>
            <a:br>
              <a:rPr lang="en-HK" dirty="0"/>
            </a:br>
            <a:r>
              <a:rPr lang="en-HK" dirty="0"/>
              <a:t>user can set waypoint to “Force FK” mode such that the no sample points are created within the path segment -&gt; direct </a:t>
            </a:r>
            <a:r>
              <a:rPr lang="en-HK" dirty="0" err="1"/>
              <a:t>moveJ</a:t>
            </a:r>
            <a:r>
              <a:rPr lang="en-HK" dirty="0"/>
              <a:t> between the 2 waypoints</a:t>
            </a:r>
          </a:p>
        </p:txBody>
      </p:sp>
      <p:sp>
        <p:nvSpPr>
          <p:cNvPr id="4" name="投影片編號版面配置區 3">
            <a:extLst>
              <a:ext uri="{FF2B5EF4-FFF2-40B4-BE49-F238E27FC236}">
                <a16:creationId xmlns:a16="http://schemas.microsoft.com/office/drawing/2014/main" id="{55D5A712-1BCE-0E79-A2DD-E0A372DB2F37}"/>
              </a:ext>
            </a:extLst>
          </p:cNvPr>
          <p:cNvSpPr>
            <a:spLocks noGrp="1"/>
          </p:cNvSpPr>
          <p:nvPr>
            <p:ph type="sldNum" sz="quarter" idx="12"/>
          </p:nvPr>
        </p:nvSpPr>
        <p:spPr/>
        <p:txBody>
          <a:bodyPr/>
          <a:lstStyle/>
          <a:p>
            <a:fld id="{CF9A1619-F87A-4FCD-8947-EF4132FEEC38}" type="slidenum">
              <a:rPr lang="zh-HK" altLang="en-US" smtClean="0"/>
              <a:t>11</a:t>
            </a:fld>
            <a:endParaRPr lang="zh-HK" altLang="en-US"/>
          </a:p>
        </p:txBody>
      </p:sp>
      <p:pic>
        <p:nvPicPr>
          <p:cNvPr id="6" name="圖片 5">
            <a:extLst>
              <a:ext uri="{FF2B5EF4-FFF2-40B4-BE49-F238E27FC236}">
                <a16:creationId xmlns:a16="http://schemas.microsoft.com/office/drawing/2014/main" id="{1464C971-B172-96FE-D102-C1AFB460FBB4}"/>
              </a:ext>
            </a:extLst>
          </p:cNvPr>
          <p:cNvPicPr>
            <a:picLocks noChangeAspect="1"/>
          </p:cNvPicPr>
          <p:nvPr/>
        </p:nvPicPr>
        <p:blipFill>
          <a:blip r:embed="rId2"/>
          <a:stretch>
            <a:fillRect/>
          </a:stretch>
        </p:blipFill>
        <p:spPr>
          <a:xfrm>
            <a:off x="2917998" y="3275570"/>
            <a:ext cx="5034369" cy="3304062"/>
          </a:xfrm>
          <a:prstGeom prst="rect">
            <a:avLst/>
          </a:prstGeom>
        </p:spPr>
      </p:pic>
      <p:sp>
        <p:nvSpPr>
          <p:cNvPr id="8" name="矩形 7">
            <a:extLst>
              <a:ext uri="{FF2B5EF4-FFF2-40B4-BE49-F238E27FC236}">
                <a16:creationId xmlns:a16="http://schemas.microsoft.com/office/drawing/2014/main" id="{CA29CF4F-C57A-6A18-F3EC-88D93661FF36}"/>
              </a:ext>
            </a:extLst>
          </p:cNvPr>
          <p:cNvSpPr/>
          <p:nvPr/>
        </p:nvSpPr>
        <p:spPr>
          <a:xfrm>
            <a:off x="4901429" y="5024210"/>
            <a:ext cx="1371544"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Tree>
    <p:extLst>
      <p:ext uri="{BB962C8B-B14F-4D97-AF65-F5344CB8AC3E}">
        <p14:creationId xmlns:p14="http://schemas.microsoft.com/office/powerpoint/2010/main" val="3759396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0251E5-04DF-F8BE-911D-95256F78C7F3}"/>
              </a:ext>
            </a:extLst>
          </p:cNvPr>
          <p:cNvSpPr>
            <a:spLocks noGrp="1"/>
          </p:cNvSpPr>
          <p:nvPr>
            <p:ph type="title"/>
          </p:nvPr>
        </p:nvSpPr>
        <p:spPr/>
        <p:txBody>
          <a:bodyPr/>
          <a:lstStyle/>
          <a:p>
            <a:r>
              <a:rPr lang="en-HK" dirty="0"/>
              <a:t>Simulate and Play</a:t>
            </a:r>
          </a:p>
        </p:txBody>
      </p:sp>
      <p:sp>
        <p:nvSpPr>
          <p:cNvPr id="3" name="內容版面配置區 2">
            <a:extLst>
              <a:ext uri="{FF2B5EF4-FFF2-40B4-BE49-F238E27FC236}">
                <a16:creationId xmlns:a16="http://schemas.microsoft.com/office/drawing/2014/main" id="{54BDB8DC-F29F-6348-9E10-7F313D0AB299}"/>
              </a:ext>
            </a:extLst>
          </p:cNvPr>
          <p:cNvSpPr>
            <a:spLocks noGrp="1"/>
          </p:cNvSpPr>
          <p:nvPr>
            <p:ph idx="1"/>
          </p:nvPr>
        </p:nvSpPr>
        <p:spPr>
          <a:xfrm>
            <a:off x="335664" y="1404911"/>
            <a:ext cx="8596668" cy="4636451"/>
          </a:xfrm>
        </p:spPr>
        <p:txBody>
          <a:bodyPr>
            <a:normAutofit/>
          </a:bodyPr>
          <a:lstStyle/>
          <a:p>
            <a:pPr marL="0" indent="0">
              <a:buNone/>
            </a:pPr>
            <a:r>
              <a:rPr lang="en-HK" dirty="0">
                <a:solidFill>
                  <a:schemeClr val="tx1"/>
                </a:solidFill>
              </a:rPr>
              <a:t>Both states only run after a completely fine bake</a:t>
            </a:r>
          </a:p>
          <a:p>
            <a:pPr marL="0" indent="0">
              <a:buNone/>
            </a:pPr>
            <a:r>
              <a:rPr lang="en-HK" b="1" dirty="0">
                <a:solidFill>
                  <a:schemeClr val="accent2"/>
                </a:solidFill>
              </a:rPr>
              <a:t>Simulate</a:t>
            </a:r>
          </a:p>
          <a:p>
            <a:r>
              <a:rPr lang="en-HK" dirty="0"/>
              <a:t>Simulate motion path in 3d world view</a:t>
            </a:r>
          </a:p>
          <a:p>
            <a:r>
              <a:rPr lang="en-HK" dirty="0"/>
              <a:t>Pause available</a:t>
            </a:r>
          </a:p>
          <a:p>
            <a:r>
              <a:rPr lang="en-HK" dirty="0"/>
              <a:t>Adjust timeline cursor to replay certain parts of path</a:t>
            </a:r>
          </a:p>
          <a:p>
            <a:pPr marL="0" indent="0">
              <a:buNone/>
            </a:pPr>
            <a:r>
              <a:rPr lang="en-HK" b="1" dirty="0">
                <a:solidFill>
                  <a:srgbClr val="E09B20"/>
                </a:solidFill>
              </a:rPr>
              <a:t>Run</a:t>
            </a:r>
          </a:p>
          <a:p>
            <a:r>
              <a:rPr lang="en-HK" dirty="0"/>
              <a:t>Upload path to robot first</a:t>
            </a:r>
          </a:p>
          <a:p>
            <a:r>
              <a:rPr lang="en-HK" dirty="0"/>
              <a:t>Hold button to move robot to </a:t>
            </a:r>
            <a:r>
              <a:rPr lang="en-HK" dirty="0" err="1"/>
              <a:t>init</a:t>
            </a:r>
            <a:r>
              <a:rPr lang="en-HK" dirty="0"/>
              <a:t> pose</a:t>
            </a:r>
          </a:p>
          <a:p>
            <a:r>
              <a:rPr lang="en-HK" dirty="0"/>
              <a:t>Run path</a:t>
            </a:r>
          </a:p>
          <a:p>
            <a:r>
              <a:rPr lang="en-HK" dirty="0"/>
              <a:t>Pause not available, but interruptible</a:t>
            </a:r>
          </a:p>
        </p:txBody>
      </p:sp>
      <p:sp>
        <p:nvSpPr>
          <p:cNvPr id="4" name="投影片編號版面配置區 3">
            <a:extLst>
              <a:ext uri="{FF2B5EF4-FFF2-40B4-BE49-F238E27FC236}">
                <a16:creationId xmlns:a16="http://schemas.microsoft.com/office/drawing/2014/main" id="{AD6D2940-E471-F55B-53C5-0F9073FEF00A}"/>
              </a:ext>
            </a:extLst>
          </p:cNvPr>
          <p:cNvSpPr>
            <a:spLocks noGrp="1"/>
          </p:cNvSpPr>
          <p:nvPr>
            <p:ph type="sldNum" sz="quarter" idx="12"/>
          </p:nvPr>
        </p:nvSpPr>
        <p:spPr/>
        <p:txBody>
          <a:bodyPr/>
          <a:lstStyle/>
          <a:p>
            <a:fld id="{CF9A1619-F87A-4FCD-8947-EF4132FEEC38}" type="slidenum">
              <a:rPr lang="zh-HK" altLang="en-US" smtClean="0"/>
              <a:t>12</a:t>
            </a:fld>
            <a:endParaRPr lang="zh-HK" altLang="en-US"/>
          </a:p>
        </p:txBody>
      </p:sp>
      <p:pic>
        <p:nvPicPr>
          <p:cNvPr id="6" name="圖片 5">
            <a:extLst>
              <a:ext uri="{FF2B5EF4-FFF2-40B4-BE49-F238E27FC236}">
                <a16:creationId xmlns:a16="http://schemas.microsoft.com/office/drawing/2014/main" id="{21AA9FE5-23AF-3C54-C95E-002A00F6F4FA}"/>
              </a:ext>
            </a:extLst>
          </p:cNvPr>
          <p:cNvPicPr>
            <a:picLocks noChangeAspect="1"/>
          </p:cNvPicPr>
          <p:nvPr/>
        </p:nvPicPr>
        <p:blipFill>
          <a:blip r:embed="rId2"/>
          <a:stretch>
            <a:fillRect/>
          </a:stretch>
        </p:blipFill>
        <p:spPr>
          <a:xfrm>
            <a:off x="8200134" y="451513"/>
            <a:ext cx="3019846" cy="733527"/>
          </a:xfrm>
          <a:prstGeom prst="rect">
            <a:avLst/>
          </a:prstGeom>
        </p:spPr>
      </p:pic>
      <p:pic>
        <p:nvPicPr>
          <p:cNvPr id="8" name="圖片 7">
            <a:extLst>
              <a:ext uri="{FF2B5EF4-FFF2-40B4-BE49-F238E27FC236}">
                <a16:creationId xmlns:a16="http://schemas.microsoft.com/office/drawing/2014/main" id="{FE985DC4-48B4-E17D-2B5D-4308A66D2648}"/>
              </a:ext>
            </a:extLst>
          </p:cNvPr>
          <p:cNvPicPr>
            <a:picLocks noChangeAspect="1"/>
          </p:cNvPicPr>
          <p:nvPr/>
        </p:nvPicPr>
        <p:blipFill>
          <a:blip r:embed="rId3"/>
          <a:stretch>
            <a:fillRect/>
          </a:stretch>
        </p:blipFill>
        <p:spPr>
          <a:xfrm>
            <a:off x="8200134" y="2339894"/>
            <a:ext cx="2943636" cy="771633"/>
          </a:xfrm>
          <a:prstGeom prst="rect">
            <a:avLst/>
          </a:prstGeom>
        </p:spPr>
      </p:pic>
      <p:pic>
        <p:nvPicPr>
          <p:cNvPr id="10" name="圖片 9">
            <a:extLst>
              <a:ext uri="{FF2B5EF4-FFF2-40B4-BE49-F238E27FC236}">
                <a16:creationId xmlns:a16="http://schemas.microsoft.com/office/drawing/2014/main" id="{D0FEF67C-B32A-A4ED-DF2A-A223297F8999}"/>
              </a:ext>
            </a:extLst>
          </p:cNvPr>
          <p:cNvPicPr>
            <a:picLocks noChangeAspect="1"/>
          </p:cNvPicPr>
          <p:nvPr/>
        </p:nvPicPr>
        <p:blipFill>
          <a:blip r:embed="rId4"/>
          <a:stretch>
            <a:fillRect/>
          </a:stretch>
        </p:blipFill>
        <p:spPr>
          <a:xfrm>
            <a:off x="8190608" y="3906838"/>
            <a:ext cx="2953162" cy="800212"/>
          </a:xfrm>
          <a:prstGeom prst="rect">
            <a:avLst/>
          </a:prstGeom>
        </p:spPr>
      </p:pic>
      <p:pic>
        <p:nvPicPr>
          <p:cNvPr id="12" name="圖片 11">
            <a:extLst>
              <a:ext uri="{FF2B5EF4-FFF2-40B4-BE49-F238E27FC236}">
                <a16:creationId xmlns:a16="http://schemas.microsoft.com/office/drawing/2014/main" id="{F79CA87D-A537-F969-2ABA-D7E7F0A91ADC}"/>
              </a:ext>
            </a:extLst>
          </p:cNvPr>
          <p:cNvPicPr>
            <a:picLocks noChangeAspect="1"/>
          </p:cNvPicPr>
          <p:nvPr/>
        </p:nvPicPr>
        <p:blipFill>
          <a:blip r:embed="rId5"/>
          <a:stretch>
            <a:fillRect/>
          </a:stretch>
        </p:blipFill>
        <p:spPr>
          <a:xfrm>
            <a:off x="8238239" y="4888821"/>
            <a:ext cx="2857899" cy="704948"/>
          </a:xfrm>
          <a:prstGeom prst="rect">
            <a:avLst/>
          </a:prstGeom>
        </p:spPr>
      </p:pic>
      <p:pic>
        <p:nvPicPr>
          <p:cNvPr id="14" name="圖片 13">
            <a:extLst>
              <a:ext uri="{FF2B5EF4-FFF2-40B4-BE49-F238E27FC236}">
                <a16:creationId xmlns:a16="http://schemas.microsoft.com/office/drawing/2014/main" id="{7562CB11-E665-850C-D62C-19F81770DF26}"/>
              </a:ext>
            </a:extLst>
          </p:cNvPr>
          <p:cNvPicPr>
            <a:picLocks noChangeAspect="1"/>
          </p:cNvPicPr>
          <p:nvPr/>
        </p:nvPicPr>
        <p:blipFill>
          <a:blip r:embed="rId6"/>
          <a:stretch>
            <a:fillRect/>
          </a:stretch>
        </p:blipFill>
        <p:spPr>
          <a:xfrm>
            <a:off x="8290634" y="5711065"/>
            <a:ext cx="2838846" cy="695422"/>
          </a:xfrm>
          <a:prstGeom prst="rect">
            <a:avLst/>
          </a:prstGeom>
        </p:spPr>
      </p:pic>
      <p:cxnSp>
        <p:nvCxnSpPr>
          <p:cNvPr id="15" name="直線單箭頭接點 14">
            <a:extLst>
              <a:ext uri="{FF2B5EF4-FFF2-40B4-BE49-F238E27FC236}">
                <a16:creationId xmlns:a16="http://schemas.microsoft.com/office/drawing/2014/main" id="{0D0D327A-F9EA-9354-E3AE-88EC5C72A0EA}"/>
              </a:ext>
            </a:extLst>
          </p:cNvPr>
          <p:cNvCxnSpPr>
            <a:cxnSpLocks/>
          </p:cNvCxnSpPr>
          <p:nvPr/>
        </p:nvCxnSpPr>
        <p:spPr>
          <a:xfrm flipV="1">
            <a:off x="2610321" y="2725710"/>
            <a:ext cx="5485929" cy="13837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7" name="直線單箭頭接點 16">
            <a:extLst>
              <a:ext uri="{FF2B5EF4-FFF2-40B4-BE49-F238E27FC236}">
                <a16:creationId xmlns:a16="http://schemas.microsoft.com/office/drawing/2014/main" id="{7F6F1AF0-7D4A-2519-9159-54D9C0FB2808}"/>
              </a:ext>
            </a:extLst>
          </p:cNvPr>
          <p:cNvCxnSpPr>
            <a:cxnSpLocks/>
          </p:cNvCxnSpPr>
          <p:nvPr/>
        </p:nvCxnSpPr>
        <p:spPr>
          <a:xfrm>
            <a:off x="4975668" y="4390363"/>
            <a:ext cx="3120582" cy="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0" name="直線單箭頭接點 19">
            <a:extLst>
              <a:ext uri="{FF2B5EF4-FFF2-40B4-BE49-F238E27FC236}">
                <a16:creationId xmlns:a16="http://schemas.microsoft.com/office/drawing/2014/main" id="{2A83EB1D-F46B-C8C4-B3E3-201F9F0CB805}"/>
              </a:ext>
            </a:extLst>
          </p:cNvPr>
          <p:cNvCxnSpPr>
            <a:cxnSpLocks/>
          </p:cNvCxnSpPr>
          <p:nvPr/>
        </p:nvCxnSpPr>
        <p:spPr>
          <a:xfrm>
            <a:off x="4733925" y="5241295"/>
            <a:ext cx="3286125" cy="77083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281449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D38AF-0C9A-2F33-8191-C9E4AFCA3491}"/>
              </a:ext>
            </a:extLst>
          </p:cNvPr>
          <p:cNvSpPr>
            <a:spLocks noGrp="1"/>
          </p:cNvSpPr>
          <p:nvPr>
            <p:ph type="title"/>
          </p:nvPr>
        </p:nvSpPr>
        <p:spPr/>
        <p:txBody>
          <a:bodyPr/>
          <a:lstStyle/>
          <a:p>
            <a:r>
              <a:rPr lang="en-HK" dirty="0"/>
              <a:t>Timeline</a:t>
            </a:r>
          </a:p>
        </p:txBody>
      </p:sp>
      <p:sp>
        <p:nvSpPr>
          <p:cNvPr id="4" name="投影片編號版面配置區 3">
            <a:extLst>
              <a:ext uri="{FF2B5EF4-FFF2-40B4-BE49-F238E27FC236}">
                <a16:creationId xmlns:a16="http://schemas.microsoft.com/office/drawing/2014/main" id="{B867D497-2796-51F9-25B8-09A7C19A39D4}"/>
              </a:ext>
            </a:extLst>
          </p:cNvPr>
          <p:cNvSpPr>
            <a:spLocks noGrp="1"/>
          </p:cNvSpPr>
          <p:nvPr>
            <p:ph type="sldNum" sz="quarter" idx="12"/>
          </p:nvPr>
        </p:nvSpPr>
        <p:spPr/>
        <p:txBody>
          <a:bodyPr/>
          <a:lstStyle/>
          <a:p>
            <a:fld id="{CF9A1619-F87A-4FCD-8947-EF4132FEEC38}" type="slidenum">
              <a:rPr lang="zh-HK" altLang="en-US" smtClean="0"/>
              <a:t>13</a:t>
            </a:fld>
            <a:endParaRPr lang="zh-HK" altLang="en-US"/>
          </a:p>
        </p:txBody>
      </p:sp>
      <p:sp>
        <p:nvSpPr>
          <p:cNvPr id="6" name="文字方塊 5">
            <a:extLst>
              <a:ext uri="{FF2B5EF4-FFF2-40B4-BE49-F238E27FC236}">
                <a16:creationId xmlns:a16="http://schemas.microsoft.com/office/drawing/2014/main" id="{704B7677-FB6F-13B0-2621-F43527424C21}"/>
              </a:ext>
            </a:extLst>
          </p:cNvPr>
          <p:cNvSpPr txBox="1"/>
          <p:nvPr/>
        </p:nvSpPr>
        <p:spPr>
          <a:xfrm>
            <a:off x="677334" y="1273946"/>
            <a:ext cx="4876784" cy="369332"/>
          </a:xfrm>
          <a:prstGeom prst="rect">
            <a:avLst/>
          </a:prstGeom>
          <a:noFill/>
        </p:spPr>
        <p:txBody>
          <a:bodyPr wrap="none" rtlCol="0">
            <a:spAutoFit/>
          </a:bodyPr>
          <a:lstStyle/>
          <a:p>
            <a:r>
              <a:rPr lang="en-HK" dirty="0">
                <a:highlight>
                  <a:srgbClr val="FFFF00"/>
                </a:highlight>
              </a:rPr>
              <a:t>Taken from animation software (</a:t>
            </a:r>
            <a:r>
              <a:rPr lang="en-HK" dirty="0" err="1">
                <a:highlight>
                  <a:srgbClr val="FFFF00"/>
                </a:highlight>
              </a:rPr>
              <a:t>ie</a:t>
            </a:r>
            <a:r>
              <a:rPr lang="en-HK" dirty="0">
                <a:highlight>
                  <a:srgbClr val="FFFF00"/>
                </a:highlight>
              </a:rPr>
              <a:t> Blender)</a:t>
            </a:r>
          </a:p>
        </p:txBody>
      </p:sp>
      <p:sp>
        <p:nvSpPr>
          <p:cNvPr id="9" name="文字方塊 8">
            <a:extLst>
              <a:ext uri="{FF2B5EF4-FFF2-40B4-BE49-F238E27FC236}">
                <a16:creationId xmlns:a16="http://schemas.microsoft.com/office/drawing/2014/main" id="{D25FC305-DD92-C3BB-8E2B-D65CEA084E39}"/>
              </a:ext>
            </a:extLst>
          </p:cNvPr>
          <p:cNvSpPr txBox="1"/>
          <p:nvPr/>
        </p:nvSpPr>
        <p:spPr>
          <a:xfrm>
            <a:off x="1140552" y="3429000"/>
            <a:ext cx="5242831" cy="1569660"/>
          </a:xfrm>
          <a:prstGeom prst="rect">
            <a:avLst/>
          </a:prstGeom>
          <a:noFill/>
        </p:spPr>
        <p:txBody>
          <a:bodyPr wrap="square" rtlCol="0">
            <a:spAutoFit/>
          </a:bodyPr>
          <a:lstStyle/>
          <a:p>
            <a:r>
              <a:rPr lang="en-HK" dirty="0"/>
              <a:t>Arm track:</a:t>
            </a:r>
          </a:p>
          <a:p>
            <a:r>
              <a:rPr lang="en-HK" dirty="0"/>
              <a:t>Diamond Frames: waypoints</a:t>
            </a:r>
            <a:br>
              <a:rPr lang="en-HK" dirty="0"/>
            </a:br>
            <a:r>
              <a:rPr lang="en-HK" dirty="0"/>
              <a:t>circle frames: generated sample points</a:t>
            </a:r>
          </a:p>
          <a:p>
            <a:r>
              <a:rPr lang="en-HK" sz="1400" dirty="0"/>
              <a:t>By default the sample points are equally spaced on generation (first bake), they can then be dragged to customise speed, </a:t>
            </a:r>
            <a:r>
              <a:rPr lang="en-HK" sz="1400" dirty="0" err="1"/>
              <a:t>rebake</a:t>
            </a:r>
            <a:r>
              <a:rPr lang="en-HK" sz="1400" dirty="0"/>
              <a:t> again to run speed check</a:t>
            </a:r>
          </a:p>
        </p:txBody>
      </p:sp>
      <p:pic>
        <p:nvPicPr>
          <p:cNvPr id="13" name="圖片 12">
            <a:extLst>
              <a:ext uri="{FF2B5EF4-FFF2-40B4-BE49-F238E27FC236}">
                <a16:creationId xmlns:a16="http://schemas.microsoft.com/office/drawing/2014/main" id="{D7DB9C16-4187-658F-DB6E-B298FFE3CE41}"/>
              </a:ext>
            </a:extLst>
          </p:cNvPr>
          <p:cNvPicPr>
            <a:picLocks noChangeAspect="1"/>
          </p:cNvPicPr>
          <p:nvPr/>
        </p:nvPicPr>
        <p:blipFill>
          <a:blip r:embed="rId2"/>
          <a:stretch>
            <a:fillRect/>
          </a:stretch>
        </p:blipFill>
        <p:spPr>
          <a:xfrm>
            <a:off x="677334" y="1873467"/>
            <a:ext cx="10477500" cy="1096636"/>
          </a:xfrm>
          <a:prstGeom prst="rect">
            <a:avLst/>
          </a:prstGeom>
        </p:spPr>
      </p:pic>
      <p:sp>
        <p:nvSpPr>
          <p:cNvPr id="14" name="文字方塊 13">
            <a:extLst>
              <a:ext uri="{FF2B5EF4-FFF2-40B4-BE49-F238E27FC236}">
                <a16:creationId xmlns:a16="http://schemas.microsoft.com/office/drawing/2014/main" id="{CA710D39-A82F-728F-47D2-BB4D8B362031}"/>
              </a:ext>
            </a:extLst>
          </p:cNvPr>
          <p:cNvSpPr txBox="1"/>
          <p:nvPr/>
        </p:nvSpPr>
        <p:spPr>
          <a:xfrm>
            <a:off x="609601" y="3059668"/>
            <a:ext cx="821059" cy="369332"/>
          </a:xfrm>
          <a:prstGeom prst="rect">
            <a:avLst/>
          </a:prstGeom>
          <a:noFill/>
        </p:spPr>
        <p:txBody>
          <a:bodyPr wrap="none" rtlCol="0">
            <a:spAutoFit/>
          </a:bodyPr>
          <a:lstStyle/>
          <a:p>
            <a:r>
              <a:rPr lang="en-HK" dirty="0"/>
              <a:t>cursor</a:t>
            </a:r>
          </a:p>
        </p:txBody>
      </p:sp>
      <p:sp>
        <p:nvSpPr>
          <p:cNvPr id="15" name="文字方塊 14">
            <a:extLst>
              <a:ext uri="{FF2B5EF4-FFF2-40B4-BE49-F238E27FC236}">
                <a16:creationId xmlns:a16="http://schemas.microsoft.com/office/drawing/2014/main" id="{B8C5CAF0-31C1-9C8C-2B8E-99DD33175ACB}"/>
              </a:ext>
            </a:extLst>
          </p:cNvPr>
          <p:cNvSpPr txBox="1"/>
          <p:nvPr/>
        </p:nvSpPr>
        <p:spPr>
          <a:xfrm>
            <a:off x="5907907" y="5157658"/>
            <a:ext cx="6284093" cy="1200329"/>
          </a:xfrm>
          <a:prstGeom prst="rect">
            <a:avLst/>
          </a:prstGeom>
          <a:noFill/>
        </p:spPr>
        <p:txBody>
          <a:bodyPr wrap="none" rtlCol="0">
            <a:spAutoFit/>
          </a:bodyPr>
          <a:lstStyle/>
          <a:p>
            <a:r>
              <a:rPr lang="en-HK" dirty="0"/>
              <a:t>Camera track: (elaborated later)</a:t>
            </a:r>
            <a:br>
              <a:rPr lang="en-HK" dirty="0"/>
            </a:br>
            <a:r>
              <a:rPr lang="en-HK" dirty="0"/>
              <a:t>Green Diamond: start record</a:t>
            </a:r>
          </a:p>
          <a:p>
            <a:r>
              <a:rPr lang="en-HK" dirty="0"/>
              <a:t>Red Diamond: stop record</a:t>
            </a:r>
          </a:p>
          <a:p>
            <a:r>
              <a:rPr lang="en-HK" dirty="0"/>
              <a:t>(note there is delay sending the command to </a:t>
            </a:r>
            <a:r>
              <a:rPr lang="en-HK" dirty="0" err="1"/>
              <a:t>sony</a:t>
            </a:r>
            <a:r>
              <a:rPr lang="en-HK" dirty="0"/>
              <a:t> camera)</a:t>
            </a:r>
          </a:p>
        </p:txBody>
      </p:sp>
      <p:sp>
        <p:nvSpPr>
          <p:cNvPr id="17" name="文字方塊 16">
            <a:extLst>
              <a:ext uri="{FF2B5EF4-FFF2-40B4-BE49-F238E27FC236}">
                <a16:creationId xmlns:a16="http://schemas.microsoft.com/office/drawing/2014/main" id="{6E6255A5-60DF-7BD0-6021-8E6190B201C1}"/>
              </a:ext>
            </a:extLst>
          </p:cNvPr>
          <p:cNvSpPr txBox="1"/>
          <p:nvPr/>
        </p:nvSpPr>
        <p:spPr>
          <a:xfrm>
            <a:off x="8722099" y="3415409"/>
            <a:ext cx="2943434" cy="646331"/>
          </a:xfrm>
          <a:prstGeom prst="rect">
            <a:avLst/>
          </a:prstGeom>
          <a:noFill/>
        </p:spPr>
        <p:txBody>
          <a:bodyPr wrap="none" rtlCol="0">
            <a:spAutoFit/>
          </a:bodyPr>
          <a:lstStyle/>
          <a:p>
            <a:r>
              <a:rPr lang="en-HK" dirty="0"/>
              <a:t>Snap to grid toggle</a:t>
            </a:r>
            <a:br>
              <a:rPr lang="en-HK" dirty="0"/>
            </a:br>
            <a:r>
              <a:rPr lang="en-HK" dirty="0">
                <a:highlight>
                  <a:srgbClr val="FFFF00"/>
                </a:highlight>
              </a:rPr>
              <a:t>(bugged, not working </a:t>
            </a:r>
            <a:r>
              <a:rPr lang="en-HK" dirty="0" err="1">
                <a:highlight>
                  <a:srgbClr val="FFFF00"/>
                </a:highlight>
              </a:rPr>
              <a:t>atm</a:t>
            </a:r>
            <a:r>
              <a:rPr lang="en-HK" dirty="0">
                <a:highlight>
                  <a:srgbClr val="FFFF00"/>
                </a:highlight>
              </a:rPr>
              <a:t>)</a:t>
            </a:r>
          </a:p>
        </p:txBody>
      </p:sp>
      <p:cxnSp>
        <p:nvCxnSpPr>
          <p:cNvPr id="18" name="直線單箭頭接點 17">
            <a:extLst>
              <a:ext uri="{FF2B5EF4-FFF2-40B4-BE49-F238E27FC236}">
                <a16:creationId xmlns:a16="http://schemas.microsoft.com/office/drawing/2014/main" id="{B3AC3090-D0C3-C2CA-41CB-9556A6A0A151}"/>
              </a:ext>
            </a:extLst>
          </p:cNvPr>
          <p:cNvCxnSpPr>
            <a:cxnSpLocks/>
          </p:cNvCxnSpPr>
          <p:nvPr/>
        </p:nvCxnSpPr>
        <p:spPr>
          <a:xfrm flipV="1">
            <a:off x="3115726" y="2421785"/>
            <a:ext cx="219657" cy="131678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2" name="直線單箭頭接點 21">
            <a:extLst>
              <a:ext uri="{FF2B5EF4-FFF2-40B4-BE49-F238E27FC236}">
                <a16:creationId xmlns:a16="http://schemas.microsoft.com/office/drawing/2014/main" id="{6AF1CB5C-BBE6-46F4-5D09-B4701F523F01}"/>
              </a:ext>
            </a:extLst>
          </p:cNvPr>
          <p:cNvCxnSpPr>
            <a:cxnSpLocks/>
          </p:cNvCxnSpPr>
          <p:nvPr/>
        </p:nvCxnSpPr>
        <p:spPr>
          <a:xfrm flipH="1" flipV="1">
            <a:off x="6995519" y="2742296"/>
            <a:ext cx="249589" cy="2415362"/>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4" name="直線單箭頭接點 23">
            <a:extLst>
              <a:ext uri="{FF2B5EF4-FFF2-40B4-BE49-F238E27FC236}">
                <a16:creationId xmlns:a16="http://schemas.microsoft.com/office/drawing/2014/main" id="{16447F1D-D99E-3469-6040-3190FD575178}"/>
              </a:ext>
            </a:extLst>
          </p:cNvPr>
          <p:cNvCxnSpPr>
            <a:cxnSpLocks/>
          </p:cNvCxnSpPr>
          <p:nvPr/>
        </p:nvCxnSpPr>
        <p:spPr>
          <a:xfrm flipV="1">
            <a:off x="10214417" y="2138299"/>
            <a:ext cx="690827" cy="126371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12CDA448-F59B-4B17-FC7D-A9FE6EAC678D}"/>
              </a:ext>
            </a:extLst>
          </p:cNvPr>
          <p:cNvCxnSpPr>
            <a:cxnSpLocks/>
          </p:cNvCxnSpPr>
          <p:nvPr/>
        </p:nvCxnSpPr>
        <p:spPr>
          <a:xfrm flipV="1">
            <a:off x="1020130" y="2421785"/>
            <a:ext cx="214764" cy="637883"/>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9" name="矩形 28">
            <a:extLst>
              <a:ext uri="{FF2B5EF4-FFF2-40B4-BE49-F238E27FC236}">
                <a16:creationId xmlns:a16="http://schemas.microsoft.com/office/drawing/2014/main" id="{5F62ADB2-4E6E-E82C-15FE-C336CEE9426B}"/>
              </a:ext>
            </a:extLst>
          </p:cNvPr>
          <p:cNvSpPr/>
          <p:nvPr/>
        </p:nvSpPr>
        <p:spPr>
          <a:xfrm>
            <a:off x="10894485" y="1875474"/>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31" name="文字方塊 30">
            <a:extLst>
              <a:ext uri="{FF2B5EF4-FFF2-40B4-BE49-F238E27FC236}">
                <a16:creationId xmlns:a16="http://schemas.microsoft.com/office/drawing/2014/main" id="{C7291536-729F-93CE-5D52-C1157209EB79}"/>
              </a:ext>
            </a:extLst>
          </p:cNvPr>
          <p:cNvSpPr txBox="1"/>
          <p:nvPr/>
        </p:nvSpPr>
        <p:spPr>
          <a:xfrm>
            <a:off x="5461237" y="1287337"/>
            <a:ext cx="3781805" cy="369332"/>
          </a:xfrm>
          <a:prstGeom prst="rect">
            <a:avLst/>
          </a:prstGeom>
          <a:noFill/>
        </p:spPr>
        <p:txBody>
          <a:bodyPr wrap="none" rtlCol="0">
            <a:spAutoFit/>
          </a:bodyPr>
          <a:lstStyle/>
          <a:p>
            <a:r>
              <a:rPr lang="en-HK" dirty="0">
                <a:highlight>
                  <a:srgbClr val="00FF00"/>
                </a:highlight>
              </a:rPr>
              <a:t>Should be added to video shoot UI</a:t>
            </a:r>
          </a:p>
        </p:txBody>
      </p:sp>
    </p:spTree>
    <p:extLst>
      <p:ext uri="{BB962C8B-B14F-4D97-AF65-F5344CB8AC3E}">
        <p14:creationId xmlns:p14="http://schemas.microsoft.com/office/powerpoint/2010/main" val="3715089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3B79E2-DE00-F864-9909-A71DCE97CFAE}"/>
              </a:ext>
            </a:extLst>
          </p:cNvPr>
          <p:cNvSpPr>
            <a:spLocks noGrp="1"/>
          </p:cNvSpPr>
          <p:nvPr>
            <p:ph type="title"/>
          </p:nvPr>
        </p:nvSpPr>
        <p:spPr/>
        <p:txBody>
          <a:bodyPr/>
          <a:lstStyle/>
          <a:p>
            <a:r>
              <a:rPr lang="en-HK" dirty="0"/>
              <a:t>Timeline: Linear Speed</a:t>
            </a:r>
          </a:p>
        </p:txBody>
      </p:sp>
      <p:sp>
        <p:nvSpPr>
          <p:cNvPr id="4" name="投影片編號版面配置區 3">
            <a:extLst>
              <a:ext uri="{FF2B5EF4-FFF2-40B4-BE49-F238E27FC236}">
                <a16:creationId xmlns:a16="http://schemas.microsoft.com/office/drawing/2014/main" id="{F270AC4B-E985-D6C2-6F95-00D49481B590}"/>
              </a:ext>
            </a:extLst>
          </p:cNvPr>
          <p:cNvSpPr>
            <a:spLocks noGrp="1"/>
          </p:cNvSpPr>
          <p:nvPr>
            <p:ph type="sldNum" sz="quarter" idx="12"/>
          </p:nvPr>
        </p:nvSpPr>
        <p:spPr/>
        <p:txBody>
          <a:bodyPr/>
          <a:lstStyle/>
          <a:p>
            <a:fld id="{CF9A1619-F87A-4FCD-8947-EF4132FEEC38}" type="slidenum">
              <a:rPr lang="zh-HK" altLang="en-US" smtClean="0"/>
              <a:t>14</a:t>
            </a:fld>
            <a:endParaRPr lang="zh-HK" altLang="en-US"/>
          </a:p>
        </p:txBody>
      </p:sp>
      <p:pic>
        <p:nvPicPr>
          <p:cNvPr id="12" name="內容版面配置區 11">
            <a:extLst>
              <a:ext uri="{FF2B5EF4-FFF2-40B4-BE49-F238E27FC236}">
                <a16:creationId xmlns:a16="http://schemas.microsoft.com/office/drawing/2014/main" id="{442597E9-4BD1-7F37-5957-7EC48D8DD59A}"/>
              </a:ext>
            </a:extLst>
          </p:cNvPr>
          <p:cNvPicPr>
            <a:picLocks noGrp="1" noChangeAspect="1"/>
          </p:cNvPicPr>
          <p:nvPr>
            <p:ph idx="1"/>
          </p:nvPr>
        </p:nvPicPr>
        <p:blipFill>
          <a:blip r:embed="rId2"/>
          <a:stretch>
            <a:fillRect/>
          </a:stretch>
        </p:blipFill>
        <p:spPr>
          <a:xfrm>
            <a:off x="197082" y="2692995"/>
            <a:ext cx="5070551" cy="2118681"/>
          </a:xfrm>
          <a:prstGeom prst="rect">
            <a:avLst/>
          </a:prstGeom>
        </p:spPr>
      </p:pic>
      <p:pic>
        <p:nvPicPr>
          <p:cNvPr id="14" name="圖片 13">
            <a:extLst>
              <a:ext uri="{FF2B5EF4-FFF2-40B4-BE49-F238E27FC236}">
                <a16:creationId xmlns:a16="http://schemas.microsoft.com/office/drawing/2014/main" id="{27681557-79AE-7B96-E918-DF742AF31E3F}"/>
              </a:ext>
            </a:extLst>
          </p:cNvPr>
          <p:cNvPicPr>
            <a:picLocks noChangeAspect="1"/>
          </p:cNvPicPr>
          <p:nvPr/>
        </p:nvPicPr>
        <p:blipFill>
          <a:blip r:embed="rId3"/>
          <a:stretch>
            <a:fillRect/>
          </a:stretch>
        </p:blipFill>
        <p:spPr>
          <a:xfrm>
            <a:off x="5848350" y="3783149"/>
            <a:ext cx="6010873" cy="1028527"/>
          </a:xfrm>
          <a:prstGeom prst="rect">
            <a:avLst/>
          </a:prstGeom>
        </p:spPr>
      </p:pic>
      <p:pic>
        <p:nvPicPr>
          <p:cNvPr id="16" name="圖片 15">
            <a:extLst>
              <a:ext uri="{FF2B5EF4-FFF2-40B4-BE49-F238E27FC236}">
                <a16:creationId xmlns:a16="http://schemas.microsoft.com/office/drawing/2014/main" id="{A185ED31-A40A-514C-D9C0-E81B585B150A}"/>
              </a:ext>
            </a:extLst>
          </p:cNvPr>
          <p:cNvPicPr>
            <a:picLocks noChangeAspect="1"/>
          </p:cNvPicPr>
          <p:nvPr/>
        </p:nvPicPr>
        <p:blipFill>
          <a:blip r:embed="rId4"/>
          <a:stretch>
            <a:fillRect/>
          </a:stretch>
        </p:blipFill>
        <p:spPr>
          <a:xfrm>
            <a:off x="6248400" y="287139"/>
            <a:ext cx="4981575" cy="3426553"/>
          </a:xfrm>
          <a:prstGeom prst="rect">
            <a:avLst/>
          </a:prstGeom>
        </p:spPr>
      </p:pic>
      <p:sp>
        <p:nvSpPr>
          <p:cNvPr id="17" name="文字方塊 16">
            <a:extLst>
              <a:ext uri="{FF2B5EF4-FFF2-40B4-BE49-F238E27FC236}">
                <a16:creationId xmlns:a16="http://schemas.microsoft.com/office/drawing/2014/main" id="{ADDAF017-2847-696D-56DA-D0DCD0C6F93E}"/>
              </a:ext>
            </a:extLst>
          </p:cNvPr>
          <p:cNvSpPr txBox="1"/>
          <p:nvPr/>
        </p:nvSpPr>
        <p:spPr>
          <a:xfrm>
            <a:off x="276225" y="5206158"/>
            <a:ext cx="10953750" cy="1200329"/>
          </a:xfrm>
          <a:prstGeom prst="rect">
            <a:avLst/>
          </a:prstGeom>
          <a:noFill/>
        </p:spPr>
        <p:txBody>
          <a:bodyPr wrap="square" rtlCol="0">
            <a:spAutoFit/>
          </a:bodyPr>
          <a:lstStyle/>
          <a:p>
            <a:r>
              <a:rPr lang="en-HK" dirty="0"/>
              <a:t>For irregular paths with constant linear speed, users can select the range of waypoints and use the “linear speed” option to set the path segments(s) to be run at the constant desired speed,</a:t>
            </a:r>
            <a:br>
              <a:rPr lang="en-HK" dirty="0"/>
            </a:br>
            <a:r>
              <a:rPr lang="en-HK" dirty="0"/>
              <a:t>program calculates distance of path and approximates time required for robot to reach destination at given </a:t>
            </a:r>
            <a:r>
              <a:rPr lang="en-HK" dirty="0" err="1"/>
              <a:t>spee</a:t>
            </a:r>
            <a:endParaRPr lang="en-HK" dirty="0"/>
          </a:p>
        </p:txBody>
      </p:sp>
      <p:sp>
        <p:nvSpPr>
          <p:cNvPr id="18" name="文字方塊 17">
            <a:extLst>
              <a:ext uri="{FF2B5EF4-FFF2-40B4-BE49-F238E27FC236}">
                <a16:creationId xmlns:a16="http://schemas.microsoft.com/office/drawing/2014/main" id="{F7AC07B6-D3C0-C526-C0B5-AC9D213CA38A}"/>
              </a:ext>
            </a:extLst>
          </p:cNvPr>
          <p:cNvSpPr txBox="1"/>
          <p:nvPr/>
        </p:nvSpPr>
        <p:spPr>
          <a:xfrm>
            <a:off x="7088499" y="2966623"/>
            <a:ext cx="641907" cy="369332"/>
          </a:xfrm>
          <a:prstGeom prst="rect">
            <a:avLst/>
          </a:prstGeom>
          <a:noFill/>
        </p:spPr>
        <p:txBody>
          <a:bodyPr wrap="none" rtlCol="0">
            <a:spAutoFit/>
          </a:bodyPr>
          <a:lstStyle/>
          <a:p>
            <a:r>
              <a:rPr lang="en-HK" dirty="0">
                <a:solidFill>
                  <a:srgbClr val="FFFF00"/>
                </a:solidFill>
              </a:rPr>
              <a:t>Path</a:t>
            </a:r>
          </a:p>
        </p:txBody>
      </p:sp>
      <p:cxnSp>
        <p:nvCxnSpPr>
          <p:cNvPr id="19" name="直線單箭頭接點 18">
            <a:extLst>
              <a:ext uri="{FF2B5EF4-FFF2-40B4-BE49-F238E27FC236}">
                <a16:creationId xmlns:a16="http://schemas.microsoft.com/office/drawing/2014/main" id="{2C91672E-5569-57AA-0370-52B249A08827}"/>
              </a:ext>
            </a:extLst>
          </p:cNvPr>
          <p:cNvCxnSpPr>
            <a:cxnSpLocks/>
            <a:stCxn id="18" idx="3"/>
          </p:cNvCxnSpPr>
          <p:nvPr/>
        </p:nvCxnSpPr>
        <p:spPr>
          <a:xfrm flipV="1">
            <a:off x="7730406" y="2519430"/>
            <a:ext cx="860257" cy="631859"/>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sp>
        <p:nvSpPr>
          <p:cNvPr id="22" name="箭號: 向右 21">
            <a:extLst>
              <a:ext uri="{FF2B5EF4-FFF2-40B4-BE49-F238E27FC236}">
                <a16:creationId xmlns:a16="http://schemas.microsoft.com/office/drawing/2014/main" id="{2F3A5106-53B0-3783-A83C-B196DB3057B0}"/>
              </a:ext>
            </a:extLst>
          </p:cNvPr>
          <p:cNvSpPr/>
          <p:nvPr/>
        </p:nvSpPr>
        <p:spPr>
          <a:xfrm>
            <a:off x="5169303" y="4297412"/>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3" name="文字方塊 22">
            <a:extLst>
              <a:ext uri="{FF2B5EF4-FFF2-40B4-BE49-F238E27FC236}">
                <a16:creationId xmlns:a16="http://schemas.microsoft.com/office/drawing/2014/main" id="{8C12565C-A805-9AAF-E21C-784F6B5738DD}"/>
              </a:ext>
            </a:extLst>
          </p:cNvPr>
          <p:cNvSpPr txBox="1"/>
          <p:nvPr/>
        </p:nvSpPr>
        <p:spPr>
          <a:xfrm>
            <a:off x="7088499" y="4455400"/>
            <a:ext cx="2420856" cy="338554"/>
          </a:xfrm>
          <a:prstGeom prst="rect">
            <a:avLst/>
          </a:prstGeom>
          <a:noFill/>
        </p:spPr>
        <p:txBody>
          <a:bodyPr wrap="none" rtlCol="0">
            <a:spAutoFit/>
          </a:bodyPr>
          <a:lstStyle/>
          <a:p>
            <a:r>
              <a:rPr lang="en-HK" sz="1600" dirty="0">
                <a:solidFill>
                  <a:srgbClr val="FFFF00"/>
                </a:solidFill>
              </a:rPr>
              <a:t>Spaced by path distance</a:t>
            </a:r>
          </a:p>
        </p:txBody>
      </p:sp>
      <p:sp>
        <p:nvSpPr>
          <p:cNvPr id="25" name="矩形 24">
            <a:extLst>
              <a:ext uri="{FF2B5EF4-FFF2-40B4-BE49-F238E27FC236}">
                <a16:creationId xmlns:a16="http://schemas.microsoft.com/office/drawing/2014/main" id="{132286AC-8D56-E421-1FA9-A20D6CE18479}"/>
              </a:ext>
            </a:extLst>
          </p:cNvPr>
          <p:cNvSpPr/>
          <p:nvPr/>
        </p:nvSpPr>
        <p:spPr>
          <a:xfrm>
            <a:off x="3988526" y="4066903"/>
            <a:ext cx="883694" cy="16694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Tree>
    <p:extLst>
      <p:ext uri="{BB962C8B-B14F-4D97-AF65-F5344CB8AC3E}">
        <p14:creationId xmlns:p14="http://schemas.microsoft.com/office/powerpoint/2010/main" val="303347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803F5B-7D73-53AD-F07C-D6AB4A21A6AA}"/>
              </a:ext>
            </a:extLst>
          </p:cNvPr>
          <p:cNvSpPr>
            <a:spLocks noGrp="1"/>
          </p:cNvSpPr>
          <p:nvPr>
            <p:ph type="title"/>
          </p:nvPr>
        </p:nvSpPr>
        <p:spPr/>
        <p:txBody>
          <a:bodyPr/>
          <a:lstStyle/>
          <a:p>
            <a:r>
              <a:rPr lang="en-HK" dirty="0"/>
              <a:t>Timeline: Transitions</a:t>
            </a:r>
          </a:p>
        </p:txBody>
      </p:sp>
      <p:pic>
        <p:nvPicPr>
          <p:cNvPr id="6" name="內容版面配置區 5">
            <a:extLst>
              <a:ext uri="{FF2B5EF4-FFF2-40B4-BE49-F238E27FC236}">
                <a16:creationId xmlns:a16="http://schemas.microsoft.com/office/drawing/2014/main" id="{2C208C23-0FF1-43E6-9BCB-E2365F9DA041}"/>
              </a:ext>
            </a:extLst>
          </p:cNvPr>
          <p:cNvPicPr>
            <a:picLocks noGrp="1" noChangeAspect="1"/>
          </p:cNvPicPr>
          <p:nvPr>
            <p:ph idx="1"/>
          </p:nvPr>
        </p:nvPicPr>
        <p:blipFill>
          <a:blip r:embed="rId2"/>
          <a:stretch>
            <a:fillRect/>
          </a:stretch>
        </p:blipFill>
        <p:spPr>
          <a:xfrm>
            <a:off x="907025" y="2448397"/>
            <a:ext cx="8468907" cy="819264"/>
          </a:xfrm>
          <a:prstGeom prst="rect">
            <a:avLst/>
          </a:prstGeom>
        </p:spPr>
      </p:pic>
      <p:sp>
        <p:nvSpPr>
          <p:cNvPr id="4" name="投影片編號版面配置區 3">
            <a:extLst>
              <a:ext uri="{FF2B5EF4-FFF2-40B4-BE49-F238E27FC236}">
                <a16:creationId xmlns:a16="http://schemas.microsoft.com/office/drawing/2014/main" id="{4C498C9E-AA5E-EBB7-DA30-880FAEC6C0DB}"/>
              </a:ext>
            </a:extLst>
          </p:cNvPr>
          <p:cNvSpPr>
            <a:spLocks noGrp="1"/>
          </p:cNvSpPr>
          <p:nvPr>
            <p:ph type="sldNum" sz="quarter" idx="12"/>
          </p:nvPr>
        </p:nvSpPr>
        <p:spPr/>
        <p:txBody>
          <a:bodyPr/>
          <a:lstStyle/>
          <a:p>
            <a:fld id="{CF9A1619-F87A-4FCD-8947-EF4132FEEC38}" type="slidenum">
              <a:rPr lang="zh-HK" altLang="en-US" smtClean="0"/>
              <a:t>15</a:t>
            </a:fld>
            <a:endParaRPr lang="zh-HK" altLang="en-US"/>
          </a:p>
        </p:txBody>
      </p:sp>
      <p:pic>
        <p:nvPicPr>
          <p:cNvPr id="8" name="圖片 7">
            <a:extLst>
              <a:ext uri="{FF2B5EF4-FFF2-40B4-BE49-F238E27FC236}">
                <a16:creationId xmlns:a16="http://schemas.microsoft.com/office/drawing/2014/main" id="{206A63A3-45C9-1879-811B-C16D6A67AB7D}"/>
              </a:ext>
            </a:extLst>
          </p:cNvPr>
          <p:cNvPicPr>
            <a:picLocks noChangeAspect="1"/>
          </p:cNvPicPr>
          <p:nvPr/>
        </p:nvPicPr>
        <p:blipFill>
          <a:blip r:embed="rId3"/>
          <a:stretch>
            <a:fillRect/>
          </a:stretch>
        </p:blipFill>
        <p:spPr>
          <a:xfrm>
            <a:off x="867567" y="3613666"/>
            <a:ext cx="8508365" cy="699673"/>
          </a:xfrm>
          <a:prstGeom prst="rect">
            <a:avLst/>
          </a:prstGeom>
        </p:spPr>
      </p:pic>
      <p:pic>
        <p:nvPicPr>
          <p:cNvPr id="10" name="圖片 9">
            <a:extLst>
              <a:ext uri="{FF2B5EF4-FFF2-40B4-BE49-F238E27FC236}">
                <a16:creationId xmlns:a16="http://schemas.microsoft.com/office/drawing/2014/main" id="{5E7EA250-626B-E55A-C1F5-4DC29FEC8518}"/>
              </a:ext>
            </a:extLst>
          </p:cNvPr>
          <p:cNvPicPr>
            <a:picLocks noChangeAspect="1"/>
          </p:cNvPicPr>
          <p:nvPr/>
        </p:nvPicPr>
        <p:blipFill>
          <a:blip r:embed="rId4"/>
          <a:stretch>
            <a:fillRect/>
          </a:stretch>
        </p:blipFill>
        <p:spPr>
          <a:xfrm>
            <a:off x="867568" y="4659344"/>
            <a:ext cx="8508365" cy="677888"/>
          </a:xfrm>
          <a:prstGeom prst="rect">
            <a:avLst/>
          </a:prstGeom>
        </p:spPr>
      </p:pic>
      <p:pic>
        <p:nvPicPr>
          <p:cNvPr id="12" name="圖片 11">
            <a:extLst>
              <a:ext uri="{FF2B5EF4-FFF2-40B4-BE49-F238E27FC236}">
                <a16:creationId xmlns:a16="http://schemas.microsoft.com/office/drawing/2014/main" id="{062F923C-A3CC-829B-3955-5C3FAD6D2432}"/>
              </a:ext>
            </a:extLst>
          </p:cNvPr>
          <p:cNvPicPr>
            <a:picLocks noChangeAspect="1"/>
          </p:cNvPicPr>
          <p:nvPr/>
        </p:nvPicPr>
        <p:blipFill>
          <a:blip r:embed="rId5"/>
          <a:stretch>
            <a:fillRect/>
          </a:stretch>
        </p:blipFill>
        <p:spPr>
          <a:xfrm>
            <a:off x="867569" y="5741832"/>
            <a:ext cx="8508365" cy="599059"/>
          </a:xfrm>
          <a:prstGeom prst="rect">
            <a:avLst/>
          </a:prstGeom>
        </p:spPr>
      </p:pic>
      <p:sp>
        <p:nvSpPr>
          <p:cNvPr id="13" name="文字方塊 12">
            <a:extLst>
              <a:ext uri="{FF2B5EF4-FFF2-40B4-BE49-F238E27FC236}">
                <a16:creationId xmlns:a16="http://schemas.microsoft.com/office/drawing/2014/main" id="{BA7F0FA3-9119-4D6E-24DC-A511FDB9011D}"/>
              </a:ext>
            </a:extLst>
          </p:cNvPr>
          <p:cNvSpPr txBox="1"/>
          <p:nvPr/>
        </p:nvSpPr>
        <p:spPr>
          <a:xfrm>
            <a:off x="10125072" y="2673363"/>
            <a:ext cx="1493486" cy="369332"/>
          </a:xfrm>
          <a:prstGeom prst="rect">
            <a:avLst/>
          </a:prstGeom>
          <a:noFill/>
        </p:spPr>
        <p:txBody>
          <a:bodyPr wrap="none" rtlCol="0">
            <a:spAutoFit/>
          </a:bodyPr>
          <a:lstStyle/>
          <a:p>
            <a:r>
              <a:rPr lang="en-HK" b="1" dirty="0"/>
              <a:t>custom drag</a:t>
            </a:r>
          </a:p>
        </p:txBody>
      </p:sp>
      <p:sp>
        <p:nvSpPr>
          <p:cNvPr id="15" name="文字方塊 14">
            <a:extLst>
              <a:ext uri="{FF2B5EF4-FFF2-40B4-BE49-F238E27FC236}">
                <a16:creationId xmlns:a16="http://schemas.microsoft.com/office/drawing/2014/main" id="{5C64344E-118D-880A-BF39-55D21B76F60F}"/>
              </a:ext>
            </a:extLst>
          </p:cNvPr>
          <p:cNvSpPr txBox="1"/>
          <p:nvPr/>
        </p:nvSpPr>
        <p:spPr>
          <a:xfrm>
            <a:off x="10465293" y="3778836"/>
            <a:ext cx="813043" cy="369332"/>
          </a:xfrm>
          <a:prstGeom prst="rect">
            <a:avLst/>
          </a:prstGeom>
          <a:noFill/>
        </p:spPr>
        <p:txBody>
          <a:bodyPr wrap="none" rtlCol="0">
            <a:spAutoFit/>
          </a:bodyPr>
          <a:lstStyle/>
          <a:p>
            <a:pPr algn="ctr"/>
            <a:r>
              <a:rPr lang="en-HK" b="1" dirty="0"/>
              <a:t>linear</a:t>
            </a:r>
          </a:p>
        </p:txBody>
      </p:sp>
      <p:sp>
        <p:nvSpPr>
          <p:cNvPr id="17" name="文字方塊 16">
            <a:extLst>
              <a:ext uri="{FF2B5EF4-FFF2-40B4-BE49-F238E27FC236}">
                <a16:creationId xmlns:a16="http://schemas.microsoft.com/office/drawing/2014/main" id="{A6879475-82E5-102B-7DE0-F8BECB372671}"/>
              </a:ext>
            </a:extLst>
          </p:cNvPr>
          <p:cNvSpPr txBox="1"/>
          <p:nvPr/>
        </p:nvSpPr>
        <p:spPr>
          <a:xfrm>
            <a:off x="10077365" y="4690901"/>
            <a:ext cx="1588897" cy="646331"/>
          </a:xfrm>
          <a:prstGeom prst="rect">
            <a:avLst/>
          </a:prstGeom>
          <a:noFill/>
        </p:spPr>
        <p:txBody>
          <a:bodyPr wrap="none" rtlCol="0">
            <a:spAutoFit/>
          </a:bodyPr>
          <a:lstStyle/>
          <a:p>
            <a:pPr algn="ctr"/>
            <a:r>
              <a:rPr lang="en-HK" b="1" dirty="0"/>
              <a:t>Ease in</a:t>
            </a:r>
            <a:br>
              <a:rPr lang="en-HK" b="1" dirty="0"/>
            </a:br>
            <a:r>
              <a:rPr lang="en-HK" b="1" dirty="0"/>
              <a:t>(slow -&gt; fast)</a:t>
            </a:r>
          </a:p>
        </p:txBody>
      </p:sp>
      <p:sp>
        <p:nvSpPr>
          <p:cNvPr id="19" name="文字方塊 18">
            <a:extLst>
              <a:ext uri="{FF2B5EF4-FFF2-40B4-BE49-F238E27FC236}">
                <a16:creationId xmlns:a16="http://schemas.microsoft.com/office/drawing/2014/main" id="{F9666DDA-B06F-7D0F-9CF7-A8F3872870E9}"/>
              </a:ext>
            </a:extLst>
          </p:cNvPr>
          <p:cNvSpPr txBox="1"/>
          <p:nvPr/>
        </p:nvSpPr>
        <p:spPr>
          <a:xfrm>
            <a:off x="10125072" y="5741832"/>
            <a:ext cx="1588897" cy="646331"/>
          </a:xfrm>
          <a:prstGeom prst="rect">
            <a:avLst/>
          </a:prstGeom>
          <a:noFill/>
        </p:spPr>
        <p:txBody>
          <a:bodyPr wrap="none" rtlCol="0">
            <a:spAutoFit/>
          </a:bodyPr>
          <a:lstStyle/>
          <a:p>
            <a:pPr algn="ctr"/>
            <a:r>
              <a:rPr lang="en-HK" b="1" dirty="0"/>
              <a:t>Ease out</a:t>
            </a:r>
            <a:br>
              <a:rPr lang="en-HK" b="1" dirty="0"/>
            </a:br>
            <a:r>
              <a:rPr lang="en-HK" b="1" dirty="0"/>
              <a:t>(fast -&gt; slow)</a:t>
            </a:r>
          </a:p>
        </p:txBody>
      </p:sp>
      <p:sp>
        <p:nvSpPr>
          <p:cNvPr id="20" name="文字方塊 19">
            <a:extLst>
              <a:ext uri="{FF2B5EF4-FFF2-40B4-BE49-F238E27FC236}">
                <a16:creationId xmlns:a16="http://schemas.microsoft.com/office/drawing/2014/main" id="{48E5645F-0A9F-ACC5-DC13-1CC949899586}"/>
              </a:ext>
            </a:extLst>
          </p:cNvPr>
          <p:cNvSpPr txBox="1"/>
          <p:nvPr/>
        </p:nvSpPr>
        <p:spPr>
          <a:xfrm>
            <a:off x="823415" y="1214035"/>
            <a:ext cx="10545169" cy="1200329"/>
          </a:xfrm>
          <a:prstGeom prst="rect">
            <a:avLst/>
          </a:prstGeom>
          <a:noFill/>
        </p:spPr>
        <p:txBody>
          <a:bodyPr wrap="square" rtlCol="0">
            <a:spAutoFit/>
          </a:bodyPr>
          <a:lstStyle/>
          <a:p>
            <a:r>
              <a:rPr lang="en-HK" dirty="0"/>
              <a:t>Other than manually dragging each point by hand, user can use default transitions to set acceleration of path segments</a:t>
            </a:r>
            <a:br>
              <a:rPr lang="en-HK" dirty="0"/>
            </a:br>
            <a:r>
              <a:rPr lang="en-HK" dirty="0"/>
              <a:t>Note: Transitions are spaced mathematically without regard of path distance and robot max speed </a:t>
            </a:r>
          </a:p>
          <a:p>
            <a:r>
              <a:rPr lang="en-HK" dirty="0"/>
              <a:t>-&gt; fast segments can go really fast, </a:t>
            </a:r>
            <a:r>
              <a:rPr lang="en-HK" dirty="0">
                <a:highlight>
                  <a:srgbClr val="FFFF00"/>
                </a:highlight>
              </a:rPr>
              <a:t>safety check WIP</a:t>
            </a:r>
          </a:p>
        </p:txBody>
      </p:sp>
    </p:spTree>
    <p:extLst>
      <p:ext uri="{BB962C8B-B14F-4D97-AF65-F5344CB8AC3E}">
        <p14:creationId xmlns:p14="http://schemas.microsoft.com/office/powerpoint/2010/main" val="4062613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BAF03F-171E-9411-6E3B-11C01B51A068}"/>
              </a:ext>
            </a:extLst>
          </p:cNvPr>
          <p:cNvSpPr>
            <a:spLocks noGrp="1"/>
          </p:cNvSpPr>
          <p:nvPr>
            <p:ph type="title"/>
          </p:nvPr>
        </p:nvSpPr>
        <p:spPr/>
        <p:txBody>
          <a:bodyPr/>
          <a:lstStyle/>
          <a:p>
            <a:r>
              <a:rPr lang="en-HK" dirty="0"/>
              <a:t>Timeline: Transitions</a:t>
            </a:r>
          </a:p>
        </p:txBody>
      </p:sp>
      <p:pic>
        <p:nvPicPr>
          <p:cNvPr id="6" name="內容版面配置區 5">
            <a:extLst>
              <a:ext uri="{FF2B5EF4-FFF2-40B4-BE49-F238E27FC236}">
                <a16:creationId xmlns:a16="http://schemas.microsoft.com/office/drawing/2014/main" id="{9752CAA0-BA03-E190-FDF4-4C174CF424DA}"/>
              </a:ext>
            </a:extLst>
          </p:cNvPr>
          <p:cNvPicPr>
            <a:picLocks noGrp="1" noChangeAspect="1"/>
          </p:cNvPicPr>
          <p:nvPr>
            <p:ph idx="1"/>
          </p:nvPr>
        </p:nvPicPr>
        <p:blipFill>
          <a:blip r:embed="rId2"/>
          <a:stretch>
            <a:fillRect/>
          </a:stretch>
        </p:blipFill>
        <p:spPr>
          <a:xfrm>
            <a:off x="4142909" y="2698184"/>
            <a:ext cx="3124636" cy="3781953"/>
          </a:xfrm>
          <a:prstGeom prst="rect">
            <a:avLst/>
          </a:prstGeom>
        </p:spPr>
      </p:pic>
      <p:sp>
        <p:nvSpPr>
          <p:cNvPr id="4" name="投影片編號版面配置區 3">
            <a:extLst>
              <a:ext uri="{FF2B5EF4-FFF2-40B4-BE49-F238E27FC236}">
                <a16:creationId xmlns:a16="http://schemas.microsoft.com/office/drawing/2014/main" id="{06B44063-5421-E4CE-64D7-82D2776B977F}"/>
              </a:ext>
            </a:extLst>
          </p:cNvPr>
          <p:cNvSpPr>
            <a:spLocks noGrp="1"/>
          </p:cNvSpPr>
          <p:nvPr>
            <p:ph type="sldNum" sz="quarter" idx="12"/>
          </p:nvPr>
        </p:nvSpPr>
        <p:spPr>
          <a:xfrm>
            <a:off x="7624011" y="6350364"/>
            <a:ext cx="683339" cy="365125"/>
          </a:xfrm>
        </p:spPr>
        <p:txBody>
          <a:bodyPr/>
          <a:lstStyle/>
          <a:p>
            <a:fld id="{CF9A1619-F87A-4FCD-8947-EF4132FEEC38}" type="slidenum">
              <a:rPr lang="zh-HK" altLang="en-US" smtClean="0"/>
              <a:t>16</a:t>
            </a:fld>
            <a:endParaRPr lang="zh-HK" altLang="en-US"/>
          </a:p>
        </p:txBody>
      </p:sp>
      <p:sp>
        <p:nvSpPr>
          <p:cNvPr id="7" name="文字方塊 6">
            <a:extLst>
              <a:ext uri="{FF2B5EF4-FFF2-40B4-BE49-F238E27FC236}">
                <a16:creationId xmlns:a16="http://schemas.microsoft.com/office/drawing/2014/main" id="{7A0F4918-3EED-ECE8-D8DA-05A4CD47A1FF}"/>
              </a:ext>
            </a:extLst>
          </p:cNvPr>
          <p:cNvSpPr txBox="1"/>
          <p:nvPr/>
        </p:nvSpPr>
        <p:spPr>
          <a:xfrm>
            <a:off x="677334" y="1622509"/>
            <a:ext cx="5677988" cy="646331"/>
          </a:xfrm>
          <a:prstGeom prst="rect">
            <a:avLst/>
          </a:prstGeom>
          <a:noFill/>
        </p:spPr>
        <p:txBody>
          <a:bodyPr wrap="square" rtlCol="0">
            <a:spAutoFit/>
          </a:bodyPr>
          <a:lstStyle/>
          <a:p>
            <a:r>
              <a:rPr lang="en-HK" dirty="0"/>
              <a:t>User can also customise transitions with Bezier curves, but feature is untested</a:t>
            </a:r>
          </a:p>
        </p:txBody>
      </p:sp>
      <p:sp>
        <p:nvSpPr>
          <p:cNvPr id="8" name="文字方塊 7">
            <a:extLst>
              <a:ext uri="{FF2B5EF4-FFF2-40B4-BE49-F238E27FC236}">
                <a16:creationId xmlns:a16="http://schemas.microsoft.com/office/drawing/2014/main" id="{09A9DD34-8471-50D7-427D-7511603F1A9B}"/>
              </a:ext>
            </a:extLst>
          </p:cNvPr>
          <p:cNvSpPr txBox="1"/>
          <p:nvPr/>
        </p:nvSpPr>
        <p:spPr>
          <a:xfrm>
            <a:off x="7466318" y="2512289"/>
            <a:ext cx="1574470" cy="369332"/>
          </a:xfrm>
          <a:prstGeom prst="rect">
            <a:avLst/>
          </a:prstGeom>
          <a:noFill/>
        </p:spPr>
        <p:txBody>
          <a:bodyPr wrap="none" rtlCol="0">
            <a:spAutoFit/>
          </a:bodyPr>
          <a:lstStyle/>
          <a:p>
            <a:r>
              <a:rPr lang="en-HK" dirty="0"/>
              <a:t>End waypoint</a:t>
            </a:r>
          </a:p>
        </p:txBody>
      </p:sp>
      <p:cxnSp>
        <p:nvCxnSpPr>
          <p:cNvPr id="9" name="直線單箭頭接點 8">
            <a:extLst>
              <a:ext uri="{FF2B5EF4-FFF2-40B4-BE49-F238E27FC236}">
                <a16:creationId xmlns:a16="http://schemas.microsoft.com/office/drawing/2014/main" id="{CA0EA347-2D65-51E4-CF00-06B0EFCCA825}"/>
              </a:ext>
            </a:extLst>
          </p:cNvPr>
          <p:cNvCxnSpPr>
            <a:cxnSpLocks/>
          </p:cNvCxnSpPr>
          <p:nvPr/>
        </p:nvCxnSpPr>
        <p:spPr>
          <a:xfrm flipH="1">
            <a:off x="7027816" y="2724865"/>
            <a:ext cx="499462" cy="46581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1" name="直線單箭頭接點 10">
            <a:extLst>
              <a:ext uri="{FF2B5EF4-FFF2-40B4-BE49-F238E27FC236}">
                <a16:creationId xmlns:a16="http://schemas.microsoft.com/office/drawing/2014/main" id="{4F638123-72F2-4FBA-DA34-CCA1153D2A35}"/>
              </a:ext>
            </a:extLst>
          </p:cNvPr>
          <p:cNvCxnSpPr>
            <a:cxnSpLocks/>
          </p:cNvCxnSpPr>
          <p:nvPr/>
        </p:nvCxnSpPr>
        <p:spPr>
          <a:xfrm flipH="1">
            <a:off x="4493622" y="5733586"/>
            <a:ext cx="3033656" cy="6966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14" name="文字方塊 13">
            <a:extLst>
              <a:ext uri="{FF2B5EF4-FFF2-40B4-BE49-F238E27FC236}">
                <a16:creationId xmlns:a16="http://schemas.microsoft.com/office/drawing/2014/main" id="{2032ED1C-AD5E-E6BD-70B3-89DB6093C054}"/>
              </a:ext>
            </a:extLst>
          </p:cNvPr>
          <p:cNvSpPr txBox="1"/>
          <p:nvPr/>
        </p:nvSpPr>
        <p:spPr>
          <a:xfrm>
            <a:off x="7527278" y="3617382"/>
            <a:ext cx="1628972" cy="369332"/>
          </a:xfrm>
          <a:prstGeom prst="rect">
            <a:avLst/>
          </a:prstGeom>
          <a:noFill/>
        </p:spPr>
        <p:txBody>
          <a:bodyPr wrap="none" rtlCol="0">
            <a:spAutoFit/>
          </a:bodyPr>
          <a:lstStyle/>
          <a:p>
            <a:r>
              <a:rPr lang="en-HK" dirty="0"/>
              <a:t>Sample points</a:t>
            </a:r>
          </a:p>
        </p:txBody>
      </p:sp>
      <p:cxnSp>
        <p:nvCxnSpPr>
          <p:cNvPr id="15" name="直線單箭頭接點 14">
            <a:extLst>
              <a:ext uri="{FF2B5EF4-FFF2-40B4-BE49-F238E27FC236}">
                <a16:creationId xmlns:a16="http://schemas.microsoft.com/office/drawing/2014/main" id="{1248B92A-CFF3-FED5-C53F-F6449ACC3C11}"/>
              </a:ext>
            </a:extLst>
          </p:cNvPr>
          <p:cNvCxnSpPr>
            <a:cxnSpLocks/>
          </p:cNvCxnSpPr>
          <p:nvPr/>
        </p:nvCxnSpPr>
        <p:spPr>
          <a:xfrm flipH="1">
            <a:off x="5947953" y="3792002"/>
            <a:ext cx="1632875" cy="254821"/>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01A913ED-16C5-4537-E297-572BD5191C51}"/>
              </a:ext>
            </a:extLst>
          </p:cNvPr>
          <p:cNvSpPr txBox="1"/>
          <p:nvPr/>
        </p:nvSpPr>
        <p:spPr>
          <a:xfrm>
            <a:off x="7522649" y="5557761"/>
            <a:ext cx="1701107" cy="369332"/>
          </a:xfrm>
          <a:prstGeom prst="rect">
            <a:avLst/>
          </a:prstGeom>
          <a:noFill/>
        </p:spPr>
        <p:txBody>
          <a:bodyPr wrap="none" rtlCol="0">
            <a:spAutoFit/>
          </a:bodyPr>
          <a:lstStyle/>
          <a:p>
            <a:r>
              <a:rPr lang="en-HK" dirty="0"/>
              <a:t>Start waypoint</a:t>
            </a:r>
          </a:p>
        </p:txBody>
      </p:sp>
    </p:spTree>
    <p:extLst>
      <p:ext uri="{BB962C8B-B14F-4D97-AF65-F5344CB8AC3E}">
        <p14:creationId xmlns:p14="http://schemas.microsoft.com/office/powerpoint/2010/main" val="3797046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657092-EA9D-50B5-584C-7C16F0636D97}"/>
              </a:ext>
            </a:extLst>
          </p:cNvPr>
          <p:cNvSpPr>
            <a:spLocks noGrp="1"/>
          </p:cNvSpPr>
          <p:nvPr>
            <p:ph type="title"/>
          </p:nvPr>
        </p:nvSpPr>
        <p:spPr/>
        <p:txBody>
          <a:bodyPr/>
          <a:lstStyle/>
          <a:p>
            <a:r>
              <a:rPr lang="en-HK" dirty="0"/>
              <a:t>Saved Paths</a:t>
            </a:r>
          </a:p>
        </p:txBody>
      </p:sp>
      <p:sp>
        <p:nvSpPr>
          <p:cNvPr id="3" name="內容版面配置區 2">
            <a:extLst>
              <a:ext uri="{FF2B5EF4-FFF2-40B4-BE49-F238E27FC236}">
                <a16:creationId xmlns:a16="http://schemas.microsoft.com/office/drawing/2014/main" id="{90641631-83CC-AED2-4E6D-75616E676FC8}"/>
              </a:ext>
            </a:extLst>
          </p:cNvPr>
          <p:cNvSpPr>
            <a:spLocks noGrp="1"/>
          </p:cNvSpPr>
          <p:nvPr>
            <p:ph idx="1"/>
          </p:nvPr>
        </p:nvSpPr>
        <p:spPr>
          <a:xfrm>
            <a:off x="677334" y="1568406"/>
            <a:ext cx="8596668" cy="3880773"/>
          </a:xfrm>
        </p:spPr>
        <p:txBody>
          <a:bodyPr/>
          <a:lstStyle/>
          <a:p>
            <a:r>
              <a:rPr lang="en-HK" dirty="0"/>
              <a:t>Users can save entire timeline into a block (saved path)</a:t>
            </a:r>
          </a:p>
          <a:p>
            <a:r>
              <a:rPr lang="en-HK" dirty="0"/>
              <a:t>Like saved points they can be saved locally or globally</a:t>
            </a:r>
          </a:p>
          <a:p>
            <a:r>
              <a:rPr lang="en-HK" dirty="0"/>
              <a:t>Users can drag saved paths onto timeline to reuse specific paths or simply use default given paths for simplicity (</a:t>
            </a:r>
            <a:r>
              <a:rPr lang="en-HK" dirty="0" err="1"/>
              <a:t>ie</a:t>
            </a:r>
            <a:r>
              <a:rPr lang="en-HK" dirty="0"/>
              <a:t> create paths via waypoint method and provide them as saved paths to be used in video shoot </a:t>
            </a:r>
            <a:r>
              <a:rPr lang="en-HK" dirty="0" err="1"/>
              <a:t>ui</a:t>
            </a:r>
            <a:r>
              <a:rPr lang="en-HK" dirty="0"/>
              <a:t>)</a:t>
            </a:r>
          </a:p>
        </p:txBody>
      </p:sp>
      <p:sp>
        <p:nvSpPr>
          <p:cNvPr id="4" name="投影片編號版面配置區 3">
            <a:extLst>
              <a:ext uri="{FF2B5EF4-FFF2-40B4-BE49-F238E27FC236}">
                <a16:creationId xmlns:a16="http://schemas.microsoft.com/office/drawing/2014/main" id="{A5916554-0AEB-D459-29F8-9EEE1436EF9B}"/>
              </a:ext>
            </a:extLst>
          </p:cNvPr>
          <p:cNvSpPr>
            <a:spLocks noGrp="1"/>
          </p:cNvSpPr>
          <p:nvPr>
            <p:ph type="sldNum" sz="quarter" idx="12"/>
          </p:nvPr>
        </p:nvSpPr>
        <p:spPr/>
        <p:txBody>
          <a:bodyPr/>
          <a:lstStyle/>
          <a:p>
            <a:fld id="{CF9A1619-F87A-4FCD-8947-EF4132FEEC38}" type="slidenum">
              <a:rPr lang="zh-HK" altLang="en-US" smtClean="0"/>
              <a:t>17</a:t>
            </a:fld>
            <a:endParaRPr lang="zh-HK" altLang="en-US"/>
          </a:p>
        </p:txBody>
      </p:sp>
      <p:pic>
        <p:nvPicPr>
          <p:cNvPr id="6" name="圖片 5">
            <a:extLst>
              <a:ext uri="{FF2B5EF4-FFF2-40B4-BE49-F238E27FC236}">
                <a16:creationId xmlns:a16="http://schemas.microsoft.com/office/drawing/2014/main" id="{4451AFA2-553D-85C5-59A1-29B6BEDB863B}"/>
              </a:ext>
            </a:extLst>
          </p:cNvPr>
          <p:cNvPicPr>
            <a:picLocks noChangeAspect="1"/>
          </p:cNvPicPr>
          <p:nvPr/>
        </p:nvPicPr>
        <p:blipFill>
          <a:blip r:embed="rId2"/>
          <a:srcRect b="30279"/>
          <a:stretch>
            <a:fillRect/>
          </a:stretch>
        </p:blipFill>
        <p:spPr>
          <a:xfrm>
            <a:off x="242543" y="5047134"/>
            <a:ext cx="2991267" cy="1627268"/>
          </a:xfrm>
          <a:prstGeom prst="rect">
            <a:avLst/>
          </a:prstGeom>
        </p:spPr>
      </p:pic>
      <p:pic>
        <p:nvPicPr>
          <p:cNvPr id="8" name="圖片 7">
            <a:extLst>
              <a:ext uri="{FF2B5EF4-FFF2-40B4-BE49-F238E27FC236}">
                <a16:creationId xmlns:a16="http://schemas.microsoft.com/office/drawing/2014/main" id="{639EBB9A-8B1C-A006-6506-0F7580C997DC}"/>
              </a:ext>
            </a:extLst>
          </p:cNvPr>
          <p:cNvPicPr>
            <a:picLocks noChangeAspect="1"/>
          </p:cNvPicPr>
          <p:nvPr/>
        </p:nvPicPr>
        <p:blipFill>
          <a:blip r:embed="rId3"/>
          <a:stretch>
            <a:fillRect/>
          </a:stretch>
        </p:blipFill>
        <p:spPr>
          <a:xfrm>
            <a:off x="442520" y="3283672"/>
            <a:ext cx="6396654" cy="1070408"/>
          </a:xfrm>
          <a:prstGeom prst="rect">
            <a:avLst/>
          </a:prstGeom>
        </p:spPr>
      </p:pic>
      <p:sp>
        <p:nvSpPr>
          <p:cNvPr id="10" name="矩形 9">
            <a:extLst>
              <a:ext uri="{FF2B5EF4-FFF2-40B4-BE49-F238E27FC236}">
                <a16:creationId xmlns:a16="http://schemas.microsoft.com/office/drawing/2014/main" id="{A2F63820-1692-930B-852D-265B8107811E}"/>
              </a:ext>
            </a:extLst>
          </p:cNvPr>
          <p:cNvSpPr/>
          <p:nvPr/>
        </p:nvSpPr>
        <p:spPr>
          <a:xfrm>
            <a:off x="242542" y="5661800"/>
            <a:ext cx="2927377" cy="20851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cxnSp>
        <p:nvCxnSpPr>
          <p:cNvPr id="11" name="直線單箭頭接點 10">
            <a:extLst>
              <a:ext uri="{FF2B5EF4-FFF2-40B4-BE49-F238E27FC236}">
                <a16:creationId xmlns:a16="http://schemas.microsoft.com/office/drawing/2014/main" id="{B95C50D1-D67B-72D6-873F-B93D7F1C0550}"/>
              </a:ext>
            </a:extLst>
          </p:cNvPr>
          <p:cNvCxnSpPr>
            <a:cxnSpLocks/>
          </p:cNvCxnSpPr>
          <p:nvPr/>
        </p:nvCxnSpPr>
        <p:spPr>
          <a:xfrm flipH="1">
            <a:off x="1541417" y="3829886"/>
            <a:ext cx="1790755" cy="1754922"/>
          </a:xfrm>
          <a:prstGeom prst="straightConnector1">
            <a:avLst/>
          </a:prstGeom>
          <a:ln w="38100">
            <a:solidFill>
              <a:srgbClr val="FFFF00"/>
            </a:solidFill>
            <a:tailEnd type="triangle"/>
          </a:ln>
        </p:spPr>
        <p:style>
          <a:lnRef idx="1">
            <a:schemeClr val="accent5"/>
          </a:lnRef>
          <a:fillRef idx="0">
            <a:schemeClr val="accent5"/>
          </a:fillRef>
          <a:effectRef idx="0">
            <a:schemeClr val="accent5"/>
          </a:effectRef>
          <a:fontRef idx="minor">
            <a:schemeClr val="tx1"/>
          </a:fontRef>
        </p:style>
      </p:cxnSp>
      <p:pic>
        <p:nvPicPr>
          <p:cNvPr id="14" name="圖片 13">
            <a:extLst>
              <a:ext uri="{FF2B5EF4-FFF2-40B4-BE49-F238E27FC236}">
                <a16:creationId xmlns:a16="http://schemas.microsoft.com/office/drawing/2014/main" id="{17740E34-3194-CCA4-5DA9-551919B9273A}"/>
              </a:ext>
            </a:extLst>
          </p:cNvPr>
          <p:cNvPicPr>
            <a:picLocks noChangeAspect="1"/>
          </p:cNvPicPr>
          <p:nvPr/>
        </p:nvPicPr>
        <p:blipFill>
          <a:blip r:embed="rId4"/>
          <a:stretch>
            <a:fillRect/>
          </a:stretch>
        </p:blipFill>
        <p:spPr>
          <a:xfrm>
            <a:off x="3300954" y="4607269"/>
            <a:ext cx="2925365" cy="936949"/>
          </a:xfrm>
          <a:prstGeom prst="rect">
            <a:avLst/>
          </a:prstGeom>
        </p:spPr>
      </p:pic>
      <p:sp>
        <p:nvSpPr>
          <p:cNvPr id="16" name="箭號: 向右 15">
            <a:extLst>
              <a:ext uri="{FF2B5EF4-FFF2-40B4-BE49-F238E27FC236}">
                <a16:creationId xmlns:a16="http://schemas.microsoft.com/office/drawing/2014/main" id="{7A1771F7-D055-2FBC-B066-1E03AB3BF027}"/>
              </a:ext>
            </a:extLst>
          </p:cNvPr>
          <p:cNvSpPr/>
          <p:nvPr/>
        </p:nvSpPr>
        <p:spPr>
          <a:xfrm rot="13233162">
            <a:off x="4248744" y="5092074"/>
            <a:ext cx="197028" cy="139623"/>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pic>
        <p:nvPicPr>
          <p:cNvPr id="18" name="圖片 17">
            <a:extLst>
              <a:ext uri="{FF2B5EF4-FFF2-40B4-BE49-F238E27FC236}">
                <a16:creationId xmlns:a16="http://schemas.microsoft.com/office/drawing/2014/main" id="{30B44EFE-AFD3-B0A2-C499-AFAFBFEA851A}"/>
              </a:ext>
            </a:extLst>
          </p:cNvPr>
          <p:cNvPicPr>
            <a:picLocks noChangeAspect="1"/>
          </p:cNvPicPr>
          <p:nvPr/>
        </p:nvPicPr>
        <p:blipFill>
          <a:blip r:embed="rId5"/>
          <a:stretch>
            <a:fillRect/>
          </a:stretch>
        </p:blipFill>
        <p:spPr>
          <a:xfrm>
            <a:off x="5427443" y="5639257"/>
            <a:ext cx="6522014" cy="1035145"/>
          </a:xfrm>
          <a:prstGeom prst="rect">
            <a:avLst/>
          </a:prstGeom>
        </p:spPr>
      </p:pic>
      <p:sp>
        <p:nvSpPr>
          <p:cNvPr id="20" name="箭號: 向右 19">
            <a:extLst>
              <a:ext uri="{FF2B5EF4-FFF2-40B4-BE49-F238E27FC236}">
                <a16:creationId xmlns:a16="http://schemas.microsoft.com/office/drawing/2014/main" id="{2C9F3561-E9A6-C44A-12BD-72EEAAF5C198}"/>
              </a:ext>
            </a:extLst>
          </p:cNvPr>
          <p:cNvSpPr/>
          <p:nvPr/>
        </p:nvSpPr>
        <p:spPr>
          <a:xfrm>
            <a:off x="3233810" y="5900509"/>
            <a:ext cx="2193633"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1" name="文字方塊 20">
            <a:extLst>
              <a:ext uri="{FF2B5EF4-FFF2-40B4-BE49-F238E27FC236}">
                <a16:creationId xmlns:a16="http://schemas.microsoft.com/office/drawing/2014/main" id="{98476649-4FB3-FF70-FD89-CD10E36BDA1F}"/>
              </a:ext>
            </a:extLst>
          </p:cNvPr>
          <p:cNvSpPr txBox="1"/>
          <p:nvPr/>
        </p:nvSpPr>
        <p:spPr>
          <a:xfrm>
            <a:off x="1719185" y="4342034"/>
            <a:ext cx="941283" cy="369332"/>
          </a:xfrm>
          <a:prstGeom prst="rect">
            <a:avLst/>
          </a:prstGeom>
          <a:noFill/>
        </p:spPr>
        <p:txBody>
          <a:bodyPr wrap="none" rtlCol="0">
            <a:spAutoFit/>
          </a:bodyPr>
          <a:lstStyle/>
          <a:p>
            <a:r>
              <a:rPr lang="en-HK" dirty="0"/>
              <a:t>Save to</a:t>
            </a:r>
          </a:p>
        </p:txBody>
      </p:sp>
      <p:sp>
        <p:nvSpPr>
          <p:cNvPr id="23" name="文字方塊 22">
            <a:extLst>
              <a:ext uri="{FF2B5EF4-FFF2-40B4-BE49-F238E27FC236}">
                <a16:creationId xmlns:a16="http://schemas.microsoft.com/office/drawing/2014/main" id="{AD40E589-4941-A9CB-2CF2-89E6421AB0CE}"/>
              </a:ext>
            </a:extLst>
          </p:cNvPr>
          <p:cNvSpPr txBox="1"/>
          <p:nvPr/>
        </p:nvSpPr>
        <p:spPr>
          <a:xfrm>
            <a:off x="3916834" y="5966286"/>
            <a:ext cx="675185" cy="369332"/>
          </a:xfrm>
          <a:prstGeom prst="rect">
            <a:avLst/>
          </a:prstGeom>
          <a:noFill/>
        </p:spPr>
        <p:txBody>
          <a:bodyPr wrap="none" rtlCol="0">
            <a:spAutoFit/>
          </a:bodyPr>
          <a:lstStyle/>
          <a:p>
            <a:r>
              <a:rPr lang="en-HK" dirty="0"/>
              <a:t>Load</a:t>
            </a:r>
          </a:p>
        </p:txBody>
      </p:sp>
      <p:sp>
        <p:nvSpPr>
          <p:cNvPr id="27" name="文字方塊 26">
            <a:extLst>
              <a:ext uri="{FF2B5EF4-FFF2-40B4-BE49-F238E27FC236}">
                <a16:creationId xmlns:a16="http://schemas.microsoft.com/office/drawing/2014/main" id="{5C7927EB-C1FE-58E0-89CA-94CAFEE9E9ED}"/>
              </a:ext>
            </a:extLst>
          </p:cNvPr>
          <p:cNvSpPr txBox="1"/>
          <p:nvPr/>
        </p:nvSpPr>
        <p:spPr>
          <a:xfrm>
            <a:off x="677334" y="1273946"/>
            <a:ext cx="5713359" cy="369332"/>
          </a:xfrm>
          <a:prstGeom prst="rect">
            <a:avLst/>
          </a:prstGeom>
          <a:noFill/>
        </p:spPr>
        <p:txBody>
          <a:bodyPr wrap="none" rtlCol="0">
            <a:spAutoFit/>
          </a:bodyPr>
          <a:lstStyle/>
          <a:p>
            <a:r>
              <a:rPr lang="en-HK" dirty="0">
                <a:highlight>
                  <a:srgbClr val="FFFF00"/>
                </a:highlight>
              </a:rPr>
              <a:t>Taken from Video Editing software (</a:t>
            </a:r>
            <a:r>
              <a:rPr lang="en-HK" dirty="0" err="1">
                <a:highlight>
                  <a:srgbClr val="FFFF00"/>
                </a:highlight>
              </a:rPr>
              <a:t>eg.</a:t>
            </a:r>
            <a:r>
              <a:rPr lang="en-HK" dirty="0">
                <a:highlight>
                  <a:srgbClr val="FFFF00"/>
                </a:highlight>
              </a:rPr>
              <a:t> Premiere Pro)</a:t>
            </a:r>
          </a:p>
        </p:txBody>
      </p:sp>
    </p:spTree>
    <p:extLst>
      <p:ext uri="{BB962C8B-B14F-4D97-AF65-F5344CB8AC3E}">
        <p14:creationId xmlns:p14="http://schemas.microsoft.com/office/powerpoint/2010/main" val="3282055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EABC33-EEDE-AD6F-BF05-10C74D9D7735}"/>
              </a:ext>
            </a:extLst>
          </p:cNvPr>
          <p:cNvSpPr>
            <a:spLocks noGrp="1"/>
          </p:cNvSpPr>
          <p:nvPr>
            <p:ph type="title"/>
          </p:nvPr>
        </p:nvSpPr>
        <p:spPr/>
        <p:txBody>
          <a:bodyPr/>
          <a:lstStyle/>
          <a:p>
            <a:r>
              <a:rPr lang="en-HK" dirty="0"/>
              <a:t>Saved Paths</a:t>
            </a:r>
          </a:p>
        </p:txBody>
      </p:sp>
      <p:sp>
        <p:nvSpPr>
          <p:cNvPr id="3" name="內容版面配置區 2">
            <a:extLst>
              <a:ext uri="{FF2B5EF4-FFF2-40B4-BE49-F238E27FC236}">
                <a16:creationId xmlns:a16="http://schemas.microsoft.com/office/drawing/2014/main" id="{A280AA18-30E3-A45B-369E-5ABE17392AE1}"/>
              </a:ext>
            </a:extLst>
          </p:cNvPr>
          <p:cNvSpPr>
            <a:spLocks noGrp="1"/>
          </p:cNvSpPr>
          <p:nvPr>
            <p:ph idx="1"/>
          </p:nvPr>
        </p:nvSpPr>
        <p:spPr>
          <a:xfrm>
            <a:off x="677334" y="1488613"/>
            <a:ext cx="8875969" cy="3880773"/>
          </a:xfrm>
        </p:spPr>
        <p:txBody>
          <a:bodyPr/>
          <a:lstStyle/>
          <a:p>
            <a:r>
              <a:rPr lang="en-HK" dirty="0"/>
              <a:t>Saved paths can be used in conjunction with regular waypoints</a:t>
            </a:r>
          </a:p>
          <a:p>
            <a:endParaRPr lang="en-HK" dirty="0"/>
          </a:p>
          <a:p>
            <a:endParaRPr lang="en-HK" dirty="0"/>
          </a:p>
          <a:p>
            <a:r>
              <a:rPr lang="en-HK" dirty="0"/>
              <a:t>At the moment segments connected to paths are Force FK mode by default for simplicity (avoid path editing for inexperienced users that rely on saved paths)</a:t>
            </a:r>
          </a:p>
          <a:p>
            <a:r>
              <a:rPr lang="en-HK" dirty="0"/>
              <a:t>Experienced users can unwrap saved paths back to individual waypoints for customised edits</a:t>
            </a:r>
          </a:p>
        </p:txBody>
      </p:sp>
      <p:sp>
        <p:nvSpPr>
          <p:cNvPr id="4" name="投影片編號版面配置區 3">
            <a:extLst>
              <a:ext uri="{FF2B5EF4-FFF2-40B4-BE49-F238E27FC236}">
                <a16:creationId xmlns:a16="http://schemas.microsoft.com/office/drawing/2014/main" id="{E724E6E7-B9F5-9562-EEAB-384FE76D2559}"/>
              </a:ext>
            </a:extLst>
          </p:cNvPr>
          <p:cNvSpPr>
            <a:spLocks noGrp="1"/>
          </p:cNvSpPr>
          <p:nvPr>
            <p:ph type="sldNum" sz="quarter" idx="12"/>
          </p:nvPr>
        </p:nvSpPr>
        <p:spPr/>
        <p:txBody>
          <a:bodyPr/>
          <a:lstStyle/>
          <a:p>
            <a:fld id="{CF9A1619-F87A-4FCD-8947-EF4132FEEC38}" type="slidenum">
              <a:rPr lang="zh-HK" altLang="en-US" smtClean="0"/>
              <a:t>18</a:t>
            </a:fld>
            <a:endParaRPr lang="zh-HK" altLang="en-US"/>
          </a:p>
        </p:txBody>
      </p:sp>
      <p:pic>
        <p:nvPicPr>
          <p:cNvPr id="6" name="圖片 5">
            <a:extLst>
              <a:ext uri="{FF2B5EF4-FFF2-40B4-BE49-F238E27FC236}">
                <a16:creationId xmlns:a16="http://schemas.microsoft.com/office/drawing/2014/main" id="{4F49A668-66DB-8516-FEA8-CB8DB94D6E34}"/>
              </a:ext>
            </a:extLst>
          </p:cNvPr>
          <p:cNvPicPr>
            <a:picLocks noChangeAspect="1"/>
          </p:cNvPicPr>
          <p:nvPr/>
        </p:nvPicPr>
        <p:blipFill>
          <a:blip r:embed="rId4"/>
          <a:stretch>
            <a:fillRect/>
          </a:stretch>
        </p:blipFill>
        <p:spPr>
          <a:xfrm>
            <a:off x="1150312" y="1907630"/>
            <a:ext cx="6373114" cy="514422"/>
          </a:xfrm>
          <a:prstGeom prst="rect">
            <a:avLst/>
          </a:prstGeom>
        </p:spPr>
      </p:pic>
      <p:pic>
        <p:nvPicPr>
          <p:cNvPr id="8" name="Unwrap saved paths">
            <a:hlinkClick r:id="" action="ppaction://media"/>
            <a:extLst>
              <a:ext uri="{FF2B5EF4-FFF2-40B4-BE49-F238E27FC236}">
                <a16:creationId xmlns:a16="http://schemas.microsoft.com/office/drawing/2014/main" id="{57B63994-47FA-F071-BF78-13F03539C1E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17670" y="3915898"/>
            <a:ext cx="5303054" cy="2632948"/>
          </a:xfrm>
          <a:prstGeom prst="rect">
            <a:avLst/>
          </a:prstGeom>
        </p:spPr>
      </p:pic>
    </p:spTree>
    <p:extLst>
      <p:ext uri="{BB962C8B-B14F-4D97-AF65-F5344CB8AC3E}">
        <p14:creationId xmlns:p14="http://schemas.microsoft.com/office/powerpoint/2010/main" val="98166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2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D1B596-292D-FDF9-0BCF-65D15F4A505E}"/>
              </a:ext>
            </a:extLst>
          </p:cNvPr>
          <p:cNvSpPr>
            <a:spLocks noGrp="1"/>
          </p:cNvSpPr>
          <p:nvPr>
            <p:ph type="title"/>
          </p:nvPr>
        </p:nvSpPr>
        <p:spPr/>
        <p:txBody>
          <a:bodyPr/>
          <a:lstStyle/>
          <a:p>
            <a:r>
              <a:rPr lang="en-HK" dirty="0"/>
              <a:t>Object Properties</a:t>
            </a:r>
            <a:br>
              <a:rPr lang="en-HK" dirty="0"/>
            </a:br>
            <a:endParaRPr lang="en-HK" dirty="0"/>
          </a:p>
        </p:txBody>
      </p:sp>
      <p:sp>
        <p:nvSpPr>
          <p:cNvPr id="3" name="內容版面配置區 2">
            <a:extLst>
              <a:ext uri="{FF2B5EF4-FFF2-40B4-BE49-F238E27FC236}">
                <a16:creationId xmlns:a16="http://schemas.microsoft.com/office/drawing/2014/main" id="{7467106D-DF9B-6A73-80CE-913071AD31A9}"/>
              </a:ext>
            </a:extLst>
          </p:cNvPr>
          <p:cNvSpPr>
            <a:spLocks noGrp="1"/>
          </p:cNvSpPr>
          <p:nvPr>
            <p:ph idx="1"/>
          </p:nvPr>
        </p:nvSpPr>
        <p:spPr>
          <a:xfrm>
            <a:off x="677334" y="1660959"/>
            <a:ext cx="8596668" cy="3880773"/>
          </a:xfrm>
        </p:spPr>
        <p:txBody>
          <a:bodyPr/>
          <a:lstStyle/>
          <a:p>
            <a:r>
              <a:rPr lang="en-HK" dirty="0"/>
              <a:t>Shows transform and other relevant properties for selected item in world view</a:t>
            </a:r>
          </a:p>
        </p:txBody>
      </p:sp>
      <p:sp>
        <p:nvSpPr>
          <p:cNvPr id="4" name="投影片編號版面配置區 3">
            <a:extLst>
              <a:ext uri="{FF2B5EF4-FFF2-40B4-BE49-F238E27FC236}">
                <a16:creationId xmlns:a16="http://schemas.microsoft.com/office/drawing/2014/main" id="{B7827311-7436-BBB8-5831-AEE233ACA1E4}"/>
              </a:ext>
            </a:extLst>
          </p:cNvPr>
          <p:cNvSpPr>
            <a:spLocks noGrp="1"/>
          </p:cNvSpPr>
          <p:nvPr>
            <p:ph type="sldNum" sz="quarter" idx="12"/>
          </p:nvPr>
        </p:nvSpPr>
        <p:spPr/>
        <p:txBody>
          <a:bodyPr/>
          <a:lstStyle/>
          <a:p>
            <a:fld id="{CF9A1619-F87A-4FCD-8947-EF4132FEEC38}" type="slidenum">
              <a:rPr lang="zh-HK" altLang="en-US" smtClean="0"/>
              <a:t>19</a:t>
            </a:fld>
            <a:endParaRPr lang="zh-HK" altLang="en-US"/>
          </a:p>
        </p:txBody>
      </p:sp>
      <p:pic>
        <p:nvPicPr>
          <p:cNvPr id="5" name="內容版面配置區 8">
            <a:extLst>
              <a:ext uri="{FF2B5EF4-FFF2-40B4-BE49-F238E27FC236}">
                <a16:creationId xmlns:a16="http://schemas.microsoft.com/office/drawing/2014/main" id="{104737C9-4AE2-E24D-2B1A-F43F10DEE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597" y="2430030"/>
            <a:ext cx="8596668" cy="4271215"/>
          </a:xfrm>
          <a:prstGeom prst="rect">
            <a:avLst/>
          </a:prstGeom>
        </p:spPr>
      </p:pic>
      <p:sp>
        <p:nvSpPr>
          <p:cNvPr id="6" name="矩形 5">
            <a:extLst>
              <a:ext uri="{FF2B5EF4-FFF2-40B4-BE49-F238E27FC236}">
                <a16:creationId xmlns:a16="http://schemas.microsoft.com/office/drawing/2014/main" id="{D8E4C95C-8CCD-6260-3A56-18E8FA21CD4F}"/>
              </a:ext>
            </a:extLst>
          </p:cNvPr>
          <p:cNvSpPr/>
          <p:nvPr/>
        </p:nvSpPr>
        <p:spPr>
          <a:xfrm>
            <a:off x="8872638" y="2430030"/>
            <a:ext cx="1711627" cy="2696914"/>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477066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56A77B-D24F-E3CE-9554-0A51E13F2613}"/>
              </a:ext>
            </a:extLst>
          </p:cNvPr>
          <p:cNvSpPr>
            <a:spLocks noGrp="1"/>
          </p:cNvSpPr>
          <p:nvPr>
            <p:ph type="title"/>
          </p:nvPr>
        </p:nvSpPr>
        <p:spPr/>
        <p:txBody>
          <a:bodyPr/>
          <a:lstStyle/>
          <a:p>
            <a:r>
              <a:rPr lang="en-HK" dirty="0"/>
              <a:t>Object Properties: Cursors</a:t>
            </a:r>
          </a:p>
        </p:txBody>
      </p:sp>
      <p:pic>
        <p:nvPicPr>
          <p:cNvPr id="6" name="內容版面配置區 5">
            <a:extLst>
              <a:ext uri="{FF2B5EF4-FFF2-40B4-BE49-F238E27FC236}">
                <a16:creationId xmlns:a16="http://schemas.microsoft.com/office/drawing/2014/main" id="{3E57876E-D10D-CBE4-F859-1A6F8DCE611B}"/>
              </a:ext>
            </a:extLst>
          </p:cNvPr>
          <p:cNvPicPr>
            <a:picLocks noGrp="1" noChangeAspect="1"/>
          </p:cNvPicPr>
          <p:nvPr>
            <p:ph idx="1"/>
          </p:nvPr>
        </p:nvPicPr>
        <p:blipFill>
          <a:blip r:embed="rId2"/>
          <a:stretch>
            <a:fillRect/>
          </a:stretch>
        </p:blipFill>
        <p:spPr>
          <a:xfrm>
            <a:off x="8159931" y="1341982"/>
            <a:ext cx="3589373" cy="5340757"/>
          </a:xfrm>
          <a:prstGeom prst="rect">
            <a:avLst/>
          </a:prstGeom>
        </p:spPr>
      </p:pic>
      <p:sp>
        <p:nvSpPr>
          <p:cNvPr id="4" name="投影片編號版面配置區 3">
            <a:extLst>
              <a:ext uri="{FF2B5EF4-FFF2-40B4-BE49-F238E27FC236}">
                <a16:creationId xmlns:a16="http://schemas.microsoft.com/office/drawing/2014/main" id="{4918CD1D-AA44-9779-7728-B576018BA027}"/>
              </a:ext>
            </a:extLst>
          </p:cNvPr>
          <p:cNvSpPr>
            <a:spLocks noGrp="1"/>
          </p:cNvSpPr>
          <p:nvPr>
            <p:ph type="sldNum" sz="quarter" idx="12"/>
          </p:nvPr>
        </p:nvSpPr>
        <p:spPr/>
        <p:txBody>
          <a:bodyPr/>
          <a:lstStyle/>
          <a:p>
            <a:fld id="{CF9A1619-F87A-4FCD-8947-EF4132FEEC38}" type="slidenum">
              <a:rPr lang="zh-HK" altLang="en-US" smtClean="0"/>
              <a:t>20</a:t>
            </a:fld>
            <a:endParaRPr lang="zh-HK" altLang="en-US"/>
          </a:p>
        </p:txBody>
      </p:sp>
      <p:sp>
        <p:nvSpPr>
          <p:cNvPr id="7" name="文字方塊 6">
            <a:extLst>
              <a:ext uri="{FF2B5EF4-FFF2-40B4-BE49-F238E27FC236}">
                <a16:creationId xmlns:a16="http://schemas.microsoft.com/office/drawing/2014/main" id="{20661CD7-6015-86FD-DA80-D34866CD6940}"/>
              </a:ext>
            </a:extLst>
          </p:cNvPr>
          <p:cNvSpPr txBox="1"/>
          <p:nvPr/>
        </p:nvSpPr>
        <p:spPr>
          <a:xfrm>
            <a:off x="677334" y="1521098"/>
            <a:ext cx="6646628" cy="1200329"/>
          </a:xfrm>
          <a:prstGeom prst="rect">
            <a:avLst/>
          </a:prstGeom>
          <a:noFill/>
        </p:spPr>
        <p:txBody>
          <a:bodyPr wrap="none" rtlCol="0">
            <a:spAutoFit/>
          </a:bodyPr>
          <a:lstStyle/>
          <a:p>
            <a:pPr marL="285750" indent="-285750">
              <a:buFontTx/>
              <a:buChar char="-"/>
            </a:pPr>
            <a:r>
              <a:rPr lang="en-HK" dirty="0"/>
              <a:t>Name</a:t>
            </a:r>
          </a:p>
          <a:p>
            <a:pPr marL="285750" indent="-285750">
              <a:buFontTx/>
              <a:buChar char="-"/>
            </a:pPr>
            <a:r>
              <a:rPr lang="en-HK" dirty="0"/>
              <a:t>EE Position and Rotation</a:t>
            </a:r>
          </a:p>
          <a:p>
            <a:pPr marL="285750" indent="-285750">
              <a:buFontTx/>
              <a:buChar char="-"/>
            </a:pPr>
            <a:r>
              <a:rPr lang="en-HK" dirty="0"/>
              <a:t>Joint Poses</a:t>
            </a:r>
          </a:p>
          <a:p>
            <a:pPr marL="285750" indent="-285750">
              <a:buFontTx/>
              <a:buChar char="-"/>
            </a:pPr>
            <a:r>
              <a:rPr lang="en-HK" dirty="0"/>
              <a:t>Transforms are editable to control sim bot, but not real bot</a:t>
            </a:r>
          </a:p>
        </p:txBody>
      </p:sp>
      <p:sp>
        <p:nvSpPr>
          <p:cNvPr id="8" name="矩形 7">
            <a:extLst>
              <a:ext uri="{FF2B5EF4-FFF2-40B4-BE49-F238E27FC236}">
                <a16:creationId xmlns:a16="http://schemas.microsoft.com/office/drawing/2014/main" id="{BBE1EFA1-DE38-8B67-C1F8-342392138C21}"/>
              </a:ext>
            </a:extLst>
          </p:cNvPr>
          <p:cNvSpPr/>
          <p:nvPr/>
        </p:nvSpPr>
        <p:spPr>
          <a:xfrm>
            <a:off x="975360" y="3927566"/>
            <a:ext cx="5625737" cy="23208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HK" dirty="0"/>
              <a:t>Real cursor properties bugged </a:t>
            </a:r>
            <a:r>
              <a:rPr lang="en-HK" dirty="0" err="1"/>
              <a:t>atm</a:t>
            </a:r>
            <a:endParaRPr lang="en-HK" dirty="0"/>
          </a:p>
          <a:p>
            <a:pPr algn="ctr"/>
            <a:r>
              <a:rPr lang="en-HK" dirty="0"/>
              <a:t>[placeholder image]</a:t>
            </a:r>
          </a:p>
        </p:txBody>
      </p:sp>
    </p:spTree>
    <p:extLst>
      <p:ext uri="{BB962C8B-B14F-4D97-AF65-F5344CB8AC3E}">
        <p14:creationId xmlns:p14="http://schemas.microsoft.com/office/powerpoint/2010/main" val="1991517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7407CE-5DA9-E8C6-AC72-0023C3936212}"/>
              </a:ext>
            </a:extLst>
          </p:cNvPr>
          <p:cNvSpPr>
            <a:spLocks noGrp="1"/>
          </p:cNvSpPr>
          <p:nvPr>
            <p:ph type="title"/>
          </p:nvPr>
        </p:nvSpPr>
        <p:spPr/>
        <p:txBody>
          <a:bodyPr/>
          <a:lstStyle/>
          <a:p>
            <a:r>
              <a:rPr lang="en-HK" dirty="0"/>
              <a:t>Object Properties: 3D Objects &amp; Waypoints</a:t>
            </a:r>
          </a:p>
        </p:txBody>
      </p:sp>
      <p:pic>
        <p:nvPicPr>
          <p:cNvPr id="6" name="內容版面配置區 5">
            <a:extLst>
              <a:ext uri="{FF2B5EF4-FFF2-40B4-BE49-F238E27FC236}">
                <a16:creationId xmlns:a16="http://schemas.microsoft.com/office/drawing/2014/main" id="{14C55E44-8857-09E0-34DB-7A363C28400F}"/>
              </a:ext>
            </a:extLst>
          </p:cNvPr>
          <p:cNvPicPr>
            <a:picLocks noGrp="1" noChangeAspect="1"/>
          </p:cNvPicPr>
          <p:nvPr>
            <p:ph idx="1"/>
          </p:nvPr>
        </p:nvPicPr>
        <p:blipFill>
          <a:blip r:embed="rId2"/>
          <a:stretch>
            <a:fillRect/>
          </a:stretch>
        </p:blipFill>
        <p:spPr>
          <a:xfrm>
            <a:off x="8932332" y="433458"/>
            <a:ext cx="3160817" cy="3312942"/>
          </a:xfrm>
          <a:prstGeom prst="rect">
            <a:avLst/>
          </a:prstGeom>
        </p:spPr>
      </p:pic>
      <p:sp>
        <p:nvSpPr>
          <p:cNvPr id="4" name="投影片編號版面配置區 3">
            <a:extLst>
              <a:ext uri="{FF2B5EF4-FFF2-40B4-BE49-F238E27FC236}">
                <a16:creationId xmlns:a16="http://schemas.microsoft.com/office/drawing/2014/main" id="{4F22E1BE-16F9-424E-F3D2-D275E143C457}"/>
              </a:ext>
            </a:extLst>
          </p:cNvPr>
          <p:cNvSpPr>
            <a:spLocks noGrp="1"/>
          </p:cNvSpPr>
          <p:nvPr>
            <p:ph type="sldNum" sz="quarter" idx="12"/>
          </p:nvPr>
        </p:nvSpPr>
        <p:spPr/>
        <p:txBody>
          <a:bodyPr/>
          <a:lstStyle/>
          <a:p>
            <a:fld id="{CF9A1619-F87A-4FCD-8947-EF4132FEEC38}" type="slidenum">
              <a:rPr lang="zh-HK" altLang="en-US" smtClean="0"/>
              <a:t>21</a:t>
            </a:fld>
            <a:endParaRPr lang="zh-HK" altLang="en-US"/>
          </a:p>
        </p:txBody>
      </p:sp>
      <p:sp>
        <p:nvSpPr>
          <p:cNvPr id="8" name="文字方塊 7">
            <a:extLst>
              <a:ext uri="{FF2B5EF4-FFF2-40B4-BE49-F238E27FC236}">
                <a16:creationId xmlns:a16="http://schemas.microsoft.com/office/drawing/2014/main" id="{10C53D19-9546-D24E-64EA-B704CE74FB0C}"/>
              </a:ext>
            </a:extLst>
          </p:cNvPr>
          <p:cNvSpPr txBox="1"/>
          <p:nvPr/>
        </p:nvSpPr>
        <p:spPr>
          <a:xfrm>
            <a:off x="607665" y="2095864"/>
            <a:ext cx="6808915" cy="1200329"/>
          </a:xfrm>
          <a:prstGeom prst="rect">
            <a:avLst/>
          </a:prstGeom>
          <a:noFill/>
        </p:spPr>
        <p:txBody>
          <a:bodyPr wrap="none" rtlCol="0">
            <a:spAutoFit/>
          </a:bodyPr>
          <a:lstStyle/>
          <a:p>
            <a:r>
              <a:rPr lang="en-HK" dirty="0"/>
              <a:t>3D Objects</a:t>
            </a:r>
          </a:p>
          <a:p>
            <a:pPr marL="285750" indent="-285750">
              <a:buFontTx/>
              <a:buChar char="-"/>
            </a:pPr>
            <a:r>
              <a:rPr lang="en-HK" dirty="0"/>
              <a:t>Name</a:t>
            </a:r>
          </a:p>
          <a:p>
            <a:pPr marL="285750" indent="-285750">
              <a:buFontTx/>
              <a:buChar char="-"/>
            </a:pPr>
            <a:r>
              <a:rPr lang="en-HK" dirty="0"/>
              <a:t>Position and Rotation in world or relative to parent (if exists)</a:t>
            </a:r>
          </a:p>
          <a:p>
            <a:pPr marL="285750" indent="-285750">
              <a:buFontTx/>
              <a:buChar char="-"/>
            </a:pPr>
            <a:r>
              <a:rPr lang="en-HK" dirty="0"/>
              <a:t>Scale</a:t>
            </a:r>
          </a:p>
        </p:txBody>
      </p:sp>
      <p:pic>
        <p:nvPicPr>
          <p:cNvPr id="10" name="圖片 9">
            <a:extLst>
              <a:ext uri="{FF2B5EF4-FFF2-40B4-BE49-F238E27FC236}">
                <a16:creationId xmlns:a16="http://schemas.microsoft.com/office/drawing/2014/main" id="{EBB9A942-C639-0EBE-D4E7-BD1E5713AEB3}"/>
              </a:ext>
            </a:extLst>
          </p:cNvPr>
          <p:cNvPicPr>
            <a:picLocks noChangeAspect="1"/>
          </p:cNvPicPr>
          <p:nvPr/>
        </p:nvPicPr>
        <p:blipFill>
          <a:blip r:embed="rId3"/>
          <a:stretch>
            <a:fillRect/>
          </a:stretch>
        </p:blipFill>
        <p:spPr>
          <a:xfrm>
            <a:off x="5804490" y="3238951"/>
            <a:ext cx="2987506" cy="3482803"/>
          </a:xfrm>
          <a:prstGeom prst="rect">
            <a:avLst/>
          </a:prstGeom>
        </p:spPr>
      </p:pic>
      <p:sp>
        <p:nvSpPr>
          <p:cNvPr id="12" name="文字方塊 11">
            <a:extLst>
              <a:ext uri="{FF2B5EF4-FFF2-40B4-BE49-F238E27FC236}">
                <a16:creationId xmlns:a16="http://schemas.microsoft.com/office/drawing/2014/main" id="{3C026547-70FA-5FF1-AC21-2B3B810CF229}"/>
              </a:ext>
            </a:extLst>
          </p:cNvPr>
          <p:cNvSpPr txBox="1"/>
          <p:nvPr/>
        </p:nvSpPr>
        <p:spPr>
          <a:xfrm>
            <a:off x="403014" y="4103190"/>
            <a:ext cx="5379477" cy="1754326"/>
          </a:xfrm>
          <a:prstGeom prst="rect">
            <a:avLst/>
          </a:prstGeom>
          <a:noFill/>
        </p:spPr>
        <p:txBody>
          <a:bodyPr wrap="square" rtlCol="0">
            <a:spAutoFit/>
          </a:bodyPr>
          <a:lstStyle/>
          <a:p>
            <a:r>
              <a:rPr lang="en-HK" dirty="0"/>
              <a:t>Waypoints and Saved Points</a:t>
            </a:r>
          </a:p>
          <a:p>
            <a:pPr marL="285750" indent="-285750">
              <a:buFontTx/>
              <a:buChar char="-"/>
            </a:pPr>
            <a:r>
              <a:rPr lang="en-HK" dirty="0"/>
              <a:t>Name</a:t>
            </a:r>
          </a:p>
          <a:p>
            <a:pPr marL="285750" indent="-285750">
              <a:buFontTx/>
              <a:buChar char="-"/>
            </a:pPr>
            <a:r>
              <a:rPr lang="en-HK" dirty="0"/>
              <a:t>EE Position and Rotation to get to the point</a:t>
            </a:r>
          </a:p>
          <a:p>
            <a:pPr marL="285750" indent="-285750">
              <a:buFontTx/>
              <a:buChar char="-"/>
            </a:pPr>
            <a:r>
              <a:rPr lang="en-HK" dirty="0"/>
              <a:t>Joint Poses</a:t>
            </a:r>
          </a:p>
          <a:p>
            <a:pPr marL="285750" indent="-285750">
              <a:buFontTx/>
              <a:buChar char="-"/>
            </a:pPr>
            <a:r>
              <a:rPr lang="en-HK" dirty="0"/>
              <a:t>Transforms are editable to move waypoints, but not saved points</a:t>
            </a:r>
          </a:p>
        </p:txBody>
      </p:sp>
    </p:spTree>
    <p:extLst>
      <p:ext uri="{BB962C8B-B14F-4D97-AF65-F5344CB8AC3E}">
        <p14:creationId xmlns:p14="http://schemas.microsoft.com/office/powerpoint/2010/main" val="1725717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5B3544-EB8E-A3E0-98DE-33581D82E8E6}"/>
              </a:ext>
            </a:extLst>
          </p:cNvPr>
          <p:cNvSpPr>
            <a:spLocks noGrp="1"/>
          </p:cNvSpPr>
          <p:nvPr>
            <p:ph type="title"/>
          </p:nvPr>
        </p:nvSpPr>
        <p:spPr/>
        <p:txBody>
          <a:bodyPr/>
          <a:lstStyle/>
          <a:p>
            <a:r>
              <a:rPr lang="en-HK" dirty="0"/>
              <a:t>Object Properties: Components</a:t>
            </a:r>
          </a:p>
        </p:txBody>
      </p:sp>
      <p:sp>
        <p:nvSpPr>
          <p:cNvPr id="3" name="內容版面配置區 2">
            <a:extLst>
              <a:ext uri="{FF2B5EF4-FFF2-40B4-BE49-F238E27FC236}">
                <a16:creationId xmlns:a16="http://schemas.microsoft.com/office/drawing/2014/main" id="{39D62435-1139-D8B2-683C-F85800235C0F}"/>
              </a:ext>
            </a:extLst>
          </p:cNvPr>
          <p:cNvSpPr>
            <a:spLocks noGrp="1"/>
          </p:cNvSpPr>
          <p:nvPr>
            <p:ph idx="1"/>
          </p:nvPr>
        </p:nvSpPr>
        <p:spPr/>
        <p:txBody>
          <a:bodyPr/>
          <a:lstStyle/>
          <a:p>
            <a:r>
              <a:rPr lang="en-HK" dirty="0"/>
              <a:t>Add components to 3D objects to add functions/ modify their behaviour</a:t>
            </a:r>
          </a:p>
        </p:txBody>
      </p:sp>
      <p:sp>
        <p:nvSpPr>
          <p:cNvPr id="4" name="投影片編號版面配置區 3">
            <a:extLst>
              <a:ext uri="{FF2B5EF4-FFF2-40B4-BE49-F238E27FC236}">
                <a16:creationId xmlns:a16="http://schemas.microsoft.com/office/drawing/2014/main" id="{C04A4F97-43AF-DA1F-4F8E-5C1CFDDD1CDC}"/>
              </a:ext>
            </a:extLst>
          </p:cNvPr>
          <p:cNvSpPr>
            <a:spLocks noGrp="1"/>
          </p:cNvSpPr>
          <p:nvPr>
            <p:ph type="sldNum" sz="quarter" idx="12"/>
          </p:nvPr>
        </p:nvSpPr>
        <p:spPr/>
        <p:txBody>
          <a:bodyPr/>
          <a:lstStyle/>
          <a:p>
            <a:fld id="{CF9A1619-F87A-4FCD-8947-EF4132FEEC38}" type="slidenum">
              <a:rPr lang="zh-HK" altLang="en-US" smtClean="0"/>
              <a:t>22</a:t>
            </a:fld>
            <a:endParaRPr lang="zh-HK" altLang="en-US"/>
          </a:p>
        </p:txBody>
      </p:sp>
      <p:sp>
        <p:nvSpPr>
          <p:cNvPr id="6" name="文字方塊 5">
            <a:extLst>
              <a:ext uri="{FF2B5EF4-FFF2-40B4-BE49-F238E27FC236}">
                <a16:creationId xmlns:a16="http://schemas.microsoft.com/office/drawing/2014/main" id="{91DA6A9B-7D6B-DC8E-5B5E-374B3B88234C}"/>
              </a:ext>
            </a:extLst>
          </p:cNvPr>
          <p:cNvSpPr txBox="1"/>
          <p:nvPr/>
        </p:nvSpPr>
        <p:spPr>
          <a:xfrm>
            <a:off x="677334" y="1273946"/>
            <a:ext cx="1957715" cy="369332"/>
          </a:xfrm>
          <a:prstGeom prst="rect">
            <a:avLst/>
          </a:prstGeom>
          <a:noFill/>
        </p:spPr>
        <p:txBody>
          <a:bodyPr wrap="none" rtlCol="0">
            <a:spAutoFit/>
          </a:bodyPr>
          <a:lstStyle/>
          <a:p>
            <a:r>
              <a:rPr lang="en-HK" dirty="0">
                <a:highlight>
                  <a:srgbClr val="FFFF00"/>
                </a:highlight>
              </a:rPr>
              <a:t>Taken from Unity</a:t>
            </a:r>
          </a:p>
        </p:txBody>
      </p:sp>
      <p:sp>
        <p:nvSpPr>
          <p:cNvPr id="8" name="文字方塊 7">
            <a:extLst>
              <a:ext uri="{FF2B5EF4-FFF2-40B4-BE49-F238E27FC236}">
                <a16:creationId xmlns:a16="http://schemas.microsoft.com/office/drawing/2014/main" id="{3DB7D084-6BFD-9224-05FF-8EF4A3D9DB57}"/>
              </a:ext>
            </a:extLst>
          </p:cNvPr>
          <p:cNvSpPr txBox="1"/>
          <p:nvPr/>
        </p:nvSpPr>
        <p:spPr>
          <a:xfrm>
            <a:off x="2743327" y="1273946"/>
            <a:ext cx="4215257" cy="369332"/>
          </a:xfrm>
          <a:prstGeom prst="rect">
            <a:avLst/>
          </a:prstGeom>
          <a:noFill/>
        </p:spPr>
        <p:txBody>
          <a:bodyPr wrap="none" rtlCol="0">
            <a:spAutoFit/>
          </a:bodyPr>
          <a:lstStyle/>
          <a:p>
            <a:r>
              <a:rPr lang="en-HK" dirty="0">
                <a:highlight>
                  <a:srgbClr val="FF0000"/>
                </a:highlight>
              </a:rPr>
              <a:t>Should NOT be added to video shoot UI</a:t>
            </a:r>
          </a:p>
        </p:txBody>
      </p:sp>
      <p:pic>
        <p:nvPicPr>
          <p:cNvPr id="9" name="內容版面配置區 5">
            <a:extLst>
              <a:ext uri="{FF2B5EF4-FFF2-40B4-BE49-F238E27FC236}">
                <a16:creationId xmlns:a16="http://schemas.microsoft.com/office/drawing/2014/main" id="{F6322192-D24B-7796-127D-B7E2231CE406}"/>
              </a:ext>
            </a:extLst>
          </p:cNvPr>
          <p:cNvPicPr>
            <a:picLocks noChangeAspect="1"/>
          </p:cNvPicPr>
          <p:nvPr/>
        </p:nvPicPr>
        <p:blipFill>
          <a:blip r:embed="rId2"/>
          <a:stretch>
            <a:fillRect/>
          </a:stretch>
        </p:blipFill>
        <p:spPr>
          <a:xfrm>
            <a:off x="8671075" y="2802190"/>
            <a:ext cx="3160817" cy="3312942"/>
          </a:xfrm>
          <a:prstGeom prst="rect">
            <a:avLst/>
          </a:prstGeom>
        </p:spPr>
      </p:pic>
      <p:sp>
        <p:nvSpPr>
          <p:cNvPr id="11" name="矩形 10">
            <a:extLst>
              <a:ext uri="{FF2B5EF4-FFF2-40B4-BE49-F238E27FC236}">
                <a16:creationId xmlns:a16="http://schemas.microsoft.com/office/drawing/2014/main" id="{12BADCA0-22BA-D7D4-2DE2-B4CC44F8901E}"/>
              </a:ext>
            </a:extLst>
          </p:cNvPr>
          <p:cNvSpPr/>
          <p:nvPr/>
        </p:nvSpPr>
        <p:spPr>
          <a:xfrm>
            <a:off x="10146285" y="5656784"/>
            <a:ext cx="271108" cy="263371"/>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cxnSp>
        <p:nvCxnSpPr>
          <p:cNvPr id="12" name="直線單箭頭接點 11">
            <a:extLst>
              <a:ext uri="{FF2B5EF4-FFF2-40B4-BE49-F238E27FC236}">
                <a16:creationId xmlns:a16="http://schemas.microsoft.com/office/drawing/2014/main" id="{36377934-320F-03A2-2857-A7BFC7FCD127}"/>
              </a:ext>
            </a:extLst>
          </p:cNvPr>
          <p:cNvCxnSpPr>
            <a:cxnSpLocks/>
          </p:cNvCxnSpPr>
          <p:nvPr/>
        </p:nvCxnSpPr>
        <p:spPr>
          <a:xfrm>
            <a:off x="8055429" y="5190309"/>
            <a:ext cx="1985554" cy="618308"/>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
        <p:nvSpPr>
          <p:cNvPr id="15" name="文字方塊 14">
            <a:extLst>
              <a:ext uri="{FF2B5EF4-FFF2-40B4-BE49-F238E27FC236}">
                <a16:creationId xmlns:a16="http://schemas.microsoft.com/office/drawing/2014/main" id="{417A0E69-B976-7CC8-23F4-89041728981B}"/>
              </a:ext>
            </a:extLst>
          </p:cNvPr>
          <p:cNvSpPr txBox="1"/>
          <p:nvPr/>
        </p:nvSpPr>
        <p:spPr>
          <a:xfrm>
            <a:off x="6373605" y="4772898"/>
            <a:ext cx="1989647" cy="369332"/>
          </a:xfrm>
          <a:prstGeom prst="rect">
            <a:avLst/>
          </a:prstGeom>
          <a:noFill/>
        </p:spPr>
        <p:txBody>
          <a:bodyPr wrap="none" rtlCol="0">
            <a:spAutoFit/>
          </a:bodyPr>
          <a:lstStyle/>
          <a:p>
            <a:r>
              <a:rPr lang="en-HK" dirty="0"/>
              <a:t>Add a component</a:t>
            </a:r>
          </a:p>
        </p:txBody>
      </p:sp>
    </p:spTree>
    <p:extLst>
      <p:ext uri="{BB962C8B-B14F-4D97-AF65-F5344CB8AC3E}">
        <p14:creationId xmlns:p14="http://schemas.microsoft.com/office/powerpoint/2010/main" val="2539316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3C025B-82FF-0B18-B579-C24DE8A1E204}"/>
              </a:ext>
            </a:extLst>
          </p:cNvPr>
          <p:cNvSpPr>
            <a:spLocks noGrp="1"/>
          </p:cNvSpPr>
          <p:nvPr>
            <p:ph type="title"/>
          </p:nvPr>
        </p:nvSpPr>
        <p:spPr/>
        <p:txBody>
          <a:bodyPr/>
          <a:lstStyle/>
          <a:p>
            <a:r>
              <a:rPr lang="en-HK" dirty="0"/>
              <a:t>Component: Camera</a:t>
            </a:r>
          </a:p>
        </p:txBody>
      </p:sp>
      <p:sp>
        <p:nvSpPr>
          <p:cNvPr id="4" name="投影片編號版面配置區 3">
            <a:extLst>
              <a:ext uri="{FF2B5EF4-FFF2-40B4-BE49-F238E27FC236}">
                <a16:creationId xmlns:a16="http://schemas.microsoft.com/office/drawing/2014/main" id="{20CA2B39-2712-DCED-1D6E-E36E9C815398}"/>
              </a:ext>
            </a:extLst>
          </p:cNvPr>
          <p:cNvSpPr>
            <a:spLocks noGrp="1"/>
          </p:cNvSpPr>
          <p:nvPr>
            <p:ph type="sldNum" sz="quarter" idx="12"/>
          </p:nvPr>
        </p:nvSpPr>
        <p:spPr/>
        <p:txBody>
          <a:bodyPr/>
          <a:lstStyle/>
          <a:p>
            <a:fld id="{CF9A1619-F87A-4FCD-8947-EF4132FEEC38}" type="slidenum">
              <a:rPr lang="zh-HK" altLang="en-US" smtClean="0"/>
              <a:t>23</a:t>
            </a:fld>
            <a:endParaRPr lang="zh-HK" altLang="en-US"/>
          </a:p>
        </p:txBody>
      </p:sp>
      <p:pic>
        <p:nvPicPr>
          <p:cNvPr id="8" name="圖片 7">
            <a:extLst>
              <a:ext uri="{FF2B5EF4-FFF2-40B4-BE49-F238E27FC236}">
                <a16:creationId xmlns:a16="http://schemas.microsoft.com/office/drawing/2014/main" id="{F5E2900A-4CB5-00A2-E9DA-8C0E46ACF4B9}"/>
              </a:ext>
            </a:extLst>
          </p:cNvPr>
          <p:cNvPicPr>
            <a:picLocks noChangeAspect="1"/>
          </p:cNvPicPr>
          <p:nvPr/>
        </p:nvPicPr>
        <p:blipFill>
          <a:blip r:embed="rId2"/>
          <a:stretch>
            <a:fillRect/>
          </a:stretch>
        </p:blipFill>
        <p:spPr>
          <a:xfrm>
            <a:off x="357265" y="2286000"/>
            <a:ext cx="4776328" cy="2762250"/>
          </a:xfrm>
          <a:prstGeom prst="rect">
            <a:avLst/>
          </a:prstGeom>
        </p:spPr>
      </p:pic>
      <p:pic>
        <p:nvPicPr>
          <p:cNvPr id="12" name="內容版面配置區 11">
            <a:extLst>
              <a:ext uri="{FF2B5EF4-FFF2-40B4-BE49-F238E27FC236}">
                <a16:creationId xmlns:a16="http://schemas.microsoft.com/office/drawing/2014/main" id="{5FD9853B-D1E9-6701-CC8E-15D85B37BEFA}"/>
              </a:ext>
            </a:extLst>
          </p:cNvPr>
          <p:cNvPicPr>
            <a:picLocks noGrp="1" noChangeAspect="1"/>
          </p:cNvPicPr>
          <p:nvPr>
            <p:ph idx="1"/>
          </p:nvPr>
        </p:nvPicPr>
        <p:blipFill>
          <a:blip r:embed="rId3"/>
          <a:stretch>
            <a:fillRect/>
          </a:stretch>
        </p:blipFill>
        <p:spPr>
          <a:xfrm>
            <a:off x="6219825" y="2253086"/>
            <a:ext cx="5082248" cy="2828077"/>
          </a:xfrm>
          <a:prstGeom prst="rect">
            <a:avLst/>
          </a:prstGeom>
        </p:spPr>
      </p:pic>
      <p:sp>
        <p:nvSpPr>
          <p:cNvPr id="14" name="矩形 13">
            <a:extLst>
              <a:ext uri="{FF2B5EF4-FFF2-40B4-BE49-F238E27FC236}">
                <a16:creationId xmlns:a16="http://schemas.microsoft.com/office/drawing/2014/main" id="{46007D94-D267-1BBD-9F85-F067D27FCD88}"/>
              </a:ext>
            </a:extLst>
          </p:cNvPr>
          <p:cNvSpPr/>
          <p:nvPr/>
        </p:nvSpPr>
        <p:spPr>
          <a:xfrm>
            <a:off x="6219826" y="2253085"/>
            <a:ext cx="1838954" cy="185495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6" name="矩形 15">
            <a:extLst>
              <a:ext uri="{FF2B5EF4-FFF2-40B4-BE49-F238E27FC236}">
                <a16:creationId xmlns:a16="http://schemas.microsoft.com/office/drawing/2014/main" id="{26E3A60D-53D9-9280-9A17-E7CF00FE4C2E}"/>
              </a:ext>
            </a:extLst>
          </p:cNvPr>
          <p:cNvSpPr/>
          <p:nvPr/>
        </p:nvSpPr>
        <p:spPr>
          <a:xfrm>
            <a:off x="6208593" y="4260410"/>
            <a:ext cx="5093480" cy="259339"/>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8" name="矩形 17">
            <a:extLst>
              <a:ext uri="{FF2B5EF4-FFF2-40B4-BE49-F238E27FC236}">
                <a16:creationId xmlns:a16="http://schemas.microsoft.com/office/drawing/2014/main" id="{42E92425-2A3D-3678-52B6-EB3988CF9991}"/>
              </a:ext>
            </a:extLst>
          </p:cNvPr>
          <p:cNvSpPr/>
          <p:nvPr/>
        </p:nvSpPr>
        <p:spPr>
          <a:xfrm>
            <a:off x="10058399" y="3213463"/>
            <a:ext cx="1254905" cy="841093"/>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9" name="文字方塊 18">
            <a:extLst>
              <a:ext uri="{FF2B5EF4-FFF2-40B4-BE49-F238E27FC236}">
                <a16:creationId xmlns:a16="http://schemas.microsoft.com/office/drawing/2014/main" id="{B0FB76F5-B6AC-3F67-85F9-FE903ECFC8AF}"/>
              </a:ext>
            </a:extLst>
          </p:cNvPr>
          <p:cNvSpPr txBox="1"/>
          <p:nvPr/>
        </p:nvSpPr>
        <p:spPr>
          <a:xfrm>
            <a:off x="2358870" y="1561069"/>
            <a:ext cx="6716903" cy="369332"/>
          </a:xfrm>
          <a:prstGeom prst="rect">
            <a:avLst/>
          </a:prstGeom>
          <a:noFill/>
        </p:spPr>
        <p:txBody>
          <a:bodyPr wrap="none" rtlCol="0">
            <a:spAutoFit/>
          </a:bodyPr>
          <a:lstStyle/>
          <a:p>
            <a:r>
              <a:rPr lang="en-HK" dirty="0"/>
              <a:t>Add camera component to turn 3d object into a camera object</a:t>
            </a:r>
          </a:p>
        </p:txBody>
      </p:sp>
      <p:sp>
        <p:nvSpPr>
          <p:cNvPr id="21" name="箭號: 向右 20">
            <a:extLst>
              <a:ext uri="{FF2B5EF4-FFF2-40B4-BE49-F238E27FC236}">
                <a16:creationId xmlns:a16="http://schemas.microsoft.com/office/drawing/2014/main" id="{FC47DD14-507A-45CB-4938-B9D0E39C41DD}"/>
              </a:ext>
            </a:extLst>
          </p:cNvPr>
          <p:cNvSpPr/>
          <p:nvPr/>
        </p:nvSpPr>
        <p:spPr>
          <a:xfrm>
            <a:off x="5318623" y="3541917"/>
            <a:ext cx="777377" cy="5126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3" name="文字方塊 22">
            <a:extLst>
              <a:ext uri="{FF2B5EF4-FFF2-40B4-BE49-F238E27FC236}">
                <a16:creationId xmlns:a16="http://schemas.microsoft.com/office/drawing/2014/main" id="{026C9651-013A-99F3-CBF0-1D39FE16429E}"/>
              </a:ext>
            </a:extLst>
          </p:cNvPr>
          <p:cNvSpPr txBox="1"/>
          <p:nvPr/>
        </p:nvSpPr>
        <p:spPr>
          <a:xfrm>
            <a:off x="3456662" y="5638821"/>
            <a:ext cx="3038011" cy="369332"/>
          </a:xfrm>
          <a:prstGeom prst="rect">
            <a:avLst/>
          </a:prstGeom>
          <a:noFill/>
        </p:spPr>
        <p:txBody>
          <a:bodyPr wrap="none" rtlCol="0">
            <a:spAutoFit/>
          </a:bodyPr>
          <a:lstStyle/>
          <a:p>
            <a:r>
              <a:rPr lang="en-HK" dirty="0"/>
              <a:t>Auto generate camera view</a:t>
            </a:r>
          </a:p>
        </p:txBody>
      </p:sp>
      <p:sp>
        <p:nvSpPr>
          <p:cNvPr id="25" name="文字方塊 24">
            <a:extLst>
              <a:ext uri="{FF2B5EF4-FFF2-40B4-BE49-F238E27FC236}">
                <a16:creationId xmlns:a16="http://schemas.microsoft.com/office/drawing/2014/main" id="{754AA2B6-D1B2-55F7-9B01-0FCB4A96C184}"/>
              </a:ext>
            </a:extLst>
          </p:cNvPr>
          <p:cNvSpPr txBox="1"/>
          <p:nvPr/>
        </p:nvSpPr>
        <p:spPr>
          <a:xfrm>
            <a:off x="5717322" y="6172648"/>
            <a:ext cx="3094117" cy="369332"/>
          </a:xfrm>
          <a:prstGeom prst="rect">
            <a:avLst/>
          </a:prstGeom>
          <a:noFill/>
        </p:spPr>
        <p:txBody>
          <a:bodyPr wrap="none" rtlCol="0">
            <a:spAutoFit/>
          </a:bodyPr>
          <a:lstStyle/>
          <a:p>
            <a:r>
              <a:rPr lang="en-HK" dirty="0"/>
              <a:t>Auto generate camera track</a:t>
            </a:r>
          </a:p>
        </p:txBody>
      </p:sp>
      <p:sp>
        <p:nvSpPr>
          <p:cNvPr id="27" name="文字方塊 26">
            <a:extLst>
              <a:ext uri="{FF2B5EF4-FFF2-40B4-BE49-F238E27FC236}">
                <a16:creationId xmlns:a16="http://schemas.microsoft.com/office/drawing/2014/main" id="{A936EDC2-B767-5D5A-4C92-7EBB5F79592F}"/>
              </a:ext>
            </a:extLst>
          </p:cNvPr>
          <p:cNvSpPr txBox="1"/>
          <p:nvPr/>
        </p:nvSpPr>
        <p:spPr>
          <a:xfrm>
            <a:off x="8360373" y="5488713"/>
            <a:ext cx="3905236" cy="369332"/>
          </a:xfrm>
          <a:prstGeom prst="rect">
            <a:avLst/>
          </a:prstGeom>
          <a:noFill/>
        </p:spPr>
        <p:txBody>
          <a:bodyPr wrap="none" rtlCol="0">
            <a:spAutoFit/>
          </a:bodyPr>
          <a:lstStyle/>
          <a:p>
            <a:r>
              <a:rPr lang="en-HK" dirty="0"/>
              <a:t>Auto generate camera properties UI</a:t>
            </a:r>
          </a:p>
        </p:txBody>
      </p:sp>
      <p:cxnSp>
        <p:nvCxnSpPr>
          <p:cNvPr id="28" name="直線單箭頭接點 27">
            <a:extLst>
              <a:ext uri="{FF2B5EF4-FFF2-40B4-BE49-F238E27FC236}">
                <a16:creationId xmlns:a16="http://schemas.microsoft.com/office/drawing/2014/main" id="{ED409D1E-AD45-BD2D-6FAB-0CDD452E1CEF}"/>
              </a:ext>
            </a:extLst>
          </p:cNvPr>
          <p:cNvCxnSpPr>
            <a:cxnSpLocks/>
          </p:cNvCxnSpPr>
          <p:nvPr/>
        </p:nvCxnSpPr>
        <p:spPr>
          <a:xfrm flipV="1">
            <a:off x="5133593" y="3541917"/>
            <a:ext cx="1615550" cy="2096904"/>
          </a:xfrm>
          <a:prstGeom prst="straightConnector1">
            <a:avLst/>
          </a:prstGeom>
          <a:ln w="38100">
            <a:solidFill>
              <a:srgbClr val="FFC000"/>
            </a:solidFill>
            <a:tailEnd type="triangle"/>
          </a:ln>
        </p:spPr>
        <p:style>
          <a:lnRef idx="1">
            <a:schemeClr val="accent5"/>
          </a:lnRef>
          <a:fillRef idx="0">
            <a:schemeClr val="accent5"/>
          </a:fillRef>
          <a:effectRef idx="0">
            <a:schemeClr val="accent5"/>
          </a:effectRef>
          <a:fontRef idx="minor">
            <a:schemeClr val="tx1"/>
          </a:fontRef>
        </p:style>
      </p:cxnSp>
      <p:cxnSp>
        <p:nvCxnSpPr>
          <p:cNvPr id="31" name="直線單箭頭接點 30">
            <a:extLst>
              <a:ext uri="{FF2B5EF4-FFF2-40B4-BE49-F238E27FC236}">
                <a16:creationId xmlns:a16="http://schemas.microsoft.com/office/drawing/2014/main" id="{6942AA56-6351-055A-7861-9356D4D9EAB9}"/>
              </a:ext>
            </a:extLst>
          </p:cNvPr>
          <p:cNvCxnSpPr>
            <a:cxnSpLocks/>
          </p:cNvCxnSpPr>
          <p:nvPr/>
        </p:nvCxnSpPr>
        <p:spPr>
          <a:xfrm flipV="1">
            <a:off x="7209197" y="4651035"/>
            <a:ext cx="1151175" cy="1563990"/>
          </a:xfrm>
          <a:prstGeom prst="straightConnector1">
            <a:avLst/>
          </a:prstGeom>
          <a:ln w="38100">
            <a:solidFill>
              <a:srgbClr val="FFC000"/>
            </a:solidFill>
            <a:tailEnd type="triangle"/>
          </a:ln>
        </p:spPr>
        <p:style>
          <a:lnRef idx="1">
            <a:schemeClr val="accent5"/>
          </a:lnRef>
          <a:fillRef idx="0">
            <a:schemeClr val="accent5"/>
          </a:fillRef>
          <a:effectRef idx="0">
            <a:schemeClr val="accent5"/>
          </a:effectRef>
          <a:fontRef idx="minor">
            <a:schemeClr val="tx1"/>
          </a:fontRef>
        </p:style>
      </p:cxnSp>
      <p:cxnSp>
        <p:nvCxnSpPr>
          <p:cNvPr id="33" name="直線單箭頭接點 32">
            <a:extLst>
              <a:ext uri="{FF2B5EF4-FFF2-40B4-BE49-F238E27FC236}">
                <a16:creationId xmlns:a16="http://schemas.microsoft.com/office/drawing/2014/main" id="{0F2F77FF-FF4F-6985-DFA4-DA42F2917B0A}"/>
              </a:ext>
            </a:extLst>
          </p:cNvPr>
          <p:cNvCxnSpPr>
            <a:cxnSpLocks/>
          </p:cNvCxnSpPr>
          <p:nvPr/>
        </p:nvCxnSpPr>
        <p:spPr>
          <a:xfrm flipV="1">
            <a:off x="10110263" y="3785865"/>
            <a:ext cx="616223" cy="1767765"/>
          </a:xfrm>
          <a:prstGeom prst="straightConnector1">
            <a:avLst/>
          </a:prstGeom>
          <a:ln w="38100">
            <a:solidFill>
              <a:srgbClr val="FFC000"/>
            </a:solidFill>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188685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467C3C-C400-5181-402D-34078E5FF53B}"/>
              </a:ext>
            </a:extLst>
          </p:cNvPr>
          <p:cNvSpPr>
            <a:spLocks noGrp="1"/>
          </p:cNvSpPr>
          <p:nvPr>
            <p:ph type="title"/>
          </p:nvPr>
        </p:nvSpPr>
        <p:spPr/>
        <p:txBody>
          <a:bodyPr/>
          <a:lstStyle/>
          <a:p>
            <a:r>
              <a:rPr lang="en-HK" dirty="0"/>
              <a:t>Component: Camera</a:t>
            </a:r>
          </a:p>
        </p:txBody>
      </p:sp>
      <p:sp>
        <p:nvSpPr>
          <p:cNvPr id="3" name="內容版面配置區 2">
            <a:extLst>
              <a:ext uri="{FF2B5EF4-FFF2-40B4-BE49-F238E27FC236}">
                <a16:creationId xmlns:a16="http://schemas.microsoft.com/office/drawing/2014/main" id="{6CFE7CD7-1C22-6879-88DD-342E4C102B1D}"/>
              </a:ext>
            </a:extLst>
          </p:cNvPr>
          <p:cNvSpPr>
            <a:spLocks noGrp="1"/>
          </p:cNvSpPr>
          <p:nvPr>
            <p:ph idx="1"/>
          </p:nvPr>
        </p:nvSpPr>
        <p:spPr>
          <a:xfrm>
            <a:off x="677334" y="1559697"/>
            <a:ext cx="8596668" cy="3880773"/>
          </a:xfrm>
        </p:spPr>
        <p:txBody>
          <a:bodyPr/>
          <a:lstStyle/>
          <a:p>
            <a:r>
              <a:rPr lang="en-HK" b="1" dirty="0"/>
              <a:t>3 camera types:</a:t>
            </a:r>
            <a:br>
              <a:rPr lang="en-HK" dirty="0"/>
            </a:br>
            <a:r>
              <a:rPr lang="en-HK" dirty="0"/>
              <a:t>- sim: to preview camera in simulator, simulate video shoot in sim world with simulated 3d objects</a:t>
            </a:r>
          </a:p>
          <a:p>
            <a:pPr marL="0" indent="0">
              <a:buNone/>
            </a:pPr>
            <a:br>
              <a:rPr lang="en-HK" dirty="0"/>
            </a:br>
            <a:r>
              <a:rPr lang="en-HK" dirty="0"/>
              <a:t>	- </a:t>
            </a:r>
            <a:r>
              <a:rPr lang="en-HK" dirty="0" err="1"/>
              <a:t>opencv</a:t>
            </a:r>
            <a:r>
              <a:rPr lang="en-HK" dirty="0"/>
              <a:t>: add custom python script for </a:t>
            </a:r>
            <a:r>
              <a:rPr lang="en-HK" dirty="0" err="1"/>
              <a:t>usb</a:t>
            </a:r>
            <a:r>
              <a:rPr lang="en-HK" dirty="0"/>
              <a:t> webcams for advanced tracking for other vision projects</a:t>
            </a:r>
          </a:p>
          <a:p>
            <a:pPr marL="0" indent="0">
              <a:buNone/>
            </a:pPr>
            <a:br>
              <a:rPr lang="en-HK" dirty="0"/>
            </a:br>
            <a:r>
              <a:rPr lang="en-HK" dirty="0"/>
              <a:t>	- </a:t>
            </a:r>
            <a:r>
              <a:rPr lang="en-HK" dirty="0" err="1"/>
              <a:t>sony</a:t>
            </a:r>
            <a:r>
              <a:rPr lang="en-HK" dirty="0"/>
              <a:t>: utilise </a:t>
            </a:r>
            <a:r>
              <a:rPr lang="en-HK" dirty="0" err="1"/>
              <a:t>sony</a:t>
            </a:r>
            <a:r>
              <a:rPr lang="en-HK" dirty="0"/>
              <a:t> SDK to control real video shooting (very laggy with this program, use existing instead) </a:t>
            </a:r>
          </a:p>
          <a:p>
            <a:pPr marL="0" indent="0">
              <a:buNone/>
            </a:pPr>
            <a:endParaRPr lang="en-HK" dirty="0"/>
          </a:p>
          <a:p>
            <a:pPr marL="0" indent="0">
              <a:buNone/>
            </a:pPr>
            <a:endParaRPr lang="en-HK" dirty="0"/>
          </a:p>
        </p:txBody>
      </p:sp>
      <p:sp>
        <p:nvSpPr>
          <p:cNvPr id="4" name="投影片編號版面配置區 3">
            <a:extLst>
              <a:ext uri="{FF2B5EF4-FFF2-40B4-BE49-F238E27FC236}">
                <a16:creationId xmlns:a16="http://schemas.microsoft.com/office/drawing/2014/main" id="{C64D315C-6DA2-404B-7258-D453277CD777}"/>
              </a:ext>
            </a:extLst>
          </p:cNvPr>
          <p:cNvSpPr>
            <a:spLocks noGrp="1"/>
          </p:cNvSpPr>
          <p:nvPr>
            <p:ph type="sldNum" sz="quarter" idx="12"/>
          </p:nvPr>
        </p:nvSpPr>
        <p:spPr/>
        <p:txBody>
          <a:bodyPr/>
          <a:lstStyle/>
          <a:p>
            <a:fld id="{CF9A1619-F87A-4FCD-8947-EF4132FEEC38}" type="slidenum">
              <a:rPr lang="zh-HK" altLang="en-US" smtClean="0"/>
              <a:t>24</a:t>
            </a:fld>
            <a:endParaRPr lang="zh-HK" altLang="en-US"/>
          </a:p>
        </p:txBody>
      </p:sp>
      <p:pic>
        <p:nvPicPr>
          <p:cNvPr id="6" name="圖片 5">
            <a:extLst>
              <a:ext uri="{FF2B5EF4-FFF2-40B4-BE49-F238E27FC236}">
                <a16:creationId xmlns:a16="http://schemas.microsoft.com/office/drawing/2014/main" id="{812A7B25-F72F-615D-0DAE-AC212B350FD6}"/>
              </a:ext>
            </a:extLst>
          </p:cNvPr>
          <p:cNvPicPr>
            <a:picLocks noChangeAspect="1"/>
          </p:cNvPicPr>
          <p:nvPr/>
        </p:nvPicPr>
        <p:blipFill>
          <a:blip r:embed="rId2"/>
          <a:stretch>
            <a:fillRect/>
          </a:stretch>
        </p:blipFill>
        <p:spPr>
          <a:xfrm>
            <a:off x="964373" y="4472652"/>
            <a:ext cx="3400900" cy="2162477"/>
          </a:xfrm>
          <a:prstGeom prst="rect">
            <a:avLst/>
          </a:prstGeom>
        </p:spPr>
      </p:pic>
      <p:sp>
        <p:nvSpPr>
          <p:cNvPr id="7" name="文字方塊 6">
            <a:extLst>
              <a:ext uri="{FF2B5EF4-FFF2-40B4-BE49-F238E27FC236}">
                <a16:creationId xmlns:a16="http://schemas.microsoft.com/office/drawing/2014/main" id="{FDD28890-FE35-F28D-5FE2-608FB3F013A0}"/>
              </a:ext>
            </a:extLst>
          </p:cNvPr>
          <p:cNvSpPr txBox="1"/>
          <p:nvPr/>
        </p:nvSpPr>
        <p:spPr>
          <a:xfrm>
            <a:off x="5131604" y="4610706"/>
            <a:ext cx="3935693" cy="369332"/>
          </a:xfrm>
          <a:prstGeom prst="rect">
            <a:avLst/>
          </a:prstGeom>
          <a:noFill/>
        </p:spPr>
        <p:txBody>
          <a:bodyPr wrap="none" rtlCol="0">
            <a:spAutoFit/>
          </a:bodyPr>
          <a:lstStyle/>
          <a:p>
            <a:r>
              <a:rPr lang="en-HK" dirty="0"/>
              <a:t>Control record keyframe of timeline</a:t>
            </a:r>
          </a:p>
        </p:txBody>
      </p:sp>
      <p:sp>
        <p:nvSpPr>
          <p:cNvPr id="8" name="文字方塊 7">
            <a:extLst>
              <a:ext uri="{FF2B5EF4-FFF2-40B4-BE49-F238E27FC236}">
                <a16:creationId xmlns:a16="http://schemas.microsoft.com/office/drawing/2014/main" id="{E7A94EC3-D955-5DCF-DEB0-76FE35C604E8}"/>
              </a:ext>
            </a:extLst>
          </p:cNvPr>
          <p:cNvSpPr txBox="1"/>
          <p:nvPr/>
        </p:nvSpPr>
        <p:spPr>
          <a:xfrm>
            <a:off x="4513322" y="5879068"/>
            <a:ext cx="7338869" cy="369332"/>
          </a:xfrm>
          <a:prstGeom prst="rect">
            <a:avLst/>
          </a:prstGeom>
          <a:noFill/>
        </p:spPr>
        <p:txBody>
          <a:bodyPr wrap="none" rtlCol="0">
            <a:spAutoFit/>
          </a:bodyPr>
          <a:lstStyle/>
          <a:p>
            <a:r>
              <a:rPr lang="en-HK" dirty="0"/>
              <a:t>Manual override toggle: record/stop disregarding timeline keyframes</a:t>
            </a:r>
          </a:p>
        </p:txBody>
      </p:sp>
      <p:cxnSp>
        <p:nvCxnSpPr>
          <p:cNvPr id="9" name="直線單箭頭接點 8">
            <a:extLst>
              <a:ext uri="{FF2B5EF4-FFF2-40B4-BE49-F238E27FC236}">
                <a16:creationId xmlns:a16="http://schemas.microsoft.com/office/drawing/2014/main" id="{EBFFACF5-79F7-8492-D923-1162B6416FFD}"/>
              </a:ext>
            </a:extLst>
          </p:cNvPr>
          <p:cNvCxnSpPr>
            <a:cxnSpLocks/>
          </p:cNvCxnSpPr>
          <p:nvPr/>
        </p:nvCxnSpPr>
        <p:spPr>
          <a:xfrm flipH="1">
            <a:off x="1524000" y="4889002"/>
            <a:ext cx="3595187" cy="990066"/>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12" name="直線單箭頭接點 11">
            <a:extLst>
              <a:ext uri="{FF2B5EF4-FFF2-40B4-BE49-F238E27FC236}">
                <a16:creationId xmlns:a16="http://schemas.microsoft.com/office/drawing/2014/main" id="{38130D95-8CE3-F593-E66A-010D3B3F0E54}"/>
              </a:ext>
            </a:extLst>
          </p:cNvPr>
          <p:cNvCxnSpPr>
            <a:cxnSpLocks/>
            <a:stCxn id="8" idx="1"/>
          </p:cNvCxnSpPr>
          <p:nvPr/>
        </p:nvCxnSpPr>
        <p:spPr>
          <a:xfrm flipH="1" flipV="1">
            <a:off x="2394857" y="6008840"/>
            <a:ext cx="2118465" cy="54894"/>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pic>
        <p:nvPicPr>
          <p:cNvPr id="16" name="圖片 15">
            <a:extLst>
              <a:ext uri="{FF2B5EF4-FFF2-40B4-BE49-F238E27FC236}">
                <a16:creationId xmlns:a16="http://schemas.microsoft.com/office/drawing/2014/main" id="{E68D9CD1-F08B-9798-799C-3674383058BE}"/>
              </a:ext>
            </a:extLst>
          </p:cNvPr>
          <p:cNvPicPr>
            <a:picLocks noChangeAspect="1"/>
          </p:cNvPicPr>
          <p:nvPr/>
        </p:nvPicPr>
        <p:blipFill>
          <a:blip r:embed="rId3"/>
          <a:srcRect t="58662" r="4896"/>
          <a:stretch>
            <a:fillRect/>
          </a:stretch>
        </p:blipFill>
        <p:spPr>
          <a:xfrm>
            <a:off x="4513322" y="5141679"/>
            <a:ext cx="7297415" cy="331988"/>
          </a:xfrm>
          <a:prstGeom prst="rect">
            <a:avLst/>
          </a:prstGeom>
        </p:spPr>
      </p:pic>
      <p:sp>
        <p:nvSpPr>
          <p:cNvPr id="20" name="文字方塊 19">
            <a:extLst>
              <a:ext uri="{FF2B5EF4-FFF2-40B4-BE49-F238E27FC236}">
                <a16:creationId xmlns:a16="http://schemas.microsoft.com/office/drawing/2014/main" id="{EAA9557E-6CE2-1417-29C0-74E96BA5EF0B}"/>
              </a:ext>
            </a:extLst>
          </p:cNvPr>
          <p:cNvSpPr txBox="1"/>
          <p:nvPr/>
        </p:nvSpPr>
        <p:spPr>
          <a:xfrm>
            <a:off x="4924900" y="5242499"/>
            <a:ext cx="1154483" cy="307777"/>
          </a:xfrm>
          <a:prstGeom prst="rect">
            <a:avLst/>
          </a:prstGeom>
          <a:noFill/>
        </p:spPr>
        <p:txBody>
          <a:bodyPr wrap="none" rtlCol="0">
            <a:spAutoFit/>
          </a:bodyPr>
          <a:lstStyle/>
          <a:p>
            <a:r>
              <a:rPr lang="en-HK" sz="1400" dirty="0">
                <a:solidFill>
                  <a:srgbClr val="FFFF00"/>
                </a:solidFill>
              </a:rPr>
              <a:t>Start record</a:t>
            </a:r>
          </a:p>
        </p:txBody>
      </p:sp>
      <p:sp>
        <p:nvSpPr>
          <p:cNvPr id="22" name="文字方塊 21">
            <a:extLst>
              <a:ext uri="{FF2B5EF4-FFF2-40B4-BE49-F238E27FC236}">
                <a16:creationId xmlns:a16="http://schemas.microsoft.com/office/drawing/2014/main" id="{BF3AE045-F623-B8EC-0939-767F92DF6B87}"/>
              </a:ext>
            </a:extLst>
          </p:cNvPr>
          <p:cNvSpPr txBox="1"/>
          <p:nvPr/>
        </p:nvSpPr>
        <p:spPr>
          <a:xfrm>
            <a:off x="10774168" y="5242498"/>
            <a:ext cx="1114408" cy="307777"/>
          </a:xfrm>
          <a:prstGeom prst="rect">
            <a:avLst/>
          </a:prstGeom>
          <a:noFill/>
        </p:spPr>
        <p:txBody>
          <a:bodyPr wrap="none" rtlCol="0">
            <a:spAutoFit/>
          </a:bodyPr>
          <a:lstStyle/>
          <a:p>
            <a:r>
              <a:rPr lang="en-HK" sz="1400" dirty="0">
                <a:solidFill>
                  <a:srgbClr val="FFFF00"/>
                </a:solidFill>
              </a:rPr>
              <a:t>Stop record</a:t>
            </a:r>
          </a:p>
        </p:txBody>
      </p:sp>
    </p:spTree>
    <p:extLst>
      <p:ext uri="{BB962C8B-B14F-4D97-AF65-F5344CB8AC3E}">
        <p14:creationId xmlns:p14="http://schemas.microsoft.com/office/powerpoint/2010/main" val="3092551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754DDB-2EB2-1AD8-DF5D-94A36994131A}"/>
              </a:ext>
            </a:extLst>
          </p:cNvPr>
          <p:cNvSpPr>
            <a:spLocks noGrp="1"/>
          </p:cNvSpPr>
          <p:nvPr>
            <p:ph type="title"/>
          </p:nvPr>
        </p:nvSpPr>
        <p:spPr/>
        <p:txBody>
          <a:bodyPr/>
          <a:lstStyle/>
          <a:p>
            <a:r>
              <a:rPr lang="en-HK" dirty="0"/>
              <a:t>Component: Tracker</a:t>
            </a:r>
          </a:p>
        </p:txBody>
      </p:sp>
      <p:sp>
        <p:nvSpPr>
          <p:cNvPr id="3" name="內容版面配置區 2">
            <a:extLst>
              <a:ext uri="{FF2B5EF4-FFF2-40B4-BE49-F238E27FC236}">
                <a16:creationId xmlns:a16="http://schemas.microsoft.com/office/drawing/2014/main" id="{8D0AB423-10BE-5482-FBE2-92206774412D}"/>
              </a:ext>
            </a:extLst>
          </p:cNvPr>
          <p:cNvSpPr>
            <a:spLocks noGrp="1"/>
          </p:cNvSpPr>
          <p:nvPr>
            <p:ph idx="1"/>
          </p:nvPr>
        </p:nvSpPr>
        <p:spPr>
          <a:xfrm>
            <a:off x="677334" y="1481321"/>
            <a:ext cx="8596668" cy="3880773"/>
          </a:xfrm>
        </p:spPr>
        <p:txBody>
          <a:bodyPr/>
          <a:lstStyle/>
          <a:p>
            <a:r>
              <a:rPr lang="en-HK" dirty="0"/>
              <a:t>Given a target, the sim cursor looks at a designated object over drag and even along the path segments it generates</a:t>
            </a:r>
          </a:p>
          <a:p>
            <a:r>
              <a:rPr lang="en-HK" dirty="0"/>
              <a:t>Together with </a:t>
            </a:r>
            <a:r>
              <a:rPr lang="en-HK" dirty="0" err="1"/>
              <a:t>opencv</a:t>
            </a:r>
            <a:r>
              <a:rPr lang="en-HK" dirty="0"/>
              <a:t> camera to do face tracking, </a:t>
            </a:r>
            <a:r>
              <a:rPr lang="en-HK" dirty="0">
                <a:highlight>
                  <a:srgbClr val="FFFF00"/>
                </a:highlight>
              </a:rPr>
              <a:t>arm can track and centre real targets as well as simulated objects (WIP)</a:t>
            </a:r>
          </a:p>
        </p:txBody>
      </p:sp>
      <p:sp>
        <p:nvSpPr>
          <p:cNvPr id="4" name="投影片編號版面配置區 3">
            <a:extLst>
              <a:ext uri="{FF2B5EF4-FFF2-40B4-BE49-F238E27FC236}">
                <a16:creationId xmlns:a16="http://schemas.microsoft.com/office/drawing/2014/main" id="{77993244-1C25-18AE-365A-C5E0B16F6D18}"/>
              </a:ext>
            </a:extLst>
          </p:cNvPr>
          <p:cNvSpPr>
            <a:spLocks noGrp="1"/>
          </p:cNvSpPr>
          <p:nvPr>
            <p:ph type="sldNum" sz="quarter" idx="12"/>
          </p:nvPr>
        </p:nvSpPr>
        <p:spPr/>
        <p:txBody>
          <a:bodyPr/>
          <a:lstStyle/>
          <a:p>
            <a:fld id="{CF9A1619-F87A-4FCD-8947-EF4132FEEC38}" type="slidenum">
              <a:rPr lang="zh-HK" altLang="en-US" smtClean="0"/>
              <a:t>25</a:t>
            </a:fld>
            <a:endParaRPr lang="zh-HK" altLang="en-US"/>
          </a:p>
        </p:txBody>
      </p:sp>
      <p:pic>
        <p:nvPicPr>
          <p:cNvPr id="5" name="Drag Track">
            <a:hlinkClick r:id="" action="ppaction://media"/>
            <a:extLst>
              <a:ext uri="{FF2B5EF4-FFF2-40B4-BE49-F238E27FC236}">
                <a16:creationId xmlns:a16="http://schemas.microsoft.com/office/drawing/2014/main" id="{2CAF05B0-D718-15D3-DCC3-B74D5101D6D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453863" y="3258078"/>
            <a:ext cx="6273600" cy="3528900"/>
          </a:xfrm>
          <a:prstGeom prst="rect">
            <a:avLst/>
          </a:prstGeom>
        </p:spPr>
      </p:pic>
      <p:sp>
        <p:nvSpPr>
          <p:cNvPr id="6" name="文字方塊 5">
            <a:extLst>
              <a:ext uri="{FF2B5EF4-FFF2-40B4-BE49-F238E27FC236}">
                <a16:creationId xmlns:a16="http://schemas.microsoft.com/office/drawing/2014/main" id="{0856E3E1-7BD0-EE86-7F00-A7E5D9077043}"/>
              </a:ext>
            </a:extLst>
          </p:cNvPr>
          <p:cNvSpPr txBox="1"/>
          <p:nvPr/>
        </p:nvSpPr>
        <p:spPr>
          <a:xfrm>
            <a:off x="677334" y="2802121"/>
            <a:ext cx="8457788" cy="646331"/>
          </a:xfrm>
          <a:prstGeom prst="rect">
            <a:avLst/>
          </a:prstGeom>
          <a:noFill/>
        </p:spPr>
        <p:txBody>
          <a:bodyPr wrap="square" rtlCol="0">
            <a:spAutoFit/>
          </a:bodyPr>
          <a:lstStyle/>
          <a:p>
            <a:r>
              <a:rPr lang="en-HK" dirty="0"/>
              <a:t>Note: Current tracking tracks target position pre-bake, it does not track targets while running, live </a:t>
            </a:r>
            <a:r>
              <a:rPr lang="en-HK" dirty="0">
                <a:highlight>
                  <a:srgbClr val="FFFF00"/>
                </a:highlight>
              </a:rPr>
              <a:t>tracking WIP</a:t>
            </a:r>
          </a:p>
        </p:txBody>
      </p:sp>
    </p:spTree>
    <p:extLst>
      <p:ext uri="{BB962C8B-B14F-4D97-AF65-F5344CB8AC3E}">
        <p14:creationId xmlns:p14="http://schemas.microsoft.com/office/powerpoint/2010/main" val="1885358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81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DB58FB-93B7-BE0B-9656-351340DC68EC}"/>
              </a:ext>
            </a:extLst>
          </p:cNvPr>
          <p:cNvSpPr>
            <a:spLocks noGrp="1"/>
          </p:cNvSpPr>
          <p:nvPr>
            <p:ph type="title"/>
          </p:nvPr>
        </p:nvSpPr>
        <p:spPr/>
        <p:txBody>
          <a:bodyPr/>
          <a:lstStyle/>
          <a:p>
            <a:r>
              <a:rPr lang="en-HK" dirty="0"/>
              <a:t>Miscellaneous</a:t>
            </a:r>
          </a:p>
        </p:txBody>
      </p:sp>
      <p:sp>
        <p:nvSpPr>
          <p:cNvPr id="3" name="內容版面配置區 2">
            <a:extLst>
              <a:ext uri="{FF2B5EF4-FFF2-40B4-BE49-F238E27FC236}">
                <a16:creationId xmlns:a16="http://schemas.microsoft.com/office/drawing/2014/main" id="{5D5C0231-5052-F468-AB8E-FD6CF15EBD63}"/>
              </a:ext>
            </a:extLst>
          </p:cNvPr>
          <p:cNvSpPr>
            <a:spLocks noGrp="1"/>
          </p:cNvSpPr>
          <p:nvPr>
            <p:ph idx="1"/>
          </p:nvPr>
        </p:nvSpPr>
        <p:spPr>
          <a:xfrm>
            <a:off x="677334" y="1368109"/>
            <a:ext cx="8596668" cy="3880773"/>
          </a:xfrm>
        </p:spPr>
        <p:txBody>
          <a:bodyPr/>
          <a:lstStyle/>
          <a:p>
            <a:r>
              <a:rPr lang="en-HK" dirty="0"/>
              <a:t>File save load function</a:t>
            </a:r>
          </a:p>
          <a:p>
            <a:r>
              <a:rPr lang="en-HK" dirty="0"/>
              <a:t>Autosave and auto back up</a:t>
            </a:r>
          </a:p>
          <a:p>
            <a:r>
              <a:rPr lang="en-HK" dirty="0"/>
              <a:t>Settings menu to edit robot type and joint limits</a:t>
            </a:r>
          </a:p>
          <a:p>
            <a:r>
              <a:rPr lang="en-HK" dirty="0"/>
              <a:t>Auto Reconnection (note: laggy)</a:t>
            </a:r>
          </a:p>
          <a:p>
            <a:r>
              <a:rPr lang="en-HK" dirty="0"/>
              <a:t>Multi camera handling</a:t>
            </a:r>
          </a:p>
          <a:p>
            <a:r>
              <a:rPr lang="en-HK" dirty="0"/>
              <a:t>Hover over saved path to reveal original waypoints</a:t>
            </a:r>
          </a:p>
          <a:p>
            <a:endParaRPr lang="en-HK" dirty="0"/>
          </a:p>
        </p:txBody>
      </p:sp>
      <p:sp>
        <p:nvSpPr>
          <p:cNvPr id="4" name="投影片編號版面配置區 3">
            <a:extLst>
              <a:ext uri="{FF2B5EF4-FFF2-40B4-BE49-F238E27FC236}">
                <a16:creationId xmlns:a16="http://schemas.microsoft.com/office/drawing/2014/main" id="{BC8EDDD5-0FC7-1B32-CCB5-AA6CFAF3C97F}"/>
              </a:ext>
            </a:extLst>
          </p:cNvPr>
          <p:cNvSpPr>
            <a:spLocks noGrp="1"/>
          </p:cNvSpPr>
          <p:nvPr>
            <p:ph type="sldNum" sz="quarter" idx="12"/>
          </p:nvPr>
        </p:nvSpPr>
        <p:spPr/>
        <p:txBody>
          <a:bodyPr/>
          <a:lstStyle/>
          <a:p>
            <a:fld id="{CF9A1619-F87A-4FCD-8947-EF4132FEEC38}" type="slidenum">
              <a:rPr lang="zh-HK" altLang="en-US" smtClean="0"/>
              <a:t>26</a:t>
            </a:fld>
            <a:endParaRPr lang="zh-HK" altLang="en-US"/>
          </a:p>
        </p:txBody>
      </p:sp>
      <p:pic>
        <p:nvPicPr>
          <p:cNvPr id="6" name="圖片 5">
            <a:extLst>
              <a:ext uri="{FF2B5EF4-FFF2-40B4-BE49-F238E27FC236}">
                <a16:creationId xmlns:a16="http://schemas.microsoft.com/office/drawing/2014/main" id="{0012867A-99CF-F5FF-CF96-5491F2A7739B}"/>
              </a:ext>
            </a:extLst>
          </p:cNvPr>
          <p:cNvPicPr>
            <a:picLocks noChangeAspect="1"/>
          </p:cNvPicPr>
          <p:nvPr/>
        </p:nvPicPr>
        <p:blipFill>
          <a:blip r:embed="rId4"/>
          <a:stretch>
            <a:fillRect/>
          </a:stretch>
        </p:blipFill>
        <p:spPr>
          <a:xfrm>
            <a:off x="6310614" y="133739"/>
            <a:ext cx="1886213" cy="2029108"/>
          </a:xfrm>
          <a:prstGeom prst="rect">
            <a:avLst/>
          </a:prstGeom>
        </p:spPr>
      </p:pic>
      <p:pic>
        <p:nvPicPr>
          <p:cNvPr id="8" name="圖片 7">
            <a:extLst>
              <a:ext uri="{FF2B5EF4-FFF2-40B4-BE49-F238E27FC236}">
                <a16:creationId xmlns:a16="http://schemas.microsoft.com/office/drawing/2014/main" id="{A65A7DA7-3476-4B00-1C73-7936ADB4C21B}"/>
              </a:ext>
            </a:extLst>
          </p:cNvPr>
          <p:cNvPicPr>
            <a:picLocks noChangeAspect="1"/>
          </p:cNvPicPr>
          <p:nvPr/>
        </p:nvPicPr>
        <p:blipFill>
          <a:blip r:embed="rId5"/>
          <a:stretch>
            <a:fillRect/>
          </a:stretch>
        </p:blipFill>
        <p:spPr>
          <a:xfrm>
            <a:off x="8506036" y="1344530"/>
            <a:ext cx="2791215" cy="1171739"/>
          </a:xfrm>
          <a:prstGeom prst="rect">
            <a:avLst/>
          </a:prstGeom>
        </p:spPr>
      </p:pic>
      <p:pic>
        <p:nvPicPr>
          <p:cNvPr id="10" name="圖片 9">
            <a:extLst>
              <a:ext uri="{FF2B5EF4-FFF2-40B4-BE49-F238E27FC236}">
                <a16:creationId xmlns:a16="http://schemas.microsoft.com/office/drawing/2014/main" id="{74E8EB52-EC09-EEEA-6454-1AC81C8F3739}"/>
              </a:ext>
            </a:extLst>
          </p:cNvPr>
          <p:cNvPicPr>
            <a:picLocks noChangeAspect="1"/>
          </p:cNvPicPr>
          <p:nvPr/>
        </p:nvPicPr>
        <p:blipFill>
          <a:blip r:embed="rId6"/>
          <a:stretch>
            <a:fillRect/>
          </a:stretch>
        </p:blipFill>
        <p:spPr>
          <a:xfrm>
            <a:off x="8634632" y="2774514"/>
            <a:ext cx="2534024" cy="2437446"/>
          </a:xfrm>
          <a:prstGeom prst="rect">
            <a:avLst/>
          </a:prstGeom>
        </p:spPr>
      </p:pic>
      <p:pic>
        <p:nvPicPr>
          <p:cNvPr id="11" name="Arcs Reconnect Demo">
            <a:hlinkClick r:id="" action="ppaction://media"/>
            <a:extLst>
              <a:ext uri="{FF2B5EF4-FFF2-40B4-BE49-F238E27FC236}">
                <a16:creationId xmlns:a16="http://schemas.microsoft.com/office/drawing/2014/main" id="{1B0E95C2-6C0C-7647-3F0D-B304456860C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262612" y="3810447"/>
            <a:ext cx="4101191" cy="2306920"/>
          </a:xfrm>
          <a:prstGeom prst="rect">
            <a:avLst/>
          </a:prstGeom>
        </p:spPr>
      </p:pic>
      <p:pic>
        <p:nvPicPr>
          <p:cNvPr id="7" name="圖片 6">
            <a:extLst>
              <a:ext uri="{FF2B5EF4-FFF2-40B4-BE49-F238E27FC236}">
                <a16:creationId xmlns:a16="http://schemas.microsoft.com/office/drawing/2014/main" id="{DE0D67EA-84C9-56F9-D490-2464CA6B113F}"/>
              </a:ext>
            </a:extLst>
          </p:cNvPr>
          <p:cNvPicPr>
            <a:picLocks noChangeAspect="1"/>
          </p:cNvPicPr>
          <p:nvPr/>
        </p:nvPicPr>
        <p:blipFill>
          <a:blip r:embed="rId8"/>
          <a:stretch>
            <a:fillRect/>
          </a:stretch>
        </p:blipFill>
        <p:spPr>
          <a:xfrm>
            <a:off x="5467640" y="5319775"/>
            <a:ext cx="4191585" cy="866896"/>
          </a:xfrm>
          <a:prstGeom prst="rect">
            <a:avLst/>
          </a:prstGeom>
        </p:spPr>
      </p:pic>
      <p:pic>
        <p:nvPicPr>
          <p:cNvPr id="12" name="圖片 11">
            <a:extLst>
              <a:ext uri="{FF2B5EF4-FFF2-40B4-BE49-F238E27FC236}">
                <a16:creationId xmlns:a16="http://schemas.microsoft.com/office/drawing/2014/main" id="{34B0ECF0-CB1A-01B0-4E5D-0EB446E25340}"/>
              </a:ext>
            </a:extLst>
          </p:cNvPr>
          <p:cNvPicPr>
            <a:picLocks noChangeAspect="1"/>
          </p:cNvPicPr>
          <p:nvPr/>
        </p:nvPicPr>
        <p:blipFill>
          <a:blip r:embed="rId9"/>
          <a:stretch>
            <a:fillRect/>
          </a:stretch>
        </p:blipFill>
        <p:spPr>
          <a:xfrm>
            <a:off x="7839195" y="5970469"/>
            <a:ext cx="4124901" cy="647790"/>
          </a:xfrm>
          <a:prstGeom prst="rect">
            <a:avLst/>
          </a:prstGeom>
        </p:spPr>
      </p:pic>
    </p:spTree>
    <p:extLst>
      <p:ext uri="{BB962C8B-B14F-4D97-AF65-F5344CB8AC3E}">
        <p14:creationId xmlns:p14="http://schemas.microsoft.com/office/powerpoint/2010/main" val="84465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90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5D9733-FC40-1C79-9014-80F2C6EA103B}"/>
              </a:ext>
            </a:extLst>
          </p:cNvPr>
          <p:cNvSpPr>
            <a:spLocks noGrp="1"/>
          </p:cNvSpPr>
          <p:nvPr>
            <p:ph type="title"/>
          </p:nvPr>
        </p:nvSpPr>
        <p:spPr/>
        <p:txBody>
          <a:bodyPr/>
          <a:lstStyle/>
          <a:p>
            <a:r>
              <a:rPr lang="en-HK" dirty="0"/>
              <a:t>Miscellaneous</a:t>
            </a:r>
          </a:p>
        </p:txBody>
      </p:sp>
      <p:sp>
        <p:nvSpPr>
          <p:cNvPr id="3" name="內容版面配置區 2">
            <a:extLst>
              <a:ext uri="{FF2B5EF4-FFF2-40B4-BE49-F238E27FC236}">
                <a16:creationId xmlns:a16="http://schemas.microsoft.com/office/drawing/2014/main" id="{C4FB27D7-EEB7-D62F-40A0-F60FA3249D62}"/>
              </a:ext>
            </a:extLst>
          </p:cNvPr>
          <p:cNvSpPr>
            <a:spLocks noGrp="1"/>
          </p:cNvSpPr>
          <p:nvPr>
            <p:ph idx="1"/>
          </p:nvPr>
        </p:nvSpPr>
        <p:spPr>
          <a:xfrm>
            <a:off x="555904" y="1425514"/>
            <a:ext cx="8596668" cy="3880773"/>
          </a:xfrm>
        </p:spPr>
        <p:txBody>
          <a:bodyPr/>
          <a:lstStyle/>
          <a:p>
            <a:r>
              <a:rPr lang="en-HK" dirty="0"/>
              <a:t>View console for debug</a:t>
            </a:r>
          </a:p>
          <a:p>
            <a:r>
              <a:rPr lang="en-HK" dirty="0"/>
              <a:t>Path window to only render a range of waypoints in 3D viewer at a time for simplicity (bugged </a:t>
            </a:r>
            <a:r>
              <a:rPr lang="en-HK" dirty="0" err="1"/>
              <a:t>atm</a:t>
            </a:r>
            <a:r>
              <a:rPr lang="en-HK" dirty="0"/>
              <a:t>)</a:t>
            </a:r>
          </a:p>
          <a:p>
            <a:r>
              <a:rPr lang="en-HK" dirty="0"/>
              <a:t>View cube to display and control camera view angle </a:t>
            </a:r>
            <a:r>
              <a:rPr lang="en-HK" dirty="0">
                <a:highlight>
                  <a:srgbClr val="FFFF00"/>
                </a:highlight>
              </a:rPr>
              <a:t>(Taken from CAD software)</a:t>
            </a:r>
          </a:p>
          <a:p>
            <a:r>
              <a:rPr lang="en-HK" dirty="0"/>
              <a:t>Radian and degree conversion in most angle related properties</a:t>
            </a:r>
          </a:p>
          <a:p>
            <a:r>
              <a:rPr lang="en-HK" dirty="0"/>
              <a:t>Euler and quaternion conversion in orientation properties</a:t>
            </a:r>
          </a:p>
          <a:p>
            <a:r>
              <a:rPr lang="en-HK" dirty="0"/>
              <a:t>Timeline snap toggle to allow frames to be snapped to grid for simplicity or free placement for fine tuning</a:t>
            </a:r>
          </a:p>
          <a:p>
            <a:r>
              <a:rPr lang="en-HK" dirty="0"/>
              <a:t>Dev mode toggle + pw lock to hide development features</a:t>
            </a:r>
          </a:p>
          <a:p>
            <a:endParaRPr lang="en-HK" dirty="0"/>
          </a:p>
        </p:txBody>
      </p:sp>
      <p:sp>
        <p:nvSpPr>
          <p:cNvPr id="4" name="投影片編號版面配置區 3">
            <a:extLst>
              <a:ext uri="{FF2B5EF4-FFF2-40B4-BE49-F238E27FC236}">
                <a16:creationId xmlns:a16="http://schemas.microsoft.com/office/drawing/2014/main" id="{C67E3030-589A-A153-815E-5F91A8A7C982}"/>
              </a:ext>
            </a:extLst>
          </p:cNvPr>
          <p:cNvSpPr>
            <a:spLocks noGrp="1"/>
          </p:cNvSpPr>
          <p:nvPr>
            <p:ph type="sldNum" sz="quarter" idx="12"/>
          </p:nvPr>
        </p:nvSpPr>
        <p:spPr/>
        <p:txBody>
          <a:bodyPr/>
          <a:lstStyle/>
          <a:p>
            <a:fld id="{CF9A1619-F87A-4FCD-8947-EF4132FEEC38}" type="slidenum">
              <a:rPr lang="zh-HK" altLang="en-US" smtClean="0"/>
              <a:t>27</a:t>
            </a:fld>
            <a:endParaRPr lang="zh-HK" altLang="en-US"/>
          </a:p>
        </p:txBody>
      </p:sp>
      <p:pic>
        <p:nvPicPr>
          <p:cNvPr id="6" name="圖片 5">
            <a:extLst>
              <a:ext uri="{FF2B5EF4-FFF2-40B4-BE49-F238E27FC236}">
                <a16:creationId xmlns:a16="http://schemas.microsoft.com/office/drawing/2014/main" id="{7B0057C0-4BA0-A680-7EC2-6F18A76ED793}"/>
              </a:ext>
            </a:extLst>
          </p:cNvPr>
          <p:cNvPicPr>
            <a:picLocks noChangeAspect="1"/>
          </p:cNvPicPr>
          <p:nvPr/>
        </p:nvPicPr>
        <p:blipFill>
          <a:blip r:embed="rId2"/>
          <a:stretch>
            <a:fillRect/>
          </a:stretch>
        </p:blipFill>
        <p:spPr>
          <a:xfrm>
            <a:off x="9009099" y="430425"/>
            <a:ext cx="2820951" cy="1651035"/>
          </a:xfrm>
          <a:prstGeom prst="rect">
            <a:avLst/>
          </a:prstGeom>
        </p:spPr>
      </p:pic>
      <p:pic>
        <p:nvPicPr>
          <p:cNvPr id="8" name="圖片 7">
            <a:extLst>
              <a:ext uri="{FF2B5EF4-FFF2-40B4-BE49-F238E27FC236}">
                <a16:creationId xmlns:a16="http://schemas.microsoft.com/office/drawing/2014/main" id="{1C335A20-22C9-5E1A-EA2A-EB89F73B5A86}"/>
              </a:ext>
            </a:extLst>
          </p:cNvPr>
          <p:cNvPicPr>
            <a:picLocks noChangeAspect="1"/>
          </p:cNvPicPr>
          <p:nvPr/>
        </p:nvPicPr>
        <p:blipFill>
          <a:blip r:embed="rId3"/>
          <a:stretch>
            <a:fillRect/>
          </a:stretch>
        </p:blipFill>
        <p:spPr>
          <a:xfrm>
            <a:off x="8932332" y="2448998"/>
            <a:ext cx="2897718" cy="2325801"/>
          </a:xfrm>
          <a:prstGeom prst="rect">
            <a:avLst/>
          </a:prstGeom>
        </p:spPr>
      </p:pic>
      <p:sp>
        <p:nvSpPr>
          <p:cNvPr id="10" name="矩形 9">
            <a:extLst>
              <a:ext uri="{FF2B5EF4-FFF2-40B4-BE49-F238E27FC236}">
                <a16:creationId xmlns:a16="http://schemas.microsoft.com/office/drawing/2014/main" id="{CDC04A03-FE41-912E-A722-5A5EA683619A}"/>
              </a:ext>
            </a:extLst>
          </p:cNvPr>
          <p:cNvSpPr/>
          <p:nvPr/>
        </p:nvSpPr>
        <p:spPr>
          <a:xfrm>
            <a:off x="10929257" y="4040777"/>
            <a:ext cx="706839" cy="666922"/>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pic>
        <p:nvPicPr>
          <p:cNvPr id="12" name="圖片 11">
            <a:extLst>
              <a:ext uri="{FF2B5EF4-FFF2-40B4-BE49-F238E27FC236}">
                <a16:creationId xmlns:a16="http://schemas.microsoft.com/office/drawing/2014/main" id="{65913A4C-FC33-B9C3-7281-4172C3CFCD78}"/>
              </a:ext>
            </a:extLst>
          </p:cNvPr>
          <p:cNvPicPr>
            <a:picLocks noChangeAspect="1"/>
          </p:cNvPicPr>
          <p:nvPr/>
        </p:nvPicPr>
        <p:blipFill>
          <a:blip r:embed="rId4"/>
          <a:stretch>
            <a:fillRect/>
          </a:stretch>
        </p:blipFill>
        <p:spPr>
          <a:xfrm>
            <a:off x="7690482" y="3872343"/>
            <a:ext cx="1047896" cy="457264"/>
          </a:xfrm>
          <a:prstGeom prst="rect">
            <a:avLst/>
          </a:prstGeom>
        </p:spPr>
      </p:pic>
      <p:pic>
        <p:nvPicPr>
          <p:cNvPr id="14" name="圖片 13">
            <a:extLst>
              <a:ext uri="{FF2B5EF4-FFF2-40B4-BE49-F238E27FC236}">
                <a16:creationId xmlns:a16="http://schemas.microsoft.com/office/drawing/2014/main" id="{0F4E98F5-7B23-5A9C-A101-2872148258AC}"/>
              </a:ext>
            </a:extLst>
          </p:cNvPr>
          <p:cNvPicPr>
            <a:picLocks noChangeAspect="1"/>
          </p:cNvPicPr>
          <p:nvPr/>
        </p:nvPicPr>
        <p:blipFill>
          <a:blip r:embed="rId5"/>
          <a:stretch>
            <a:fillRect/>
          </a:stretch>
        </p:blipFill>
        <p:spPr>
          <a:xfrm>
            <a:off x="7690482" y="4405628"/>
            <a:ext cx="1047896" cy="323895"/>
          </a:xfrm>
          <a:prstGeom prst="rect">
            <a:avLst/>
          </a:prstGeom>
        </p:spPr>
      </p:pic>
      <p:pic>
        <p:nvPicPr>
          <p:cNvPr id="16" name="圖片 15">
            <a:extLst>
              <a:ext uri="{FF2B5EF4-FFF2-40B4-BE49-F238E27FC236}">
                <a16:creationId xmlns:a16="http://schemas.microsoft.com/office/drawing/2014/main" id="{534AC296-2AED-5EC9-FB72-D660CB7A1BB8}"/>
              </a:ext>
            </a:extLst>
          </p:cNvPr>
          <p:cNvPicPr>
            <a:picLocks noChangeAspect="1"/>
          </p:cNvPicPr>
          <p:nvPr/>
        </p:nvPicPr>
        <p:blipFill>
          <a:blip r:embed="rId6"/>
          <a:stretch>
            <a:fillRect/>
          </a:stretch>
        </p:blipFill>
        <p:spPr>
          <a:xfrm>
            <a:off x="9108318" y="5004988"/>
            <a:ext cx="2362530" cy="409632"/>
          </a:xfrm>
          <a:prstGeom prst="rect">
            <a:avLst/>
          </a:prstGeom>
        </p:spPr>
      </p:pic>
      <p:pic>
        <p:nvPicPr>
          <p:cNvPr id="18" name="圖片 17">
            <a:extLst>
              <a:ext uri="{FF2B5EF4-FFF2-40B4-BE49-F238E27FC236}">
                <a16:creationId xmlns:a16="http://schemas.microsoft.com/office/drawing/2014/main" id="{070BC6DE-76DC-0853-127D-A3CF00C1A099}"/>
              </a:ext>
            </a:extLst>
          </p:cNvPr>
          <p:cNvPicPr>
            <a:picLocks noChangeAspect="1"/>
          </p:cNvPicPr>
          <p:nvPr/>
        </p:nvPicPr>
        <p:blipFill>
          <a:blip r:embed="rId7"/>
          <a:stretch>
            <a:fillRect/>
          </a:stretch>
        </p:blipFill>
        <p:spPr>
          <a:xfrm>
            <a:off x="8580932" y="5666998"/>
            <a:ext cx="3340795" cy="1073251"/>
          </a:xfrm>
          <a:prstGeom prst="rect">
            <a:avLst/>
          </a:prstGeom>
        </p:spPr>
      </p:pic>
    </p:spTree>
    <p:extLst>
      <p:ext uri="{BB962C8B-B14F-4D97-AF65-F5344CB8AC3E}">
        <p14:creationId xmlns:p14="http://schemas.microsoft.com/office/powerpoint/2010/main" val="4016307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8EF3222E-064F-8366-EDE3-20768C74A10D}"/>
              </a:ext>
            </a:extLst>
          </p:cNvPr>
          <p:cNvGraphicFramePr>
            <a:graphicFrameLocks noGrp="1"/>
          </p:cNvGraphicFramePr>
          <p:nvPr>
            <p:extLst>
              <p:ext uri="{D42A27DB-BD31-4B8C-83A1-F6EECF244321}">
                <p14:modId xmlns:p14="http://schemas.microsoft.com/office/powerpoint/2010/main" val="4153489422"/>
              </p:ext>
            </p:extLst>
          </p:nvPr>
        </p:nvGraphicFramePr>
        <p:xfrm>
          <a:off x="78377" y="440282"/>
          <a:ext cx="11974285" cy="6169524"/>
        </p:xfrm>
        <a:graphic>
          <a:graphicData uri="http://schemas.openxmlformats.org/drawingml/2006/table">
            <a:tbl>
              <a:tblPr>
                <a:tableStyleId>{5C22544A-7EE6-4342-B048-85BDC9FD1C3A}</a:tableStyleId>
              </a:tblPr>
              <a:tblGrid>
                <a:gridCol w="317791">
                  <a:extLst>
                    <a:ext uri="{9D8B030D-6E8A-4147-A177-3AD203B41FA5}">
                      <a16:colId xmlns:a16="http://schemas.microsoft.com/office/drawing/2014/main" val="3434677581"/>
                    </a:ext>
                  </a:extLst>
                </a:gridCol>
                <a:gridCol w="1570262">
                  <a:extLst>
                    <a:ext uri="{9D8B030D-6E8A-4147-A177-3AD203B41FA5}">
                      <a16:colId xmlns:a16="http://schemas.microsoft.com/office/drawing/2014/main" val="3235426503"/>
                    </a:ext>
                  </a:extLst>
                </a:gridCol>
                <a:gridCol w="1836126">
                  <a:extLst>
                    <a:ext uri="{9D8B030D-6E8A-4147-A177-3AD203B41FA5}">
                      <a16:colId xmlns:a16="http://schemas.microsoft.com/office/drawing/2014/main" val="876266830"/>
                    </a:ext>
                  </a:extLst>
                </a:gridCol>
                <a:gridCol w="774875">
                  <a:extLst>
                    <a:ext uri="{9D8B030D-6E8A-4147-A177-3AD203B41FA5}">
                      <a16:colId xmlns:a16="http://schemas.microsoft.com/office/drawing/2014/main" val="3158981702"/>
                    </a:ext>
                  </a:extLst>
                </a:gridCol>
                <a:gridCol w="2241024">
                  <a:extLst>
                    <a:ext uri="{9D8B030D-6E8A-4147-A177-3AD203B41FA5}">
                      <a16:colId xmlns:a16="http://schemas.microsoft.com/office/drawing/2014/main" val="3207942108"/>
                    </a:ext>
                  </a:extLst>
                </a:gridCol>
                <a:gridCol w="2858618">
                  <a:extLst>
                    <a:ext uri="{9D8B030D-6E8A-4147-A177-3AD203B41FA5}">
                      <a16:colId xmlns:a16="http://schemas.microsoft.com/office/drawing/2014/main" val="17605820"/>
                    </a:ext>
                  </a:extLst>
                </a:gridCol>
                <a:gridCol w="2375589">
                  <a:extLst>
                    <a:ext uri="{9D8B030D-6E8A-4147-A177-3AD203B41FA5}">
                      <a16:colId xmlns:a16="http://schemas.microsoft.com/office/drawing/2014/main" val="3890134016"/>
                    </a:ext>
                  </a:extLst>
                </a:gridCol>
              </a:tblGrid>
              <a:tr h="326975">
                <a:tc>
                  <a:txBody>
                    <a:bodyPr/>
                    <a:lstStyle/>
                    <a:p>
                      <a:pPr algn="ctr" fontAlgn="ctr">
                        <a:buNone/>
                      </a:pPr>
                      <a:r>
                        <a:rPr lang="en-HK" sz="1100" u="none" strike="noStrike">
                          <a:effectLst/>
                        </a:rPr>
                        <a:t> </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ctr">
                        <a:buNone/>
                      </a:pPr>
                      <a:r>
                        <a:rPr lang="en-HK" sz="1100" u="none" strike="noStrike">
                          <a:effectLst/>
                        </a:rPr>
                        <a:t>功能</a:t>
                      </a:r>
                      <a:endParaRPr lang="en-HK" sz="1100" b="1" i="0" u="none" strike="noStrike">
                        <a:solidFill>
                          <a:srgbClr val="FFFFFF"/>
                        </a:solidFill>
                        <a:effectLst/>
                        <a:latin typeface="Arial" panose="020B0604020202020204" pitchFamily="34" charset="0"/>
                      </a:endParaRPr>
                    </a:p>
                  </a:txBody>
                  <a:tcPr marL="5726" marR="5726" marT="5726" marB="0" anchor="ctr"/>
                </a:tc>
                <a:tc>
                  <a:txBody>
                    <a:bodyPr/>
                    <a:lstStyle/>
                    <a:p>
                      <a:pPr algn="l" fontAlgn="ctr">
                        <a:buNone/>
                      </a:pPr>
                      <a:r>
                        <a:rPr lang="en-HK" sz="1100" u="none" strike="noStrike">
                          <a:effectLst/>
                        </a:rPr>
                        <a:t>U-MOCO</a:t>
                      </a:r>
                      <a:endParaRPr lang="en-HK" sz="1100" b="1" i="0" u="none" strike="noStrike">
                        <a:solidFill>
                          <a:srgbClr val="FFFFFF"/>
                        </a:solidFill>
                        <a:effectLst/>
                        <a:latin typeface="Arial" panose="020B0604020202020204" pitchFamily="34" charset="0"/>
                      </a:endParaRPr>
                    </a:p>
                  </a:txBody>
                  <a:tcPr marL="5726" marR="5726" marT="5726" marB="0" anchor="ctr"/>
                </a:tc>
                <a:tc>
                  <a:txBody>
                    <a:bodyPr/>
                    <a:lstStyle/>
                    <a:p>
                      <a:pPr algn="ctr" fontAlgn="ctr">
                        <a:buNone/>
                      </a:pPr>
                      <a:r>
                        <a:rPr lang="en-HK" sz="1100" u="none" strike="noStrike" dirty="0">
                          <a:effectLst/>
                        </a:rPr>
                        <a:t>Sandbox</a:t>
                      </a:r>
                      <a:endParaRPr lang="en-HK" sz="1100" b="1" i="0" u="none" strike="noStrike" dirty="0">
                        <a:solidFill>
                          <a:srgbClr val="FFFFFF"/>
                        </a:solidFill>
                        <a:effectLst/>
                        <a:latin typeface="Arial" panose="020B0604020202020204" pitchFamily="34" charset="0"/>
                      </a:endParaRPr>
                    </a:p>
                  </a:txBody>
                  <a:tcPr marL="5726" marR="5726" marT="5726" marB="0" anchor="ctr"/>
                </a:tc>
                <a:tc>
                  <a:txBody>
                    <a:bodyPr/>
                    <a:lstStyle/>
                    <a:p>
                      <a:pPr algn="l" fontAlgn="ctr">
                        <a:buNone/>
                      </a:pPr>
                      <a:r>
                        <a:rPr lang="en-HK" sz="1100" u="none" strike="noStrike" dirty="0" err="1">
                          <a:effectLst/>
                        </a:rPr>
                        <a:t>描述</a:t>
                      </a:r>
                      <a:endParaRPr lang="en-HK" sz="1100" b="1" i="0" u="none" strike="noStrike" dirty="0">
                        <a:solidFill>
                          <a:srgbClr val="FFFFFF"/>
                        </a:solidFill>
                        <a:effectLst/>
                        <a:latin typeface="Arial" panose="020B0604020202020204" pitchFamily="34" charset="0"/>
                      </a:endParaRPr>
                    </a:p>
                  </a:txBody>
                  <a:tcPr marL="5726" marR="5726" marT="5726" marB="0" anchor="ctr"/>
                </a:tc>
                <a:tc>
                  <a:txBody>
                    <a:bodyPr/>
                    <a:lstStyle/>
                    <a:p>
                      <a:pPr algn="l" fontAlgn="ctr">
                        <a:buNone/>
                      </a:pPr>
                      <a:r>
                        <a:rPr lang="en-HK" sz="1100" u="none" strike="noStrike" dirty="0" err="1">
                          <a:effectLst/>
                        </a:rPr>
                        <a:t>实际好处</a:t>
                      </a:r>
                      <a:r>
                        <a:rPr lang="en-HK" sz="1100" u="none" strike="noStrike" dirty="0">
                          <a:effectLst/>
                        </a:rPr>
                        <a:t> </a:t>
                      </a:r>
                      <a:endParaRPr lang="en-HK" sz="1100" b="1" i="0" u="none" strike="noStrike" dirty="0">
                        <a:solidFill>
                          <a:srgbClr val="FFFFFF"/>
                        </a:solidFill>
                        <a:effectLst/>
                        <a:latin typeface="Arial" panose="020B0604020202020204" pitchFamily="34" charset="0"/>
                      </a:endParaRPr>
                    </a:p>
                  </a:txBody>
                  <a:tcPr marL="5726" marR="5726" marT="5726" marB="0" anchor="ctr"/>
                </a:tc>
                <a:tc>
                  <a:txBody>
                    <a:bodyPr/>
                    <a:lstStyle/>
                    <a:p>
                      <a:pPr algn="ctr" fontAlgn="ctr">
                        <a:buNone/>
                      </a:pPr>
                      <a:r>
                        <a:rPr lang="en-HK" sz="1100" b="0" i="0" u="none" strike="noStrike" dirty="0">
                          <a:solidFill>
                            <a:schemeClr val="tx1"/>
                          </a:solidFill>
                          <a:effectLst/>
                          <a:latin typeface="Arial" panose="020B0604020202020204" pitchFamily="34" charset="0"/>
                        </a:rPr>
                        <a:t>Suitability to Transfer to </a:t>
                      </a:r>
                      <a:r>
                        <a:rPr lang="en-HK" sz="1100" b="0" i="0" u="none" strike="noStrike" dirty="0" err="1">
                          <a:solidFill>
                            <a:schemeClr val="tx1"/>
                          </a:solidFill>
                          <a:effectLst/>
                          <a:latin typeface="Arial" panose="020B0604020202020204" pitchFamily="34" charset="0"/>
                        </a:rPr>
                        <a:t>CineBot</a:t>
                      </a:r>
                      <a:endParaRPr lang="en-HK" sz="1100" b="0" i="0" u="none" strike="noStrike" dirty="0">
                        <a:solidFill>
                          <a:schemeClr val="tx1"/>
                        </a:solidFill>
                        <a:effectLst/>
                        <a:latin typeface="Arial" panose="020B0604020202020204" pitchFamily="34" charset="0"/>
                      </a:endParaRPr>
                    </a:p>
                  </a:txBody>
                  <a:tcPr marL="5726" marR="5726" marT="5726" marB="0" anchor="ctr"/>
                </a:tc>
                <a:extLst>
                  <a:ext uri="{0D108BD9-81ED-4DB2-BD59-A6C34878D82A}">
                    <a16:rowId xmlns:a16="http://schemas.microsoft.com/office/drawing/2014/main" val="4053568900"/>
                  </a:ext>
                </a:extLst>
              </a:tr>
              <a:tr h="715023">
                <a:tc>
                  <a:txBody>
                    <a:bodyPr/>
                    <a:lstStyle/>
                    <a:p>
                      <a:pPr algn="ctr" fontAlgn="ctr">
                        <a:buNone/>
                      </a:pPr>
                      <a:r>
                        <a:rPr lang="en-HK" sz="1100" u="none" strike="noStrike">
                          <a:effectLst/>
                        </a:rPr>
                        <a:t>1</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dirty="0" err="1">
                          <a:effectLst/>
                        </a:rPr>
                        <a:t>时间线关键帧</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基础：拖动时长、改路径</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effectLst/>
                        </a:rPr>
                        <a:t>Timeline</a:t>
                      </a:r>
                      <a:endParaRPr lang="en-HK" sz="1100" b="0" i="0" u="none" strike="noStrike" dirty="0">
                        <a:solidFill>
                          <a:srgbClr val="000000"/>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dirty="0" err="1">
                          <a:effectLst/>
                        </a:rPr>
                        <a:t>路径点可改时间，前后可交叉并重排</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同一思路。改一个点的时间不会打乱整条轨迹的顺序规则</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3884198048"/>
                  </a:ext>
                </a:extLst>
              </a:tr>
              <a:tr h="715023">
                <a:tc>
                  <a:txBody>
                    <a:bodyPr/>
                    <a:lstStyle/>
                    <a:p>
                      <a:pPr algn="ctr" fontAlgn="ctr">
                        <a:buNone/>
                      </a:pPr>
                      <a:r>
                        <a:rPr lang="en-HK" sz="1100" u="none" strike="noStrike">
                          <a:effectLst/>
                        </a:rPr>
                        <a:t>2</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dirty="0" err="1">
                          <a:effectLst/>
                        </a:rPr>
                        <a:t>路径形状与三维预览</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effectLst/>
                        </a:rPr>
                        <a:t>基础：贝塞尔曲线，三维里看轨迹</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b="0" i="0" u="none" strike="noStrike" dirty="0">
                          <a:solidFill>
                            <a:srgbClr val="000000"/>
                          </a:solidFill>
                          <a:effectLst/>
                          <a:latin typeface="Arial" panose="020B0604020202020204" pitchFamily="34" charset="0"/>
                        </a:rPr>
                        <a:t>3D Viewer</a:t>
                      </a:r>
                    </a:p>
                  </a:txBody>
                  <a:tcPr marL="5726" marR="5726" marT="5726" marB="0" anchor="ctr"/>
                </a:tc>
                <a:tc>
                  <a:txBody>
                    <a:bodyPr/>
                    <a:lstStyle/>
                    <a:p>
                      <a:pPr algn="l" fontAlgn="t">
                        <a:buNone/>
                      </a:pPr>
                      <a:r>
                        <a:rPr lang="en-HK" sz="1100" u="none" strike="noStrike">
                          <a:effectLst/>
                        </a:rPr>
                        <a:t>曲线路径画在三维视图里，可看仿真相机视角</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effectLst/>
                        </a:rPr>
                        <a:t>开拍前能对构图，不必只看关节角</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1048557439"/>
                  </a:ext>
                </a:extLst>
              </a:tr>
              <a:tr h="740915">
                <a:tc>
                  <a:txBody>
                    <a:bodyPr/>
                    <a:lstStyle/>
                    <a:p>
                      <a:pPr algn="ctr" fontAlgn="ctr">
                        <a:buNone/>
                      </a:pPr>
                      <a:r>
                        <a:rPr lang="en-HK" sz="1100" u="none" strike="noStrike">
                          <a:effectLst/>
                        </a:rPr>
                        <a:t>3</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effectLst/>
                        </a:rPr>
                        <a:t>现场找点</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基础：摇杆或手轮开到机位再存点</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b="0" i="0" u="none" strike="noStrike" dirty="0">
                          <a:solidFill>
                            <a:srgbClr val="000000"/>
                          </a:solidFill>
                          <a:effectLst/>
                          <a:latin typeface="Arial" panose="020B0604020202020204" pitchFamily="34" charset="0"/>
                        </a:rPr>
                        <a:t>Add waypoints</a:t>
                      </a:r>
                    </a:p>
                  </a:txBody>
                  <a:tcPr marL="5726" marR="5726" marT="5726" marB="0" anchor="ctr"/>
                </a:tc>
                <a:tc>
                  <a:txBody>
                    <a:bodyPr/>
                    <a:lstStyle/>
                    <a:p>
                      <a:pPr algn="l" fontAlgn="t">
                        <a:buNone/>
                      </a:pPr>
                      <a:r>
                        <a:rPr lang="en-HK" sz="1100" u="none" strike="noStrike">
                          <a:effectLst/>
                        </a:rPr>
                        <a:t>真实手臂光标: 真实机械臂走到机位，从当前光标落点</a:t>
                      </a:r>
                      <a:br>
                        <a:rPr lang="en-HK" sz="1100" u="none" strike="noStrike">
                          <a:effectLst/>
                        </a:rPr>
                      </a:br>
                      <a:r>
                        <a:rPr lang="en-HK" sz="1100" u="none" strike="noStrike">
                          <a:effectLst/>
                        </a:rPr>
                        <a:t>模拟光标：在仿真器中移动机械臂以标记位置</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两种可无缝切换的控制方式，以适应用户在真实或模拟环境中的需求。</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3875171788"/>
                  </a:ext>
                </a:extLst>
              </a:tr>
              <a:tr h="759712">
                <a:tc>
                  <a:txBody>
                    <a:bodyPr/>
                    <a:lstStyle/>
                    <a:p>
                      <a:pPr algn="ctr" fontAlgn="ctr">
                        <a:buNone/>
                      </a:pPr>
                      <a:r>
                        <a:rPr lang="en-HK" sz="1100" u="none" strike="noStrike">
                          <a:effectLst/>
                        </a:rPr>
                        <a:t>4</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effectLst/>
                        </a:rPr>
                        <a:t>简单加路径</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基础：加一段路径做简单控制</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effectLst/>
                        </a:rPr>
                        <a:t>Saved Path</a:t>
                      </a:r>
                      <a:endParaRPr lang="en-HK" sz="1100" b="0" i="0" u="none" strike="noStrike" dirty="0">
                        <a:solidFill>
                          <a:srgbClr val="000000"/>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effectLst/>
                        </a:rPr>
                        <a:t>也可保存、打开自己的路径，或加载出厂示例路径</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同一条轨迹可换场景再用。</a:t>
                      </a:r>
                      <a:br>
                        <a:rPr lang="en-HK" sz="1100" u="none" strike="noStrike">
                          <a:effectLst/>
                        </a:rPr>
                      </a:br>
                      <a:r>
                        <a:rPr lang="en-HK" sz="1100" u="none" strike="noStrike">
                          <a:effectLst/>
                        </a:rPr>
                        <a:t>出厂路径用来熟悉软件，不必从空白开始</a:t>
                      </a:r>
                      <a:br>
                        <a:rPr lang="en-HK" sz="1100" u="none" strike="noStrike">
                          <a:effectLst/>
                        </a:rPr>
                      </a:br>
                      <a:r>
                        <a:rPr lang="en-HK" sz="1100" u="none" strike="noStrike">
                          <a:effectLst/>
                        </a:rPr>
                        <a:t>经验丰富的用户还可以保存自己的路径以便重复使用，甚至针对特定场景进行微调。</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3444257984"/>
                  </a:ext>
                </a:extLst>
              </a:tr>
              <a:tr h="740915">
                <a:tc>
                  <a:txBody>
                    <a:bodyPr/>
                    <a:lstStyle/>
                    <a:p>
                      <a:pPr algn="ctr" fontAlgn="ctr">
                        <a:buNone/>
                      </a:pPr>
                      <a:r>
                        <a:rPr lang="en-HK" sz="1100" u="none" strike="noStrike">
                          <a:effectLst/>
                        </a:rPr>
                        <a:t>5</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effectLst/>
                        </a:rPr>
                        <a:t>手扶拖臂示教</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专业：直接推臂，系统把整段拖动平滑后记下</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b="0" i="0" u="none" strike="noStrike" dirty="0">
                          <a:solidFill>
                            <a:srgbClr val="000000"/>
                          </a:solidFill>
                          <a:effectLst/>
                          <a:latin typeface="Arial" panose="020B0604020202020204" pitchFamily="34" charset="0"/>
                        </a:rPr>
                        <a:t>Add waypoint from real bot</a:t>
                      </a:r>
                    </a:p>
                  </a:txBody>
                  <a:tcPr marL="5726" marR="5726" marT="5726" marB="0" anchor="ctr"/>
                </a:tc>
                <a:tc>
                  <a:txBody>
                    <a:bodyPr/>
                    <a:lstStyle/>
                    <a:p>
                      <a:pPr algn="l" fontAlgn="t">
                        <a:buNone/>
                      </a:pPr>
                      <a:r>
                        <a:rPr lang="en-HK" sz="1100" u="none" strike="noStrike">
                          <a:effectLst/>
                        </a:rPr>
                        <a:t>只落确认过的点，中间由曲线连接</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拖臂会把手抖、忽快忽慢和拖的时机写进路径，之后要逐段擦。落点只保留机位，微调一个点不会把整段手势带歪</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Same as pt 3</a:t>
                      </a:r>
                    </a:p>
                  </a:txBody>
                  <a:tcPr marL="5726" marR="5726" marT="5726" marB="0"/>
                </a:tc>
                <a:extLst>
                  <a:ext uri="{0D108BD9-81ED-4DB2-BD59-A6C34878D82A}">
                    <a16:rowId xmlns:a16="http://schemas.microsoft.com/office/drawing/2014/main" val="2124349462"/>
                  </a:ext>
                </a:extLst>
              </a:tr>
              <a:tr h="715023">
                <a:tc>
                  <a:txBody>
                    <a:bodyPr/>
                    <a:lstStyle/>
                    <a:p>
                      <a:pPr algn="ctr" fontAlgn="ctr">
                        <a:buNone/>
                      </a:pPr>
                      <a:r>
                        <a:rPr lang="en-HK" sz="1100" u="none" strike="noStrike">
                          <a:effectLst/>
                        </a:rPr>
                        <a:t>6</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effectLst/>
                        </a:rPr>
                        <a:t>速度渐变</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effectLst/>
                        </a:rPr>
                        <a:t>专业：时间线上拖一条全局速度曲线s</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b="0" i="0" u="none" strike="noStrike" dirty="0">
                          <a:solidFill>
                            <a:srgbClr val="000000"/>
                          </a:solidFill>
                          <a:effectLst/>
                          <a:latin typeface="Arial" panose="020B0604020202020204" pitchFamily="34" charset="0"/>
                        </a:rPr>
                        <a:t>Transition</a:t>
                      </a:r>
                    </a:p>
                  </a:txBody>
                  <a:tcPr marL="5726" marR="5726" marT="5726" marB="0" anchor="ctr"/>
                </a:tc>
                <a:tc>
                  <a:txBody>
                    <a:bodyPr/>
                    <a:lstStyle/>
                    <a:p>
                      <a:pPr algn="l" fontAlgn="t">
                        <a:buNone/>
                      </a:pPr>
                      <a:r>
                        <a:rPr lang="en-HK" sz="1100" u="none" strike="noStrike">
                          <a:effectLst/>
                        </a:rPr>
                        <a:t>每段可选线性，或自定义过渡曲线</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某一段要慢起或急停，只改这一段，旁边的段不用重画</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 different implementation on </a:t>
                      </a:r>
                      <a:r>
                        <a:rPr lang="en-HK" sz="1100" b="0" i="0" u="none" strike="noStrike" dirty="0" err="1">
                          <a:solidFill>
                            <a:srgbClr val="000000"/>
                          </a:solidFill>
                          <a:effectLst/>
                          <a:latin typeface="Arial" panose="020B0604020202020204" pitchFamily="34" charset="0"/>
                        </a:rPr>
                        <a:t>Cinebot</a:t>
                      </a:r>
                      <a:r>
                        <a:rPr lang="en-HK" sz="1100" b="0" i="0" u="none" strike="noStrike" dirty="0">
                          <a:solidFill>
                            <a:srgbClr val="000000"/>
                          </a:solidFill>
                          <a:effectLst/>
                          <a:latin typeface="Arial" panose="020B0604020202020204" pitchFamily="34" charset="0"/>
                        </a:rPr>
                        <a:t> since it’s path based instead of point based</a:t>
                      </a:r>
                    </a:p>
                  </a:txBody>
                  <a:tcPr marL="5726" marR="5726" marT="5726" marB="0"/>
                </a:tc>
                <a:extLst>
                  <a:ext uri="{0D108BD9-81ED-4DB2-BD59-A6C34878D82A}">
                    <a16:rowId xmlns:a16="http://schemas.microsoft.com/office/drawing/2014/main" val="416140285"/>
                  </a:ext>
                </a:extLst>
              </a:tr>
              <a:tr h="715023">
                <a:tc>
                  <a:txBody>
                    <a:bodyPr/>
                    <a:lstStyle/>
                    <a:p>
                      <a:pPr algn="ctr" fontAlgn="ctr">
                        <a:buNone/>
                      </a:pPr>
                      <a:r>
                        <a:rPr lang="en-HK" sz="1100" u="none" strike="noStrike">
                          <a:effectLst/>
                        </a:rPr>
                        <a:t>7</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effectLst/>
                        </a:rPr>
                        <a:t>目标锁定</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专业：锁一个点，臂绕行时镜头保持朝向它</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effectLst/>
                        </a:rPr>
                        <a:t>Tracker</a:t>
                      </a:r>
                      <a:endParaRPr lang="en-HK" sz="1100" b="0" i="0" u="none" strike="noStrike" dirty="0">
                        <a:solidFill>
                          <a:srgbClr val="000000"/>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effectLst/>
                        </a:rPr>
                        <a:t>路径点可绑定场景里的目标，姿态跟着目标 ("Tracker" 部件)</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a:effectLst/>
                        </a:rPr>
                        <a:t>挪动仿真器中的目标物体，朝向跟着变，不依赖当次认人是否成功</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2927297487"/>
                  </a:ext>
                </a:extLst>
              </a:tr>
              <a:tr h="740915">
                <a:tc>
                  <a:txBody>
                    <a:bodyPr/>
                    <a:lstStyle/>
                    <a:p>
                      <a:pPr algn="ctr" fontAlgn="ctr">
                        <a:buNone/>
                      </a:pPr>
                      <a:r>
                        <a:rPr lang="en-HK" sz="1100" u="none" strike="noStrike" dirty="0">
                          <a:effectLst/>
                        </a:rPr>
                        <a:t>8</a:t>
                      </a:r>
                      <a:endParaRPr lang="en-HK" sz="1100" b="0" i="0" u="none" strike="noStrike" dirty="0">
                        <a:solidFill>
                          <a:srgbClr val="000000"/>
                        </a:solidFill>
                        <a:effectLst/>
                        <a:latin typeface="Calibri" panose="020F0502020204030204" pitchFamily="34" charset="0"/>
                      </a:endParaRPr>
                    </a:p>
                  </a:txBody>
                  <a:tcPr marL="5726" marR="5726" marT="5726" marB="0" anchor="ctr"/>
                </a:tc>
                <a:tc>
                  <a:txBody>
                    <a:bodyPr/>
                    <a:lstStyle/>
                    <a:p>
                      <a:pPr algn="l" fontAlgn="ctr">
                        <a:buNone/>
                      </a:pPr>
                      <a:r>
                        <a:rPr lang="en-HK" sz="1100" u="none" strike="noStrike">
                          <a:effectLst/>
                        </a:rPr>
                        <a:t>画面识别跟随</a:t>
                      </a:r>
                      <a:endParaRPr lang="en-HK" sz="1100" b="0" i="0" u="none" strike="noStrike">
                        <a:solidFill>
                          <a:srgbClr val="000000"/>
                        </a:solidFill>
                        <a:effectLst/>
                        <a:latin typeface="Calibri" panose="020F0502020204030204" pitchFamily="34" charset="0"/>
                      </a:endParaRPr>
                    </a:p>
                  </a:txBody>
                  <a:tcPr marL="5726" marR="5726" marT="5726" marB="0" anchor="ctr"/>
                </a:tc>
                <a:tc>
                  <a:txBody>
                    <a:bodyPr/>
                    <a:lstStyle/>
                    <a:p>
                      <a:pPr algn="l" fontAlgn="ctr">
                        <a:buNone/>
                      </a:pPr>
                      <a:r>
                        <a:rPr lang="en-HK" sz="1100" u="none" strike="noStrike" dirty="0" err="1">
                          <a:effectLst/>
                        </a:rPr>
                        <a:t>专业宣传的</a:t>
                      </a:r>
                      <a:r>
                        <a:rPr lang="en-HK" sz="1100" u="none" strike="noStrike" dirty="0">
                          <a:effectLst/>
                        </a:rPr>
                        <a:t> AI </a:t>
                      </a:r>
                      <a:r>
                        <a:rPr lang="en-HK" sz="1100" u="none" strike="noStrike" dirty="0" err="1">
                          <a:effectLst/>
                        </a:rPr>
                        <a:t>跟随：认人认物后镜头跟着走</a:t>
                      </a:r>
                      <a:endParaRPr lang="en-HK" sz="1100" b="0" i="0" u="none" strike="noStrike" dirty="0">
                        <a:solidFill>
                          <a:srgbClr val="000000"/>
                        </a:solidFill>
                        <a:effectLst/>
                        <a:latin typeface="Calibri" panose="020F0502020204030204" pitchFamily="34" charset="0"/>
                      </a:endParaRPr>
                    </a:p>
                  </a:txBody>
                  <a:tcPr marL="5726" marR="5726" marT="5726" marB="0" anchor="ctr"/>
                </a:tc>
                <a:tc>
                  <a:txBody>
                    <a:bodyPr/>
                    <a:lstStyle/>
                    <a:p>
                      <a:pPr algn="ctr" fontAlgn="ctr">
                        <a:buNone/>
                      </a:pPr>
                      <a:r>
                        <a:rPr lang="en-HK" sz="1100" u="none" strike="noStrike" dirty="0">
                          <a:effectLst/>
                        </a:rPr>
                        <a:t>OpenCV cam</a:t>
                      </a:r>
                      <a:endParaRPr lang="en-HK" sz="1100" b="0" i="0" u="none" strike="noStrike" dirty="0">
                        <a:solidFill>
                          <a:srgbClr val="000000"/>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effectLst/>
                        </a:rPr>
                        <a:t>OpenCV 相机可对选定像素用深度相机算出三维点，</a:t>
                      </a:r>
                      <a:br>
                        <a:rPr lang="en-HK" sz="1100" u="none" strike="noStrike">
                          <a:effectLst/>
                        </a:rPr>
                      </a:br>
                      <a:r>
                        <a:rPr lang="en-HK" sz="1100" u="none" strike="noStrike">
                          <a:effectLst/>
                        </a:rPr>
                        <a:t>用于三维跟踪，也可做拍摄以外的手眼配合</a:t>
                      </a:r>
                      <a:endParaRPr lang="en-HK" sz="1100" b="0" i="0" u="none" strike="noStrike">
                        <a:solidFill>
                          <a:srgbClr val="000000"/>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effectLst/>
                        </a:rPr>
                        <a:t>可定制的外部脚本，不仅限于识别人脸，还支持将机器人应用于其他场景（例如包裹识别</a:t>
                      </a:r>
                      <a:r>
                        <a:rPr lang="en-HK" sz="1100" u="none" strike="noStrike" dirty="0">
                          <a:effectLst/>
                        </a:rPr>
                        <a:t>）。</a:t>
                      </a:r>
                      <a:r>
                        <a:rPr lang="en-HK" sz="1100" u="none" strike="noStrike" dirty="0" err="1">
                          <a:effectLst/>
                        </a:rPr>
                        <a:t>目前仍要手动选目标；跟踪物体和这个三维点之间的衔接还在做</a:t>
                      </a:r>
                      <a:endParaRPr lang="en-HK" sz="1100" b="0" i="0" u="none" strike="noStrike" dirty="0">
                        <a:solidFill>
                          <a:srgbClr val="000000"/>
                        </a:solidFill>
                        <a:effectLst/>
                        <a:latin typeface="Arial" panose="020B0604020202020204" pitchFamily="34" charset="0"/>
                      </a:endParaRPr>
                    </a:p>
                  </a:txBody>
                  <a:tcPr marL="5726" marR="5726" marT="5726" marB="0"/>
                </a:tc>
                <a:tc>
                  <a:txBody>
                    <a:bodyPr/>
                    <a:lstStyle/>
                    <a:p>
                      <a:pPr algn="ctr" fontAlgn="t">
                        <a:buNone/>
                      </a:pPr>
                      <a:r>
                        <a:rPr lang="en-HK" sz="1100" b="0" i="0" u="none" strike="noStrike" dirty="0">
                          <a:solidFill>
                            <a:srgbClr val="000000"/>
                          </a:solidFill>
                          <a:effectLst/>
                          <a:latin typeface="Arial" panose="020B0604020202020204" pitchFamily="34" charset="0"/>
                        </a:rPr>
                        <a:t>***</a:t>
                      </a:r>
                    </a:p>
                  </a:txBody>
                  <a:tcPr marL="5726" marR="5726" marT="5726" marB="0"/>
                </a:tc>
                <a:extLst>
                  <a:ext uri="{0D108BD9-81ED-4DB2-BD59-A6C34878D82A}">
                    <a16:rowId xmlns:a16="http://schemas.microsoft.com/office/drawing/2014/main" val="1733718378"/>
                  </a:ext>
                </a:extLst>
              </a:tr>
            </a:tbl>
          </a:graphicData>
        </a:graphic>
      </p:graphicFrame>
    </p:spTree>
    <p:extLst>
      <p:ext uri="{BB962C8B-B14F-4D97-AF65-F5344CB8AC3E}">
        <p14:creationId xmlns:p14="http://schemas.microsoft.com/office/powerpoint/2010/main" val="287595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452B05-4C9F-62FD-A010-986560537302}"/>
              </a:ext>
            </a:extLst>
          </p:cNvPr>
          <p:cNvSpPr>
            <a:spLocks noGrp="1"/>
          </p:cNvSpPr>
          <p:nvPr>
            <p:ph type="title"/>
          </p:nvPr>
        </p:nvSpPr>
        <p:spPr/>
        <p:txBody>
          <a:bodyPr/>
          <a:lstStyle/>
          <a:p>
            <a:endParaRPr lang="en-HK"/>
          </a:p>
        </p:txBody>
      </p:sp>
      <p:graphicFrame>
        <p:nvGraphicFramePr>
          <p:cNvPr id="5" name="內容版面配置區 4">
            <a:extLst>
              <a:ext uri="{FF2B5EF4-FFF2-40B4-BE49-F238E27FC236}">
                <a16:creationId xmlns:a16="http://schemas.microsoft.com/office/drawing/2014/main" id="{DF5ADC27-09D3-11D3-BD77-D10C9E1F8B5F}"/>
              </a:ext>
            </a:extLst>
          </p:cNvPr>
          <p:cNvGraphicFramePr>
            <a:graphicFrameLocks noGrp="1"/>
          </p:cNvGraphicFramePr>
          <p:nvPr>
            <p:ph idx="1"/>
            <p:extLst>
              <p:ext uri="{D42A27DB-BD31-4B8C-83A1-F6EECF244321}">
                <p14:modId xmlns:p14="http://schemas.microsoft.com/office/powerpoint/2010/main" val="3997567048"/>
              </p:ext>
            </p:extLst>
          </p:nvPr>
        </p:nvGraphicFramePr>
        <p:xfrm>
          <a:off x="100150" y="908880"/>
          <a:ext cx="11991700" cy="5497607"/>
        </p:xfrm>
        <a:graphic>
          <a:graphicData uri="http://schemas.openxmlformats.org/drawingml/2006/table">
            <a:tbl>
              <a:tblPr>
                <a:tableStyleId>{5C22544A-7EE6-4342-B048-85BDC9FD1C3A}</a:tableStyleId>
              </a:tblPr>
              <a:tblGrid>
                <a:gridCol w="321339">
                  <a:extLst>
                    <a:ext uri="{9D8B030D-6E8A-4147-A177-3AD203B41FA5}">
                      <a16:colId xmlns:a16="http://schemas.microsoft.com/office/drawing/2014/main" val="4243134524"/>
                    </a:ext>
                  </a:extLst>
                </a:gridCol>
                <a:gridCol w="1587799">
                  <a:extLst>
                    <a:ext uri="{9D8B030D-6E8A-4147-A177-3AD203B41FA5}">
                      <a16:colId xmlns:a16="http://schemas.microsoft.com/office/drawing/2014/main" val="1892381021"/>
                    </a:ext>
                  </a:extLst>
                </a:gridCol>
                <a:gridCol w="1856635">
                  <a:extLst>
                    <a:ext uri="{9D8B030D-6E8A-4147-A177-3AD203B41FA5}">
                      <a16:colId xmlns:a16="http://schemas.microsoft.com/office/drawing/2014/main" val="3344267701"/>
                    </a:ext>
                  </a:extLst>
                </a:gridCol>
                <a:gridCol w="865449">
                  <a:extLst>
                    <a:ext uri="{9D8B030D-6E8A-4147-A177-3AD203B41FA5}">
                      <a16:colId xmlns:a16="http://schemas.microsoft.com/office/drawing/2014/main" val="3031523828"/>
                    </a:ext>
                  </a:extLst>
                </a:gridCol>
                <a:gridCol w="2300462">
                  <a:extLst>
                    <a:ext uri="{9D8B030D-6E8A-4147-A177-3AD203B41FA5}">
                      <a16:colId xmlns:a16="http://schemas.microsoft.com/office/drawing/2014/main" val="1089875855"/>
                    </a:ext>
                  </a:extLst>
                </a:gridCol>
                <a:gridCol w="2849091">
                  <a:extLst>
                    <a:ext uri="{9D8B030D-6E8A-4147-A177-3AD203B41FA5}">
                      <a16:colId xmlns:a16="http://schemas.microsoft.com/office/drawing/2014/main" val="2045526367"/>
                    </a:ext>
                  </a:extLst>
                </a:gridCol>
                <a:gridCol w="2210925">
                  <a:extLst>
                    <a:ext uri="{9D8B030D-6E8A-4147-A177-3AD203B41FA5}">
                      <a16:colId xmlns:a16="http://schemas.microsoft.com/office/drawing/2014/main" val="2111272284"/>
                    </a:ext>
                  </a:extLst>
                </a:gridCol>
              </a:tblGrid>
              <a:tr h="461032">
                <a:tc>
                  <a:txBody>
                    <a:bodyPr/>
                    <a:lstStyle/>
                    <a:p>
                      <a:pPr algn="ctr" fontAlgn="ctr">
                        <a:buNone/>
                      </a:pPr>
                      <a:r>
                        <a:rPr lang="en-HK" sz="1100" b="0" i="0" u="none" strike="noStrike" dirty="0">
                          <a:solidFill>
                            <a:schemeClr val="tx1"/>
                          </a:solidFill>
                          <a:effectLst/>
                          <a:latin typeface="Calibri" panose="020F0502020204030204" pitchFamily="34" charset="0"/>
                        </a:rPr>
                        <a:t> </a:t>
                      </a:r>
                    </a:p>
                  </a:txBody>
                  <a:tcPr marL="9525" marR="9525" marT="9525" marB="0" anchor="ctr"/>
                </a:tc>
                <a:tc>
                  <a:txBody>
                    <a:bodyPr/>
                    <a:lstStyle/>
                    <a:p>
                      <a:pPr algn="l" fontAlgn="ctr">
                        <a:buNone/>
                      </a:pPr>
                      <a:r>
                        <a:rPr lang="en-HK" sz="1100" b="0" i="0" u="none" strike="noStrike" dirty="0" err="1">
                          <a:solidFill>
                            <a:schemeClr val="tx1"/>
                          </a:solidFill>
                          <a:effectLst/>
                          <a:latin typeface="Arial" panose="020B0604020202020204" pitchFamily="34" charset="0"/>
                        </a:rPr>
                        <a:t>功能</a:t>
                      </a:r>
                      <a:endParaRPr lang="en-HK" sz="1100" b="0" i="0" u="none" strike="noStrike" dirty="0">
                        <a:solidFill>
                          <a:schemeClr val="tx1"/>
                        </a:solidFill>
                        <a:effectLst/>
                        <a:latin typeface="Arial" panose="020B0604020202020204" pitchFamily="34" charset="0"/>
                      </a:endParaRPr>
                    </a:p>
                  </a:txBody>
                  <a:tcPr marL="9525" marR="9525" marT="9525" marB="0" anchor="ctr"/>
                </a:tc>
                <a:tc>
                  <a:txBody>
                    <a:bodyPr/>
                    <a:lstStyle/>
                    <a:p>
                      <a:pPr algn="l" fontAlgn="ctr">
                        <a:buNone/>
                      </a:pPr>
                      <a:r>
                        <a:rPr lang="en-HK" sz="1100" b="0" i="0" u="none" strike="noStrike" dirty="0">
                          <a:solidFill>
                            <a:schemeClr val="tx1"/>
                          </a:solidFill>
                          <a:effectLst/>
                          <a:latin typeface="Arial" panose="020B0604020202020204" pitchFamily="34" charset="0"/>
                        </a:rPr>
                        <a:t>U-MOCO</a:t>
                      </a:r>
                    </a:p>
                  </a:txBody>
                  <a:tcPr marL="9525" marR="9525" marT="9525" marB="0" anchor="ctr"/>
                </a:tc>
                <a:tc>
                  <a:txBody>
                    <a:bodyPr/>
                    <a:lstStyle/>
                    <a:p>
                      <a:pPr algn="ctr" fontAlgn="ctr">
                        <a:buNone/>
                      </a:pPr>
                      <a:r>
                        <a:rPr lang="en-HK" sz="1100" b="0" i="0" u="none" strike="noStrike" dirty="0">
                          <a:solidFill>
                            <a:schemeClr val="tx1"/>
                          </a:solidFill>
                          <a:effectLst/>
                          <a:latin typeface="Arial" panose="020B0604020202020204" pitchFamily="34" charset="0"/>
                        </a:rPr>
                        <a:t>sandbox</a:t>
                      </a:r>
                    </a:p>
                  </a:txBody>
                  <a:tcPr marL="9525" marR="9525" marT="9525" marB="0" anchor="ctr"/>
                </a:tc>
                <a:tc>
                  <a:txBody>
                    <a:bodyPr/>
                    <a:lstStyle/>
                    <a:p>
                      <a:pPr algn="l" fontAlgn="ctr">
                        <a:buNone/>
                      </a:pPr>
                      <a:r>
                        <a:rPr lang="en-HK" sz="1100" b="0" i="0" u="none" strike="noStrike" dirty="0" err="1">
                          <a:solidFill>
                            <a:schemeClr val="tx1"/>
                          </a:solidFill>
                          <a:effectLst/>
                          <a:latin typeface="Arial" panose="020B0604020202020204" pitchFamily="34" charset="0"/>
                        </a:rPr>
                        <a:t>描述</a:t>
                      </a:r>
                      <a:endParaRPr lang="en-HK" sz="1100" b="0" i="0" u="none" strike="noStrike" dirty="0">
                        <a:solidFill>
                          <a:schemeClr val="tx1"/>
                        </a:solidFill>
                        <a:effectLst/>
                        <a:latin typeface="Arial" panose="020B0604020202020204" pitchFamily="34" charset="0"/>
                      </a:endParaRPr>
                    </a:p>
                  </a:txBody>
                  <a:tcPr marL="9525" marR="9525" marT="9525" marB="0" anchor="ctr"/>
                </a:tc>
                <a:tc>
                  <a:txBody>
                    <a:bodyPr/>
                    <a:lstStyle/>
                    <a:p>
                      <a:pPr algn="l" fontAlgn="ctr">
                        <a:buNone/>
                      </a:pPr>
                      <a:r>
                        <a:rPr lang="en-HK" sz="1100" b="0" i="0" u="none" strike="noStrike" dirty="0" err="1">
                          <a:solidFill>
                            <a:schemeClr val="tx1"/>
                          </a:solidFill>
                          <a:effectLst/>
                          <a:latin typeface="Arial" panose="020B0604020202020204" pitchFamily="34" charset="0"/>
                        </a:rPr>
                        <a:t>实际好处</a:t>
                      </a:r>
                      <a:r>
                        <a:rPr lang="en-HK" sz="1100" b="0" i="0" u="none" strike="noStrike" dirty="0">
                          <a:solidFill>
                            <a:schemeClr val="tx1"/>
                          </a:solidFill>
                          <a:effectLst/>
                          <a:latin typeface="Arial" panose="020B0604020202020204" pitchFamily="34" charset="0"/>
                        </a:rPr>
                        <a:t> </a:t>
                      </a:r>
                    </a:p>
                  </a:txBody>
                  <a:tcPr marL="9525" marR="9525" marT="9525" marB="0"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HK" sz="1100" b="0" i="0" u="none" strike="noStrike" dirty="0">
                          <a:solidFill>
                            <a:schemeClr val="tx1"/>
                          </a:solidFill>
                          <a:effectLst/>
                          <a:latin typeface="Arial" panose="020B0604020202020204" pitchFamily="34" charset="0"/>
                        </a:rPr>
                        <a:t>Suitability to Transfer to </a:t>
                      </a:r>
                      <a:r>
                        <a:rPr lang="en-HK" sz="1100" b="0" i="0" u="none" strike="noStrike" dirty="0" err="1">
                          <a:solidFill>
                            <a:schemeClr val="tx1"/>
                          </a:solidFill>
                          <a:effectLst/>
                          <a:latin typeface="Arial" panose="020B0604020202020204" pitchFamily="34" charset="0"/>
                        </a:rPr>
                        <a:t>CineBot</a:t>
                      </a:r>
                      <a:endParaRPr lang="en-HK" sz="1100" b="0" i="0" u="none" strike="noStrike" dirty="0">
                        <a:solidFill>
                          <a:schemeClr val="tx1"/>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880573252"/>
                  </a:ext>
                </a:extLst>
              </a:tr>
              <a:tr h="461032">
                <a:tc>
                  <a:txBody>
                    <a:bodyPr/>
                    <a:lstStyle/>
                    <a:p>
                      <a:pPr algn="ctr" fontAlgn="ctr">
                        <a:buNone/>
                      </a:pPr>
                      <a:r>
                        <a:rPr lang="en-HK" sz="1100" u="none" strike="noStrike" dirty="0">
                          <a:solidFill>
                            <a:schemeClr val="tx1"/>
                          </a:solidFill>
                          <a:effectLst/>
                        </a:rPr>
                        <a:t>9</a:t>
                      </a:r>
                      <a:endParaRPr lang="en-HK" sz="1100" b="0" i="0" u="none" strike="noStrike" dirty="0">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运镜中自动对焦</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专业</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a:solidFill>
                            <a:schemeClr val="tx1"/>
                          </a:solidFill>
                          <a:effectLst/>
                        </a:rPr>
                        <a:t>无</a:t>
                      </a:r>
                      <a:endParaRPr lang="en-HK" sz="1100" b="0" i="0" u="none" strike="noStrike">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solidFill>
                            <a:schemeClr val="tx1"/>
                          </a:solidFill>
                          <a:effectLst/>
                        </a:rPr>
                        <a:t>Sony 自带</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b">
                        <a:buNone/>
                      </a:pPr>
                      <a:r>
                        <a:rPr lang="en-HK" sz="1100" u="none" strike="noStrike" dirty="0">
                          <a:solidFill>
                            <a:schemeClr val="tx1"/>
                          </a:solidFill>
                          <a:effectLst/>
                        </a:rPr>
                        <a:t> </a:t>
                      </a:r>
                      <a:endParaRPr lang="en-HK" sz="1100" b="0" i="0" u="none" strike="noStrike" dirty="0">
                        <a:solidFill>
                          <a:schemeClr val="tx1"/>
                        </a:solidFill>
                        <a:effectLst/>
                        <a:latin typeface="Calibri" panose="020F0502020204030204" pitchFamily="34" charset="0"/>
                      </a:endParaRPr>
                    </a:p>
                  </a:txBody>
                  <a:tcPr marL="5726" marR="5726" marT="5726" marB="0" anchor="b"/>
                </a:tc>
                <a:tc>
                  <a:txBody>
                    <a:bodyPr/>
                    <a:lstStyle/>
                    <a:p>
                      <a:pPr marL="0" algn="l" defTabSz="457200" rtl="0" eaLnBrk="1" fontAlgn="t" latinLnBrk="0" hangingPunct="1">
                        <a:buNone/>
                      </a:pPr>
                      <a:r>
                        <a:rPr lang="en-HK" sz="1100" b="0" i="0" u="none" strike="noStrike" kern="1200" dirty="0">
                          <a:solidFill>
                            <a:schemeClr val="tx1"/>
                          </a:solidFill>
                          <a:effectLst/>
                          <a:latin typeface="Arial" panose="020B0604020202020204" pitchFamily="34" charset="0"/>
                          <a:ea typeface="+mn-ea"/>
                          <a:cs typeface="+mn-cs"/>
                        </a:rPr>
                        <a:t>Sony camera auto focus (?)</a:t>
                      </a:r>
                    </a:p>
                  </a:txBody>
                  <a:tcPr marL="5726" marR="5726" marT="5726" marB="0" anchor="b"/>
                </a:tc>
                <a:extLst>
                  <a:ext uri="{0D108BD9-81ED-4DB2-BD59-A6C34878D82A}">
                    <a16:rowId xmlns:a16="http://schemas.microsoft.com/office/drawing/2014/main" val="3131186073"/>
                  </a:ext>
                </a:extLst>
              </a:tr>
              <a:tr h="850839">
                <a:tc>
                  <a:txBody>
                    <a:bodyPr/>
                    <a:lstStyle/>
                    <a:p>
                      <a:pPr algn="ctr" fontAlgn="ctr">
                        <a:buNone/>
                      </a:pPr>
                      <a:r>
                        <a:rPr lang="en-HK" sz="1100" u="none" strike="noStrike">
                          <a:solidFill>
                            <a:schemeClr val="tx1"/>
                          </a:solidFill>
                          <a:effectLst/>
                        </a:rPr>
                        <a:t>10</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dirty="0" err="1">
                          <a:solidFill>
                            <a:schemeClr val="tx1"/>
                          </a:solidFill>
                          <a:effectLst/>
                        </a:rPr>
                        <a:t>镜头控制（对焦、光圈、变焦</a:t>
                      </a:r>
                      <a:r>
                        <a:rPr lang="en-HK" sz="1100" u="none" strike="noStrike" dirty="0">
                          <a:solidFill>
                            <a:schemeClr val="tx1"/>
                          </a:solidFill>
                          <a:effectLst/>
                        </a:rPr>
                        <a:t>）</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专业：和运镜同一条时间线</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a:solidFill>
                            <a:schemeClr val="tx1"/>
                          </a:solidFill>
                          <a:effectLst/>
                        </a:rPr>
                        <a:t>无</a:t>
                      </a:r>
                      <a:endParaRPr lang="en-HK" sz="1100" b="0" i="0" u="none" strike="noStrike">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solidFill>
                            <a:schemeClr val="tx1"/>
                          </a:solidFill>
                          <a:effectLst/>
                        </a:rPr>
                        <a:t>套件能点动变焦、设光圈；</a:t>
                      </a:r>
                      <a:br>
                        <a:rPr lang="en-HK" sz="1100" u="none" strike="noStrike">
                          <a:solidFill>
                            <a:schemeClr val="tx1"/>
                          </a:solidFill>
                          <a:effectLst/>
                        </a:rPr>
                      </a:br>
                      <a:r>
                        <a:rPr lang="en-HK" sz="1100" u="none" strike="noStrike">
                          <a:solidFill>
                            <a:schemeClr val="tx1"/>
                          </a:solidFill>
                          <a:effectLst/>
                        </a:rPr>
                        <a:t>软件限制: 这台电脑上厂商通道仍超时</a:t>
                      </a:r>
                      <a:br>
                        <a:rPr lang="en-HK" sz="1100" u="none" strike="noStrike">
                          <a:solidFill>
                            <a:schemeClr val="tx1"/>
                          </a:solidFill>
                          <a:effectLst/>
                        </a:rPr>
                      </a:br>
                      <a:r>
                        <a:rPr lang="en-HK" sz="1100" u="none" strike="noStrike">
                          <a:solidFill>
                            <a:schemeClr val="tx1"/>
                          </a:solidFill>
                          <a:effectLst/>
                        </a:rPr>
                        <a:t>硬件限制：无法物理调节变焦</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b">
                        <a:buNone/>
                      </a:pPr>
                      <a:r>
                        <a:rPr lang="en-HK" sz="1100" u="none" strike="noStrike" dirty="0">
                          <a:solidFill>
                            <a:schemeClr val="tx1"/>
                          </a:solidFill>
                          <a:effectLst/>
                        </a:rPr>
                        <a:t> </a:t>
                      </a:r>
                      <a:endParaRPr lang="en-HK" sz="1100" b="0" i="0" u="none" strike="noStrike" dirty="0">
                        <a:solidFill>
                          <a:schemeClr val="tx1"/>
                        </a:solidFill>
                        <a:effectLst/>
                        <a:latin typeface="Calibri" panose="020F0502020204030204" pitchFamily="34" charset="0"/>
                      </a:endParaRPr>
                    </a:p>
                  </a:txBody>
                  <a:tcPr marL="5726" marR="5726" marT="5726" marB="0" anchor="b"/>
                </a:tc>
                <a:tc>
                  <a:txBody>
                    <a:bodyPr/>
                    <a:lstStyle/>
                    <a:p>
                      <a:pPr marL="0" algn="l" defTabSz="457200" rtl="0" eaLnBrk="1" fontAlgn="t" latinLnBrk="0" hangingPunct="1">
                        <a:buNone/>
                      </a:pPr>
                      <a:r>
                        <a:rPr lang="en-HK" sz="1100" b="0" i="0" u="none" strike="noStrike" kern="1200" dirty="0" err="1">
                          <a:solidFill>
                            <a:schemeClr val="tx1"/>
                          </a:solidFill>
                          <a:effectLst/>
                          <a:latin typeface="Arial" panose="020B0604020202020204" pitchFamily="34" charset="0"/>
                          <a:ea typeface="+mn-ea"/>
                          <a:cs typeface="+mn-cs"/>
                        </a:rPr>
                        <a:t>CineBot</a:t>
                      </a:r>
                      <a:r>
                        <a:rPr lang="en-HK" sz="1100" b="0" i="0" u="none" strike="noStrike" kern="1200" dirty="0">
                          <a:solidFill>
                            <a:schemeClr val="tx1"/>
                          </a:solidFill>
                          <a:effectLst/>
                          <a:latin typeface="Arial" panose="020B0604020202020204" pitchFamily="34" charset="0"/>
                          <a:ea typeface="+mn-ea"/>
                          <a:cs typeface="+mn-cs"/>
                        </a:rPr>
                        <a:t> may need, sandbox does not have</a:t>
                      </a:r>
                    </a:p>
                  </a:txBody>
                  <a:tcPr marL="5726" marR="5726" marT="5726" marB="0" anchor="b"/>
                </a:tc>
                <a:extLst>
                  <a:ext uri="{0D108BD9-81ED-4DB2-BD59-A6C34878D82A}">
                    <a16:rowId xmlns:a16="http://schemas.microsoft.com/office/drawing/2014/main" val="431288957"/>
                  </a:ext>
                </a:extLst>
              </a:tr>
              <a:tr h="639930">
                <a:tc>
                  <a:txBody>
                    <a:bodyPr/>
                    <a:lstStyle/>
                    <a:p>
                      <a:pPr algn="ctr" fontAlgn="ctr">
                        <a:buNone/>
                      </a:pPr>
                      <a:r>
                        <a:rPr lang="en-HK" sz="1100" u="none" strike="noStrike">
                          <a:solidFill>
                            <a:schemeClr val="tx1"/>
                          </a:solidFill>
                          <a:effectLst/>
                        </a:rPr>
                        <a:t>13</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虚拟拍摄输出</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solidFill>
                            <a:schemeClr val="tx1"/>
                          </a:solidFill>
                          <a:effectLst/>
                        </a:rPr>
                        <a:t>专业：FreeD、帧同步，对接</a:t>
                      </a:r>
                      <a:r>
                        <a:rPr lang="en-HK" sz="1100" u="none" strike="noStrike" dirty="0">
                          <a:solidFill>
                            <a:schemeClr val="tx1"/>
                          </a:solidFill>
                          <a:effectLst/>
                        </a:rPr>
                        <a:t> Unreal 等</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solidFill>
                            <a:schemeClr val="tx1"/>
                          </a:solidFill>
                          <a:effectLst/>
                        </a:rPr>
                        <a:t>Sim cam</a:t>
                      </a:r>
                      <a:endParaRPr lang="en-HK" sz="1100" b="0" i="0" u="none" strike="noStrike" dirty="0">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solidFill>
                            <a:schemeClr val="tx1"/>
                          </a:solidFill>
                          <a:effectLst/>
                        </a:rPr>
                        <a:t>只有软件里的仿真相机</a:t>
                      </a:r>
                      <a:br>
                        <a:rPr lang="en-HK" sz="1100" u="none" strike="noStrike">
                          <a:solidFill>
                            <a:schemeClr val="tx1"/>
                          </a:solidFill>
                          <a:effectLst/>
                        </a:rPr>
                      </a:br>
                      <a:r>
                        <a:rPr lang="en-HK" sz="1100" u="none" strike="noStrike">
                          <a:solidFill>
                            <a:schemeClr val="tx1"/>
                          </a:solidFill>
                          <a:effectLst/>
                        </a:rPr>
                        <a:t>无引擎输出</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 </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err="1">
                          <a:solidFill>
                            <a:schemeClr val="tx1"/>
                          </a:solidFill>
                          <a:effectLst/>
                          <a:latin typeface="Arial" panose="020B0604020202020204" pitchFamily="34" charset="0"/>
                        </a:rPr>
                        <a:t>Cinebot</a:t>
                      </a:r>
                      <a:r>
                        <a:rPr lang="en-HK" sz="1100" b="0" i="0" u="none" strike="noStrike" dirty="0">
                          <a:solidFill>
                            <a:schemeClr val="tx1"/>
                          </a:solidFill>
                          <a:effectLst/>
                          <a:latin typeface="Arial" panose="020B0604020202020204" pitchFamily="34" charset="0"/>
                        </a:rPr>
                        <a:t> will use different solution (lower resolution and fps to test run video shoot) instead</a:t>
                      </a:r>
                    </a:p>
                  </a:txBody>
                  <a:tcPr marL="5726" marR="5726" marT="5726" marB="0"/>
                </a:tc>
                <a:extLst>
                  <a:ext uri="{0D108BD9-81ED-4DB2-BD59-A6C34878D82A}">
                    <a16:rowId xmlns:a16="http://schemas.microsoft.com/office/drawing/2014/main" val="3825237988"/>
                  </a:ext>
                </a:extLst>
              </a:tr>
              <a:tr h="461032">
                <a:tc>
                  <a:txBody>
                    <a:bodyPr/>
                    <a:lstStyle/>
                    <a:p>
                      <a:pPr algn="ctr" fontAlgn="ctr">
                        <a:buNone/>
                      </a:pPr>
                      <a:r>
                        <a:rPr lang="en-HK" sz="1100" u="none" strike="noStrike">
                          <a:solidFill>
                            <a:schemeClr val="tx1"/>
                          </a:solidFill>
                          <a:effectLst/>
                        </a:rPr>
                        <a:t>14</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手机看轨迹</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solidFill>
                            <a:schemeClr val="tx1"/>
                          </a:solidFill>
                          <a:effectLst/>
                        </a:rPr>
                        <a:t>基础演示：手机</a:t>
                      </a:r>
                      <a:r>
                        <a:rPr lang="en-HK" sz="1100" u="none" strike="noStrike" dirty="0">
                          <a:solidFill>
                            <a:schemeClr val="tx1"/>
                          </a:solidFill>
                          <a:effectLst/>
                        </a:rPr>
                        <a:t> AR </a:t>
                      </a:r>
                      <a:r>
                        <a:rPr lang="en-HK" sz="1100" u="none" strike="noStrike" dirty="0" err="1">
                          <a:solidFill>
                            <a:schemeClr val="tx1"/>
                          </a:solidFill>
                          <a:effectLst/>
                        </a:rPr>
                        <a:t>预览运镜</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a:solidFill>
                            <a:schemeClr val="tx1"/>
                          </a:solidFill>
                          <a:effectLst/>
                        </a:rPr>
                        <a:t>无</a:t>
                      </a:r>
                      <a:endParaRPr lang="en-HK" sz="1100" b="0" i="0" u="none" strike="noStrike">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dirty="0">
                          <a:solidFill>
                            <a:schemeClr val="tx1"/>
                          </a:solidFill>
                          <a:effectLst/>
                        </a:rPr>
                        <a:t> </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 </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a:solidFill>
                            <a:schemeClr val="tx1"/>
                          </a:solidFill>
                          <a:effectLst/>
                          <a:latin typeface="Arial" panose="020B0604020202020204" pitchFamily="34" charset="0"/>
                        </a:rPr>
                        <a:t>No such plans for </a:t>
                      </a:r>
                      <a:r>
                        <a:rPr lang="en-HK" sz="1100" b="0" i="0" u="none" strike="noStrike" dirty="0" err="1">
                          <a:solidFill>
                            <a:schemeClr val="tx1"/>
                          </a:solidFill>
                          <a:effectLst/>
                          <a:latin typeface="Arial" panose="020B0604020202020204" pitchFamily="34" charset="0"/>
                        </a:rPr>
                        <a:t>Cinebot</a:t>
                      </a:r>
                      <a:r>
                        <a:rPr lang="en-HK" sz="1100" b="0" i="0" u="none" strike="noStrike" dirty="0">
                          <a:solidFill>
                            <a:schemeClr val="tx1"/>
                          </a:solidFill>
                          <a:effectLst/>
                          <a:latin typeface="Arial" panose="020B0604020202020204" pitchFamily="34" charset="0"/>
                        </a:rPr>
                        <a:t> at the moment</a:t>
                      </a:r>
                    </a:p>
                  </a:txBody>
                  <a:tcPr marL="5726" marR="5726" marT="5726" marB="0"/>
                </a:tc>
                <a:extLst>
                  <a:ext uri="{0D108BD9-81ED-4DB2-BD59-A6C34878D82A}">
                    <a16:rowId xmlns:a16="http://schemas.microsoft.com/office/drawing/2014/main" val="3550510853"/>
                  </a:ext>
                </a:extLst>
              </a:tr>
              <a:tr h="850839">
                <a:tc>
                  <a:txBody>
                    <a:bodyPr/>
                    <a:lstStyle/>
                    <a:p>
                      <a:pPr algn="ctr" fontAlgn="ctr">
                        <a:buNone/>
                      </a:pPr>
                      <a:r>
                        <a:rPr lang="en-HK" sz="1100" u="none" strike="noStrike">
                          <a:solidFill>
                            <a:schemeClr val="tx1"/>
                          </a:solidFill>
                          <a:effectLst/>
                        </a:rPr>
                        <a:t>17</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烘焙调试器</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不公开</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solidFill>
                            <a:schemeClr val="tx1"/>
                          </a:solidFill>
                          <a:effectLst/>
                        </a:rPr>
                        <a:t>Baking System</a:t>
                      </a:r>
                      <a:endParaRPr lang="en-HK" sz="1100" b="0" i="0" u="none" strike="noStrike" dirty="0">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dirty="0" err="1">
                          <a:solidFill>
                            <a:schemeClr val="tx1"/>
                          </a:solidFill>
                          <a:effectLst/>
                        </a:rPr>
                        <a:t>每段标关节和线速度是否超限，可导出速度记录</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超速在开拍前能看见，不用等成片抖动再查</a:t>
                      </a:r>
                      <a:br>
                        <a:rPr lang="en-HK" sz="1100" u="none" strike="noStrike">
                          <a:solidFill>
                            <a:schemeClr val="tx1"/>
                          </a:solidFill>
                          <a:effectLst/>
                        </a:rPr>
                      </a:br>
                      <a:r>
                        <a:rPr lang="en-HK" sz="1100" u="none" strike="noStrike">
                          <a:solidFill>
                            <a:schemeClr val="tx1"/>
                          </a:solidFill>
                          <a:effectLst/>
                        </a:rPr>
                        <a:t>用户随后还可以导出运动路径的仿真数据及实际运行数据，以便识别路径中的速度与位置问题。</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err="1">
                          <a:solidFill>
                            <a:schemeClr val="tx1"/>
                          </a:solidFill>
                          <a:effectLst/>
                          <a:latin typeface="Arial" panose="020B0604020202020204" pitchFamily="34" charset="0"/>
                        </a:rPr>
                        <a:t>Cinebot</a:t>
                      </a:r>
                      <a:r>
                        <a:rPr lang="en-HK" sz="1100" b="0" i="0" u="none" strike="noStrike" dirty="0">
                          <a:solidFill>
                            <a:schemeClr val="tx1"/>
                          </a:solidFill>
                          <a:effectLst/>
                          <a:latin typeface="Arial" panose="020B0604020202020204" pitchFamily="34" charset="0"/>
                        </a:rPr>
                        <a:t> already has its own baking system</a:t>
                      </a:r>
                    </a:p>
                  </a:txBody>
                  <a:tcPr marL="5726" marR="5726" marT="5726" marB="0"/>
                </a:tc>
                <a:extLst>
                  <a:ext uri="{0D108BD9-81ED-4DB2-BD59-A6C34878D82A}">
                    <a16:rowId xmlns:a16="http://schemas.microsoft.com/office/drawing/2014/main" val="682885090"/>
                  </a:ext>
                </a:extLst>
              </a:tr>
              <a:tr h="461032">
                <a:tc>
                  <a:txBody>
                    <a:bodyPr/>
                    <a:lstStyle/>
                    <a:p>
                      <a:pPr algn="ctr" fontAlgn="ctr">
                        <a:buNone/>
                      </a:pPr>
                      <a:r>
                        <a:rPr lang="en-HK" sz="1100" u="none" strike="noStrike">
                          <a:solidFill>
                            <a:schemeClr val="tx1"/>
                          </a:solidFill>
                          <a:effectLst/>
                        </a:rPr>
                        <a:t>19</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上传和开跑分开</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不公开</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solidFill>
                            <a:schemeClr val="tx1"/>
                          </a:solidFill>
                          <a:effectLst/>
                        </a:rPr>
                        <a:t>Upload</a:t>
                      </a:r>
                      <a:endParaRPr lang="en-HK" sz="1100" b="0" i="0" u="none" strike="noStrike" dirty="0">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dirty="0" err="1">
                          <a:solidFill>
                            <a:schemeClr val="tx1"/>
                          </a:solidFill>
                          <a:effectLst/>
                        </a:rPr>
                        <a:t>先传到控制器，传完才走；没传完停止键是灰的</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solidFill>
                            <a:schemeClr val="tx1"/>
                          </a:solidFill>
                          <a:effectLst/>
                        </a:rPr>
                        <a:t>软件时钟不会先跑、真臂再追，减少起步那一下跳</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err="1">
                          <a:solidFill>
                            <a:schemeClr val="tx1"/>
                          </a:solidFill>
                          <a:effectLst/>
                          <a:latin typeface="Arial" panose="020B0604020202020204" pitchFamily="34" charset="0"/>
                        </a:rPr>
                        <a:t>Cinebot</a:t>
                      </a:r>
                      <a:r>
                        <a:rPr lang="en-HK" sz="1100" b="0" i="0" u="none" strike="noStrike" dirty="0">
                          <a:solidFill>
                            <a:schemeClr val="tx1"/>
                          </a:solidFill>
                          <a:effectLst/>
                          <a:latin typeface="Arial" panose="020B0604020202020204" pitchFamily="34" charset="0"/>
                        </a:rPr>
                        <a:t> already does this</a:t>
                      </a:r>
                    </a:p>
                  </a:txBody>
                  <a:tcPr marL="5726" marR="5726" marT="5726" marB="0"/>
                </a:tc>
                <a:extLst>
                  <a:ext uri="{0D108BD9-81ED-4DB2-BD59-A6C34878D82A}">
                    <a16:rowId xmlns:a16="http://schemas.microsoft.com/office/drawing/2014/main" val="3151187756"/>
                  </a:ext>
                </a:extLst>
              </a:tr>
              <a:tr h="461032">
                <a:tc>
                  <a:txBody>
                    <a:bodyPr/>
                    <a:lstStyle/>
                    <a:p>
                      <a:pPr algn="ctr" fontAlgn="ctr">
                        <a:buNone/>
                      </a:pPr>
                      <a:r>
                        <a:rPr lang="en-HK" sz="1100" u="none" strike="noStrike">
                          <a:solidFill>
                            <a:schemeClr val="tx1"/>
                          </a:solidFill>
                          <a:effectLst/>
                        </a:rPr>
                        <a:t>21</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a:solidFill>
                            <a:schemeClr val="tx1"/>
                          </a:solidFill>
                          <a:effectLst/>
                        </a:rPr>
                        <a:t>场景层级</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以臂和目标为主</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b="0" i="0" u="none" strike="noStrike" dirty="0">
                          <a:solidFill>
                            <a:schemeClr val="tx1"/>
                          </a:solidFill>
                          <a:effectLst/>
                          <a:latin typeface="Arial" panose="020B0604020202020204" pitchFamily="34" charset="0"/>
                        </a:rPr>
                        <a:t>Object Hierarchy</a:t>
                      </a:r>
                    </a:p>
                  </a:txBody>
                  <a:tcPr marL="5726" marR="5726" marT="5726" marB="0" anchor="ctr"/>
                </a:tc>
                <a:tc>
                  <a:txBody>
                    <a:bodyPr/>
                    <a:lstStyle/>
                    <a:p>
                      <a:pPr algn="l" fontAlgn="t">
                        <a:buNone/>
                      </a:pPr>
                      <a:r>
                        <a:rPr lang="en-HK" sz="1100" u="none" strike="noStrike">
                          <a:solidFill>
                            <a:schemeClr val="tx1"/>
                          </a:solidFill>
                          <a:effectLst/>
                        </a:rPr>
                        <a:t>物体可父子嵌套，局部/全局坐标，仿真光标可当父级</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solidFill>
                            <a:schemeClr val="tx1"/>
                          </a:solidFill>
                          <a:effectLst/>
                        </a:rPr>
                        <a:t>允许在机器人上加装其他组件和物体，以执行更多种类的任务</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a:solidFill>
                            <a:schemeClr val="tx1"/>
                          </a:solidFill>
                          <a:effectLst/>
                          <a:latin typeface="Arial" panose="020B0604020202020204" pitchFamily="34" charset="0"/>
                        </a:rPr>
                        <a:t>Useful for sandbox, useless on </a:t>
                      </a:r>
                      <a:r>
                        <a:rPr lang="en-HK" sz="1100" b="0" i="0" u="none" strike="noStrike" dirty="0" err="1">
                          <a:solidFill>
                            <a:schemeClr val="tx1"/>
                          </a:solidFill>
                          <a:effectLst/>
                          <a:latin typeface="Arial" panose="020B0604020202020204" pitchFamily="34" charset="0"/>
                        </a:rPr>
                        <a:t>Cinebot</a:t>
                      </a:r>
                      <a:endParaRPr lang="en-HK" sz="1100" b="0" i="0" u="none" strike="noStrike" dirty="0">
                        <a:solidFill>
                          <a:schemeClr val="tx1"/>
                        </a:solidFill>
                        <a:effectLst/>
                        <a:latin typeface="Arial" panose="020B0604020202020204" pitchFamily="34" charset="0"/>
                      </a:endParaRPr>
                    </a:p>
                  </a:txBody>
                  <a:tcPr marL="5726" marR="5726" marT="5726" marB="0"/>
                </a:tc>
                <a:extLst>
                  <a:ext uri="{0D108BD9-81ED-4DB2-BD59-A6C34878D82A}">
                    <a16:rowId xmlns:a16="http://schemas.microsoft.com/office/drawing/2014/main" val="1768461918"/>
                  </a:ext>
                </a:extLst>
              </a:tr>
              <a:tr h="850839">
                <a:tc>
                  <a:txBody>
                    <a:bodyPr/>
                    <a:lstStyle/>
                    <a:p>
                      <a:pPr algn="ctr" fontAlgn="ctr">
                        <a:buNone/>
                      </a:pPr>
                      <a:r>
                        <a:rPr lang="en-HK" sz="1100" u="none" strike="noStrike">
                          <a:solidFill>
                            <a:schemeClr val="tx1"/>
                          </a:solidFill>
                          <a:effectLst/>
                        </a:rPr>
                        <a:t>22</a:t>
                      </a:r>
                      <a:endParaRPr lang="en-HK" sz="1100" b="0" i="0" u="none" strike="noStrike">
                        <a:solidFill>
                          <a:schemeClr val="tx1"/>
                        </a:solidFill>
                        <a:effectLst/>
                        <a:latin typeface="Calibri" panose="020F0502020204030204" pitchFamily="34" charset="0"/>
                      </a:endParaRPr>
                    </a:p>
                  </a:txBody>
                  <a:tcPr marL="5726" marR="5726" marT="5726" marB="0" anchor="ctr"/>
                </a:tc>
                <a:tc>
                  <a:txBody>
                    <a:bodyPr/>
                    <a:lstStyle/>
                    <a:p>
                      <a:pPr algn="l" fontAlgn="t">
                        <a:buNone/>
                      </a:pPr>
                      <a:r>
                        <a:rPr lang="en-HK" sz="1100" u="none" strike="noStrike" dirty="0" err="1">
                          <a:solidFill>
                            <a:schemeClr val="tx1"/>
                          </a:solidFill>
                          <a:effectLst/>
                        </a:rPr>
                        <a:t>多相机</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a:solidFill>
                            <a:schemeClr val="tx1"/>
                          </a:solidFill>
                          <a:effectLst/>
                        </a:rPr>
                        <a:t>未作为分屏物体公开</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ctr" fontAlgn="ctr">
                        <a:buNone/>
                      </a:pPr>
                      <a:r>
                        <a:rPr lang="en-HK" sz="1100" u="none" strike="noStrike" dirty="0">
                          <a:solidFill>
                            <a:schemeClr val="tx1"/>
                          </a:solidFill>
                          <a:effectLst/>
                        </a:rPr>
                        <a:t>Multi Camera</a:t>
                      </a:r>
                      <a:endParaRPr lang="en-HK" sz="1100" b="0" i="0" u="none" strike="noStrike" dirty="0">
                        <a:solidFill>
                          <a:schemeClr val="tx1"/>
                        </a:solidFill>
                        <a:effectLst/>
                        <a:latin typeface="Arial" panose="020B0604020202020204" pitchFamily="34" charset="0"/>
                      </a:endParaRPr>
                    </a:p>
                  </a:txBody>
                  <a:tcPr marL="5726" marR="5726" marT="5726" marB="0" anchor="ctr"/>
                </a:tc>
                <a:tc>
                  <a:txBody>
                    <a:bodyPr/>
                    <a:lstStyle/>
                    <a:p>
                      <a:pPr algn="l" fontAlgn="t">
                        <a:buNone/>
                      </a:pPr>
                      <a:r>
                        <a:rPr lang="en-HK" sz="1100" u="none" strike="noStrike">
                          <a:solidFill>
                            <a:schemeClr val="tx1"/>
                          </a:solidFill>
                          <a:effectLst/>
                        </a:rPr>
                        <a:t>仿真、电脑摄像头、索尼分类型；左右分屏；每台自己的录制轨道</a:t>
                      </a:r>
                      <a:endParaRPr lang="en-HK" sz="1100" b="0" i="0" u="none" strike="noStrike">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u="none" strike="noStrike" dirty="0" err="1">
                          <a:solidFill>
                            <a:schemeClr val="tx1"/>
                          </a:solidFill>
                          <a:effectLst/>
                        </a:rPr>
                        <a:t>哪一台在录、从哪一秒到哪一秒，写在时间线上。该机器人能够利用多种不同类型的摄像头执行更广泛的任务，而不仅仅是进行视频拍摄</a:t>
                      </a:r>
                      <a:r>
                        <a:rPr lang="en-HK" sz="1100" u="none" strike="noStrike" dirty="0">
                          <a:solidFill>
                            <a:schemeClr val="tx1"/>
                          </a:solidFill>
                          <a:effectLst/>
                        </a:rPr>
                        <a:t>。</a:t>
                      </a:r>
                      <a:endParaRPr lang="en-HK" sz="1100" b="0" i="0" u="none" strike="noStrike" dirty="0">
                        <a:solidFill>
                          <a:schemeClr val="tx1"/>
                        </a:solidFill>
                        <a:effectLst/>
                        <a:latin typeface="Arial" panose="020B0604020202020204" pitchFamily="34" charset="0"/>
                      </a:endParaRPr>
                    </a:p>
                  </a:txBody>
                  <a:tcPr marL="5726" marR="5726" marT="5726" marB="0"/>
                </a:tc>
                <a:tc>
                  <a:txBody>
                    <a:bodyPr/>
                    <a:lstStyle/>
                    <a:p>
                      <a:pPr algn="l" fontAlgn="t">
                        <a:buNone/>
                      </a:pPr>
                      <a:r>
                        <a:rPr lang="en-HK" sz="1100" b="0" i="0" u="none" strike="noStrike" dirty="0" err="1">
                          <a:solidFill>
                            <a:schemeClr val="tx1"/>
                          </a:solidFill>
                          <a:effectLst/>
                          <a:latin typeface="Arial" panose="020B0604020202020204" pitchFamily="34" charset="0"/>
                        </a:rPr>
                        <a:t>Cinebot</a:t>
                      </a:r>
                      <a:r>
                        <a:rPr lang="en-HK" sz="1100" b="0" i="0" u="none" strike="noStrike" dirty="0">
                          <a:solidFill>
                            <a:schemeClr val="tx1"/>
                          </a:solidFill>
                          <a:effectLst/>
                          <a:latin typeface="Arial" panose="020B0604020202020204" pitchFamily="34" charset="0"/>
                        </a:rPr>
                        <a:t> priority is single camera video shooting at the moment</a:t>
                      </a:r>
                    </a:p>
                  </a:txBody>
                  <a:tcPr marL="5726" marR="5726" marT="5726" marB="0"/>
                </a:tc>
                <a:extLst>
                  <a:ext uri="{0D108BD9-81ED-4DB2-BD59-A6C34878D82A}">
                    <a16:rowId xmlns:a16="http://schemas.microsoft.com/office/drawing/2014/main" val="2400464957"/>
                  </a:ext>
                </a:extLst>
              </a:tr>
            </a:tbl>
          </a:graphicData>
        </a:graphic>
      </p:graphicFrame>
      <p:sp>
        <p:nvSpPr>
          <p:cNvPr id="4" name="投影片編號版面配置區 3">
            <a:extLst>
              <a:ext uri="{FF2B5EF4-FFF2-40B4-BE49-F238E27FC236}">
                <a16:creationId xmlns:a16="http://schemas.microsoft.com/office/drawing/2014/main" id="{FCD25F4B-FE1E-4252-DB1C-5BAF120D3888}"/>
              </a:ext>
            </a:extLst>
          </p:cNvPr>
          <p:cNvSpPr>
            <a:spLocks noGrp="1"/>
          </p:cNvSpPr>
          <p:nvPr>
            <p:ph type="sldNum" sz="quarter" idx="12"/>
          </p:nvPr>
        </p:nvSpPr>
        <p:spPr/>
        <p:txBody>
          <a:bodyPr/>
          <a:lstStyle/>
          <a:p>
            <a:fld id="{CF9A1619-F87A-4FCD-8947-EF4132FEEC38}" type="slidenum">
              <a:rPr lang="zh-HK" altLang="en-US" smtClean="0"/>
              <a:t>29</a:t>
            </a:fld>
            <a:endParaRPr lang="zh-HK" altLang="en-US"/>
          </a:p>
        </p:txBody>
      </p:sp>
    </p:spTree>
    <p:extLst>
      <p:ext uri="{BB962C8B-B14F-4D97-AF65-F5344CB8AC3E}">
        <p14:creationId xmlns:p14="http://schemas.microsoft.com/office/powerpoint/2010/main" val="1921777696"/>
      </p:ext>
    </p:extLst>
  </p:cSld>
  <p:clrMapOvr>
    <a:masterClrMapping/>
  </p:clrMapOvr>
</p:sld>
</file>

<file path=ppt/theme/theme1.xml><?xml version="1.0" encoding="utf-8"?>
<a:theme xmlns:a="http://schemas.openxmlformats.org/drawingml/2006/main" name="BrushVTI">
  <a:themeElements>
    <a:clrScheme name="AnalogousFromDarkSeedLeftStep">
      <a:dk1>
        <a:srgbClr val="000000"/>
      </a:dk1>
      <a:lt1>
        <a:srgbClr val="FFFFFF"/>
      </a:lt1>
      <a:dk2>
        <a:srgbClr val="292441"/>
      </a:dk2>
      <a:lt2>
        <a:srgbClr val="E3E8E2"/>
      </a:lt2>
      <a:accent1>
        <a:srgbClr val="C229E7"/>
      </a:accent1>
      <a:accent2>
        <a:srgbClr val="6B26D8"/>
      </a:accent2>
      <a:accent3>
        <a:srgbClr val="3439E8"/>
      </a:accent3>
      <a:accent4>
        <a:srgbClr val="176CD5"/>
      </a:accent4>
      <a:accent5>
        <a:srgbClr val="24B3C9"/>
      </a:accent5>
      <a:accent6>
        <a:srgbClr val="14BA8C"/>
      </a:accent6>
      <a:hlink>
        <a:srgbClr val="3A8BAF"/>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070EEE343D9154386AFB9BE8972F40F" ma:contentTypeVersion="12" ma:contentTypeDescription="Create a new document." ma:contentTypeScope="" ma:versionID="6b051b827c4cfced125b1758fe9adf9c">
  <xsd:schema xmlns:xsd="http://www.w3.org/2001/XMLSchema" xmlns:xs="http://www.w3.org/2001/XMLSchema" xmlns:p="http://schemas.microsoft.com/office/2006/metadata/properties" xmlns:ns2="2b442f0c-19e1-4989-92cf-91ffee4df725" xmlns:ns3="adb5a389-7dc2-4be2-b4de-cb60a6ecbeb9" targetNamespace="http://schemas.microsoft.com/office/2006/metadata/properties" ma:root="true" ma:fieldsID="802fc703e307cccfd5d062d3bd7dfe53" ns2:_="" ns3:_="">
    <xsd:import namespace="2b442f0c-19e1-4989-92cf-91ffee4df725"/>
    <xsd:import namespace="adb5a389-7dc2-4be2-b4de-cb60a6ecbeb9"/>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442f0c-19e1-4989-92cf-91ffee4df725"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9519970-4a6d-4493-bbdf-6c8ff994438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db5a389-7dc2-4be2-b4de-cb60a6ecbeb9"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57f90370-5c5a-490c-9941-2650d8b70c80}" ma:internalName="TaxCatchAll" ma:showField="CatchAllData" ma:web="adb5a389-7dc2-4be2-b4de-cb60a6ecbe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db5a389-7dc2-4be2-b4de-cb60a6ecbeb9" xsi:nil="true"/>
    <lcf76f155ced4ddcb4097134ff3c332f xmlns="2b442f0c-19e1-4989-92cf-91ffee4df72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3969521-4E08-4FD8-BAC0-EA218065DE52}">
  <ds:schemaRefs>
    <ds:schemaRef ds:uri="http://schemas.microsoft.com/sharepoint/v3/contenttype/forms"/>
  </ds:schemaRefs>
</ds:datastoreItem>
</file>

<file path=customXml/itemProps2.xml><?xml version="1.0" encoding="utf-8"?>
<ds:datastoreItem xmlns:ds="http://schemas.openxmlformats.org/officeDocument/2006/customXml" ds:itemID="{0884EA2D-7738-4F8F-9EF7-E444B9E885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442f0c-19e1-4989-92cf-91ffee4df725"/>
    <ds:schemaRef ds:uri="adb5a389-7dc2-4be2-b4de-cb60a6ecbe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08C153-C903-4586-8808-91B9548008DE}">
  <ds:schemaRefs>
    <ds:schemaRef ds:uri="http://schemas.microsoft.com/office/2006/metadata/properties"/>
    <ds:schemaRef ds:uri="http://schemas.microsoft.com/office/2006/documentManagement/types"/>
    <ds:schemaRef ds:uri="http://purl.org/dc/elements/1.1/"/>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adb5a389-7dc2-4be2-b4de-cb60a6ecbeb9"/>
    <ds:schemaRef ds:uri="2b442f0c-19e1-4989-92cf-91ffee4df725"/>
  </ds:schemaRefs>
</ds:datastoreItem>
</file>

<file path=docProps/app.xml><?xml version="1.0" encoding="utf-8"?>
<Properties xmlns="http://schemas.openxmlformats.org/officeDocument/2006/extended-properties" xmlns:vt="http://schemas.openxmlformats.org/officeDocument/2006/docPropsVTypes">
  <TotalTime>9442</TotalTime>
  <Words>2171</Words>
  <Application>Microsoft Office PowerPoint</Application>
  <PresentationFormat>寬螢幕</PresentationFormat>
  <Paragraphs>382</Paragraphs>
  <Slides>29</Slides>
  <Notes>1</Notes>
  <HiddenSlides>0</HiddenSlides>
  <MMClips>4</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29</vt:i4>
      </vt:variant>
    </vt:vector>
  </HeadingPairs>
  <TitlesOfParts>
    <vt:vector size="36" baseType="lpstr">
      <vt:lpstr>Arial</vt:lpstr>
      <vt:lpstr>Calibri</vt:lpstr>
      <vt:lpstr>Century Gothic</vt:lpstr>
      <vt:lpstr>Trebuchet MS</vt:lpstr>
      <vt:lpstr>Wingdings 3</vt:lpstr>
      <vt:lpstr>BrushVTI</vt:lpstr>
      <vt:lpstr>Facet</vt:lpstr>
      <vt:lpstr>PowerPoint 簡報</vt:lpstr>
      <vt:lpstr>Overview</vt:lpstr>
      <vt:lpstr>Basic Controls</vt:lpstr>
      <vt:lpstr>List of Elements</vt:lpstr>
      <vt:lpstr>List of Elements: Objects List</vt:lpstr>
      <vt:lpstr>List of Elements: Waypoints</vt:lpstr>
      <vt:lpstr>List of Elements: Waypoints</vt:lpstr>
      <vt:lpstr>List of Elements: Bookmarks</vt:lpstr>
      <vt:lpstr>Control Panel</vt:lpstr>
      <vt:lpstr>Path Baking</vt:lpstr>
      <vt:lpstr>Path Baking: Force FK</vt:lpstr>
      <vt:lpstr>Simulate and Play</vt:lpstr>
      <vt:lpstr>Timeline</vt:lpstr>
      <vt:lpstr>Timeline: Linear Speed</vt:lpstr>
      <vt:lpstr>Timeline: Transitions</vt:lpstr>
      <vt:lpstr>Timeline: Transitions</vt:lpstr>
      <vt:lpstr>Saved Paths</vt:lpstr>
      <vt:lpstr>Saved Paths</vt:lpstr>
      <vt:lpstr>Object Properties </vt:lpstr>
      <vt:lpstr>Object Properties: Cursors</vt:lpstr>
      <vt:lpstr>Object Properties: 3D Objects &amp; Waypoints</vt:lpstr>
      <vt:lpstr>Object Properties: Components</vt:lpstr>
      <vt:lpstr>Component: Camera</vt:lpstr>
      <vt:lpstr>Component: Camera</vt:lpstr>
      <vt:lpstr>Component: Tracker</vt:lpstr>
      <vt:lpstr>Miscellaneous</vt:lpstr>
      <vt:lpstr>Miscellaneous</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Roborn Technology Limited Roborn HC Limited Roborn PM Limited Roborn DT Limited</dc:title>
  <dc:creator>simon.tam@roborn.com</dc:creator>
  <cp:lastModifiedBy>Ivan Li</cp:lastModifiedBy>
  <cp:revision>191</cp:revision>
  <dcterms:created xsi:type="dcterms:W3CDTF">2020-09-10T09:41:31Z</dcterms:created>
  <dcterms:modified xsi:type="dcterms:W3CDTF">2026-10-13T05:58:41Z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0x010100DCBE65862161054FAD0B0ACC7023FA90</vt:lpwstr>
  </property>
</Properties>
</file>